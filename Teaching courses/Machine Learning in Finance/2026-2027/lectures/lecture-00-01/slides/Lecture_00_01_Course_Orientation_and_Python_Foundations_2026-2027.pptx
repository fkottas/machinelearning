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63" r:id="rId72"/>
    <p:sldId id="327" r:id="rId73"/>
    <p:sldId id="364" r:id="rId74"/>
    <p:sldId id="365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4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slide" Target="slides/slide101.xml"/><Relationship Id="rId110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01A1EB-6908-4D30-BD07-E23E460F990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8BC5E0-D170-4F98-9693-8D8F5164F8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30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NKUA Machine Learning in Finance syllabus, academic year 2026–2027.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38726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NKUA Machine Learning in Finance syllabus, academic year 2026–2027.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6766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NKUA Machine Learning in Finance syllabus, academic year 2026–2027.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94256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71.xml.rels><?xml version='1.0' encoding='UTF-8'?>
<ns0:Relationships xmlns:ns0="http://schemas.openxmlformats.org/package/2006/relationships"><ns0:Relationship Id="rId3" Type="http://schemas.openxmlformats.org/officeDocument/2006/relationships/image" Target="../media/image71.png" /><ns0:Relationship Id="rId2" Type="http://schemas.openxmlformats.org/officeDocument/2006/relationships/notesSlide" Target="../notesSlides/notesSlide1.xml" /><ns0:Relationship Id="rId1" Type="http://schemas.openxmlformats.org/officeDocument/2006/relationships/slideLayout" Target="../slideLayouts/slideLayout7.xml" /></ns0: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73.xml.rels><?xml version='1.0' encoding='UTF-8'?>
<ns0:Relationships xmlns:ns0="http://schemas.openxmlformats.org/package/2006/relationships"><ns0:Relationship Id="rId2" Type="http://schemas.openxmlformats.org/officeDocument/2006/relationships/notesSlide" Target="../notesSlides/notesSlide2.xml" /><ns0:Relationship Id="rId1" Type="http://schemas.openxmlformats.org/officeDocument/2006/relationships/slideLayout" Target="../slideLayouts/slideLayout7.xml" /></ns0:Relationships>
</file>

<file path=ppt/slides/_rels/slide74.xml.rels><?xml version='1.0' encoding='UTF-8'?>
<ns0:Relationships xmlns:ns0="http://schemas.openxmlformats.org/package/2006/relationships"><ns0:Relationship Id="rId3" Type="http://schemas.openxmlformats.org/officeDocument/2006/relationships/image" Target="../media/image71.png" /><ns0:Relationship Id="rId2" Type="http://schemas.openxmlformats.org/officeDocument/2006/relationships/notesSlide" Target="../notesSlides/notesSlide3.xml" /><ns0:Relationship Id="rId1" Type="http://schemas.openxmlformats.org/officeDocument/2006/relationships/slideLayout" Target="../slideLayouts/slideLayout7.xml" /></ns0: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>
  <cSld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14" name="Rectangle 13">
            <a:extLst>
              <a:ext uri="{FF2B5EF4-FFF2-40B4-BE49-F238E27FC236}">
                <ns2:creationId id="{5E1FF91F-3B67-4AF7-A9A2-058F297B0A26}"/>
              </a:ext>
            </a:extLst>
          </cNvPr>
          <cNvSpPr>
            <a:spLocks noGrp="1"/>
          </cNvSpPr>
          <nvPr/>
        </nvSpPr>
        <spPr>
          <a:xfrm>
            <a:off x="552450" y="381000"/>
            <a:ext cx="552450" cy="47625"/>
          </a:xfrm>
          <a:prstGeom prst="rect">
            <a:avLst/>
          </a:prstGeom>
          <a:solidFill>
            <a:srgbClr val="1B6FB8"/>
          </a:solidFill>
          <a:ln w="0">
            <a:noFill/>
          </a:ln>
        </spPr>
      </sp>
      <sp>
        <nvSpPr>
          <cNvPr id="2" name="Rectangle 1">
            <a:extLst>
              <a:ext uri="{FF2B5EF4-FFF2-40B4-BE49-F238E27FC236}">
                <ns2:creationId id="{AD9A38D2-26DA-4D17-8488-7F9F04381A3C}"/>
              </a:ext>
            </a:extLst>
          </cNvPr>
          <cNvSpPr>
            <a:spLocks noGrp="1"/>
          </cNvSpPr>
          <nvPr/>
        </nvSpPr>
        <spPr>
          <a:xfrm>
            <a:off x="552450" y="609600"/>
            <a:ext cx="85725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txBody>
      </sp>
      <sp>
        <nvSpPr>
          <cNvPr id="3" name="Rectangle 2">
            <a:extLst>
              <a:ext uri="{FF2B5EF4-FFF2-40B4-BE49-F238E27FC236}">
                <ns2:creationId id="{5215B4C0-3359-4EDA-9C59-FA911944F2DA}"/>
              </a:ext>
            </a:extLst>
          </cNvPr>
          <cNvSpPr>
            <a:spLocks noGrp="1"/>
          </cNvSpPr>
          <nvPr/>
        </nvSpPr>
        <spPr>
          <a:xfrm>
            <a:off x="552450" y="866775"/>
            <a:ext cx="11049000" cy="5905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Arithmetic mean</a:t>
            </a:r>
          </a:p>
        </txBody>
      </sp>
      <sp>
        <nvSpPr>
          <cNvPr id="4" name="Rectangle 3">
            <a:extLst>
              <a:ext uri="{FF2B5EF4-FFF2-40B4-BE49-F238E27FC236}">
                <ns2:creationId id="{9566D44F-6B8F-4CED-BD0D-494A16CA78E1}"/>
              </a:ext>
            </a:extLst>
          </cNvPr>
          <cNvSpPr>
            <a:spLocks noGrp="1"/>
          </cNvSpPr>
          <nvPr/>
        </nvSpPr>
        <spPr>
          <a:xfrm>
            <a:off x="552450" y="1581150"/>
            <a:ext cx="10572750" cy="2667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mean is the balance point of observed values.</a:t>
            </a:r>
          </a:p>
        </txBody>
      </sp>
      <sp>
        <nvSpPr>
          <cNvPr id="5" name="Rectangle 4">
            <a:extLst>
              <a:ext uri="{FF2B5EF4-FFF2-40B4-BE49-F238E27FC236}">
                <ns2:creationId id="{F0D86637-288F-411B-A7A3-D2D59BD65836}"/>
              </a:ext>
            </a:extLst>
          </cNvPr>
          <cNvSpPr>
            <a:spLocks noGrp="1"/>
          </cNvSpPr>
          <nvPr/>
        </nvSpPr>
        <spPr>
          <a:xfrm>
            <a:off x="552450" y="6496050"/>
            <a:ext cx="9715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txBody>
      </sp>
      <sp>
        <nvSpPr>
          <cNvPr id="6" name="Rectangle 5">
            <a:extLst>
              <a:ext uri="{FF2B5EF4-FFF2-40B4-BE49-F238E27FC236}">
                <ns2:creationId id="{51C04AF6-034D-4793-AE11-FED735102C53}"/>
              </a:ext>
            </a:extLst>
          </cNvPr>
          <cNvSpPr>
            <a:spLocks noGrp="1"/>
          </cNvSpPr>
          <nvPr/>
        </nvSpPr>
        <spPr>
          <a:xfrm>
            <a:off x="11068050" y="6496050"/>
            <a:ext cx="571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r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70</a:t>
            </a:r>
          </a:p>
        </txBody>
      </sp>
      <sp>
        <nvSpPr>
          <cNvPr id="7" name="Rectangle 6">
            <a:extLst>
              <a:ext uri="{FF2B5EF4-FFF2-40B4-BE49-F238E27FC236}">
                <ns2:creationId id="{3397BDB1-73EB-4CCF-A060-94ED21EB0CA1}"/>
              </a:ext>
            </a:extLst>
          </cNvPr>
          <cNvSpPr>
            <a:spLocks noGrp="1"/>
          </cNvSpPr>
          <nvPr/>
        </nvSpPr>
        <spPr>
          <a:xfrm>
            <a:off x="552450" y="2095500"/>
            <a:ext cx="1108710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</a:ln>
        </spPr>
      </sp>
      <sp>
        <nvSpPr>
          <cNvPr id="9" name="Rectangle 8">
            <a:extLst>
              <a:ext uri="{FF2B5EF4-FFF2-40B4-BE49-F238E27FC236}">
                <ns2:creationId id="{CE1D1B2C-A42F-4130-99E6-94155D0F562E}"/>
              </a:ext>
            </a:extLst>
          </cNvPr>
          <cNvSpPr>
            <a:spLocks noGrp="1"/>
          </cNvSpPr>
          <nvPr/>
        </nvSpPr>
        <spPr>
          <a:xfrm>
            <a:off x="762000" y="4114800"/>
            <a:ext cx="2286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txBody>
      </sp>
      <sp>
        <nvSpPr>
          <cNvPr id="10" name="Rectangle 9">
            <a:extLst>
              <a:ext uri="{FF2B5EF4-FFF2-40B4-BE49-F238E27FC236}">
                <ns2:creationId id="{A1EEBDB1-6193-4B8A-9C17-6EDBB3DEEFD7}"/>
              </a:ext>
            </a:extLst>
          </cNvPr>
          <cNvSpPr>
            <a:spLocks noGrp="1"/>
          </cNvSpPr>
          <nvPr/>
        </nvSpPr>
        <spPr>
          <a:xfrm>
            <a:off x="762000" y="4457700"/>
            <a:ext cx="476250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xᵢ is observation i and n is the number of observations. Every observation receives equal weight.</a:t>
            </a:r>
          </a:p>
        </txBody>
      </sp>
      <sp>
        <nvSpPr>
          <cNvPr id="11" name="Rectangle 10">
            <a:extLst>
              <a:ext uri="{FF2B5EF4-FFF2-40B4-BE49-F238E27FC236}">
                <ns2:creationId id="{73E915C5-D734-4005-B6ED-FCCE70A4B35F}"/>
              </a:ext>
            </a:extLst>
          </cNvPr>
          <cNvSpPr>
            <a:spLocks noGrp="1"/>
          </cNvSpPr>
          <nvPr/>
        </nvSpPr>
        <spPr>
          <a:xfrm>
            <a:off x="6477000" y="4095750"/>
            <a:ext cx="38100" cy="1143000"/>
          </a:xfrm>
          <a:prstGeom prst="rect">
            <a:avLst/>
          </a:prstGeom>
          <a:solidFill>
            <a:srgbClr val="10AFC0"/>
          </a:solidFill>
          <a:ln w="0">
            <a:noFill/>
          </a:ln>
        </spPr>
      </sp>
      <sp>
        <nvSpPr>
          <cNvPr id="12" name="Rectangle 11">
            <a:extLst>
              <a:ext uri="{FF2B5EF4-FFF2-40B4-BE49-F238E27FC236}">
                <ns2:creationId id="{65061044-AAFD-423B-8771-5527433C70ED}"/>
              </a:ext>
            </a:extLst>
          </cNvPr>
          <cNvSpPr>
            <a:spLocks noGrp="1"/>
          </cNvSpPr>
          <nvPr/>
        </nvSpPr>
        <spPr>
          <a:xfrm>
            <a:off x="6858000" y="4114800"/>
            <a:ext cx="2667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txBody>
      </sp>
      <sp>
        <nvSpPr>
          <cNvPr id="13" name="Rectangle 12">
            <a:extLst>
              <a:ext uri="{FF2B5EF4-FFF2-40B4-BE49-F238E27FC236}">
                <ns2:creationId id="{A0556EA9-A956-469A-A3BA-034A3F62D329}"/>
              </a:ext>
            </a:extLst>
          </cNvPr>
          <cNvSpPr>
            <a:spLocks noGrp="1"/>
          </cNvSpPr>
          <nvPr/>
        </nvSpPr>
        <spPr>
          <a:xfrm>
            <a:off x="6858000" y="4457700"/>
            <a:ext cx="428625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Apple closing prices, the mean summarises the centre of the observed price sample. It does not describe every trading day.</a:t>
            </a:r>
          </a:p>
        </txBody>
      </sp>
    </spTree>
    <extLst>
      <ext uri="{BB962C8B-B14F-4D97-AF65-F5344CB8AC3E}">
        <ns3:creationId val="3815469848"/>
      </ext>
    </extLst>
  </cSld>
  <clrMapOvr>
    <a:masterClrMapping/>
  </clrMapOvr>
</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>
  <cSld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14" name="Rectangle 13">
            <a:extLst>
              <a:ext uri="{FF2B5EF4-FFF2-40B4-BE49-F238E27FC236}">
                <ns2:creationId id="{18B377B7-9193-405E-9ABA-B5F2C6369239}"/>
              </a:ext>
            </a:extLst>
          </cNvPr>
          <cNvSpPr>
            <a:spLocks noGrp="1"/>
          </cNvSpPr>
          <nvPr/>
        </nvSpPr>
        <spPr>
          <a:xfrm>
            <a:off x="552450" y="381000"/>
            <a:ext cx="552450" cy="47625"/>
          </a:xfrm>
          <a:prstGeom prst="rect">
            <a:avLst/>
          </a:prstGeom>
          <a:solidFill>
            <a:srgbClr val="1B6FB8"/>
          </a:solidFill>
          <a:ln w="0">
            <a:noFill/>
          </a:ln>
        </spPr>
      </sp>
      <sp>
        <nvSpPr>
          <cNvPr id="2" name="Rectangle 1">
            <a:extLst>
              <a:ext uri="{FF2B5EF4-FFF2-40B4-BE49-F238E27FC236}">
                <ns2:creationId id="{D59C32AF-EE5C-4731-A955-EC999BF3A32F}"/>
              </a:ext>
            </a:extLst>
          </cNvPr>
          <cNvSpPr>
            <a:spLocks noGrp="1"/>
          </cNvSpPr>
          <nvPr/>
        </nvSpPr>
        <spPr>
          <a:xfrm>
            <a:off x="552450" y="609600"/>
            <a:ext cx="85725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txBody>
      </sp>
      <sp>
        <nvSpPr>
          <cNvPr id="3" name="Rectangle 2">
            <a:extLst>
              <a:ext uri="{FF2B5EF4-FFF2-40B4-BE49-F238E27FC236}">
                <ns2:creationId id="{52499390-575C-4EC6-A1D7-2670512C401B}"/>
              </a:ext>
            </a:extLst>
          </cNvPr>
          <cNvSpPr>
            <a:spLocks noGrp="1"/>
          </cNvSpPr>
          <nvPr/>
        </nvSpPr>
        <spPr>
          <a:xfrm>
            <a:off x="552450" y="866775"/>
            <a:ext cx="11049000" cy="5905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Variance and standard deviation</a:t>
            </a:r>
          </a:p>
        </txBody>
      </sp>
      <sp>
        <nvSpPr>
          <cNvPr id="4" name="Rectangle 3">
            <a:extLst>
              <a:ext uri="{FF2B5EF4-FFF2-40B4-BE49-F238E27FC236}">
                <ns2:creationId id="{DCE9E1F6-E91D-4925-9E30-18650E3BACFB}"/>
              </a:ext>
            </a:extLst>
          </cNvPr>
          <cNvSpPr>
            <a:spLocks noGrp="1"/>
          </cNvSpPr>
          <nvPr/>
        </nvSpPr>
        <spPr>
          <a:xfrm>
            <a:off x="552450" y="1581150"/>
            <a:ext cx="10572750" cy="2667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Dispersion measures how far observations sit from the sample mean.</a:t>
            </a:r>
          </a:p>
        </txBody>
      </sp>
      <sp>
        <nvSpPr>
          <cNvPr id="5" name="Rectangle 4">
            <a:extLst>
              <a:ext uri="{FF2B5EF4-FFF2-40B4-BE49-F238E27FC236}">
                <ns2:creationId id="{86E32C46-D1CA-4D84-81E0-BCF599C0119E}"/>
              </a:ext>
            </a:extLst>
          </cNvPr>
          <cNvSpPr>
            <a:spLocks noGrp="1"/>
          </cNvSpPr>
          <nvPr/>
        </nvSpPr>
        <spPr>
          <a:xfrm>
            <a:off x="552450" y="6496050"/>
            <a:ext cx="9715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txBody>
      </sp>
      <sp>
        <nvSpPr>
          <cNvPr id="6" name="Rectangle 5">
            <a:extLst>
              <a:ext uri="{FF2B5EF4-FFF2-40B4-BE49-F238E27FC236}">
                <ns2:creationId id="{87FB0864-2204-4968-B177-6ECA7BCCC882}"/>
              </a:ext>
            </a:extLst>
          </cNvPr>
          <cNvSpPr>
            <a:spLocks noGrp="1"/>
          </cNvSpPr>
          <nvPr/>
        </nvSpPr>
        <spPr>
          <a:xfrm>
            <a:off x="11068050" y="6496050"/>
            <a:ext cx="571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r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72</a:t>
            </a:r>
          </a:p>
        </txBody>
      </sp>
      <sp>
        <nvSpPr>
          <cNvPr id="7" name="Rectangle 6">
            <a:extLst>
              <a:ext uri="{FF2B5EF4-FFF2-40B4-BE49-F238E27FC236}">
                <ns2:creationId id="{A666FABE-D2C2-4BE8-8C81-8EECF0C24212}"/>
              </a:ext>
            </a:extLst>
          </cNvPr>
          <cNvSpPr>
            <a:spLocks noGrp="1"/>
          </cNvSpPr>
          <nvPr/>
        </nvSpPr>
        <spPr>
          <a:xfrm>
            <a:off x="552450" y="2266950"/>
            <a:ext cx="11087100" cy="14097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</a:ln>
        </spPr>
      </sp>
      <sp>
        <nvSpPr>
          <cNvPr id="9" name="Rectangle 8">
            <a:extLst>
              <a:ext uri="{FF2B5EF4-FFF2-40B4-BE49-F238E27FC236}">
                <ns2:creationId id="{93FD0D0B-0260-4A35-AC66-B8B79F9AB71C}"/>
              </a:ext>
            </a:extLst>
          </cNvPr>
          <cNvSpPr>
            <a:spLocks noGrp="1"/>
          </cNvSpPr>
          <nvPr/>
        </nvSpPr>
        <spPr>
          <a:xfrm>
            <a:off x="762000" y="4114800"/>
            <a:ext cx="2286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txBody>
      </sp>
      <sp>
        <nvSpPr>
          <cNvPr id="10" name="Rectangle 9">
            <a:extLst>
              <a:ext uri="{FF2B5EF4-FFF2-40B4-BE49-F238E27FC236}">
                <ns2:creationId id="{0D34FE49-08F1-49B8-A035-7C678E03D01D}"/>
              </a:ext>
            </a:extLst>
          </cNvPr>
          <cNvSpPr>
            <a:spLocks noGrp="1"/>
          </cNvSpPr>
          <nvPr/>
        </nvSpPr>
        <spPr>
          <a:xfrm>
            <a:off x="762000" y="4457700"/>
            <a:ext cx="476250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Variance is in squared units. Standard deviation returns to the original unit and is easier to interpret financially.</a:t>
            </a:r>
          </a:p>
        </txBody>
      </sp>
      <sp>
        <nvSpPr>
          <cNvPr id="11" name="Rectangle 10">
            <a:extLst>
              <a:ext uri="{FF2B5EF4-FFF2-40B4-BE49-F238E27FC236}">
                <ns2:creationId id="{8FAD6864-9D5E-4732-BA7B-FB1510802FD1}"/>
              </a:ext>
            </a:extLst>
          </cNvPr>
          <cNvSpPr>
            <a:spLocks noGrp="1"/>
          </cNvSpPr>
          <nvPr/>
        </nvSpPr>
        <spPr>
          <a:xfrm>
            <a:off x="6477000" y="4095750"/>
            <a:ext cx="38100" cy="1143000"/>
          </a:xfrm>
          <a:prstGeom prst="rect">
            <a:avLst/>
          </a:prstGeom>
          <a:solidFill>
            <a:srgbClr val="10AFC0"/>
          </a:solidFill>
          <a:ln w="0">
            <a:noFill/>
          </a:ln>
        </spPr>
      </sp>
      <sp>
        <nvSpPr>
          <cNvPr id="12" name="Rectangle 11">
            <a:extLst>
              <a:ext uri="{FF2B5EF4-FFF2-40B4-BE49-F238E27FC236}">
                <ns2:creationId id="{10BB5F62-D365-4AE7-A6CB-63D1EBCB5129}"/>
              </a:ext>
            </a:extLst>
          </cNvPr>
          <cNvSpPr>
            <a:spLocks noGrp="1"/>
          </cNvSpPr>
          <nvPr/>
        </nvSpPr>
        <spPr>
          <a:xfrm>
            <a:off x="6858000" y="4114800"/>
            <a:ext cx="2667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txBody>
      </sp>
      <sp>
        <nvSpPr>
          <cNvPr id="13" name="Rectangle 12">
            <a:extLst>
              <a:ext uri="{FF2B5EF4-FFF2-40B4-BE49-F238E27FC236}">
                <ns2:creationId id="{CE428D1F-E961-4E35-8313-2D39BC7A7C58}"/>
              </a:ext>
            </a:extLst>
          </cNvPr>
          <cNvSpPr>
            <a:spLocks noGrp="1"/>
          </cNvSpPr>
          <nvPr/>
        </nvSpPr>
        <spPr>
          <a:xfrm>
            <a:off x="6858000" y="4457700"/>
            <a:ext cx="428625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larger standard deviation means the observed closing prices vary more around their sample mean.</a:t>
            </a:r>
          </a:p>
        </txBody>
      </sp>
    </spTree>
    <extLst>
      <ext uri="{BB962C8B-B14F-4D97-AF65-F5344CB8AC3E}">
        <ns3:creationId val="1341410999"/>
      </ext>
    </extLst>
  </cSld>
  <clrMapOvr>
    <a:masterClrMapping/>
  </clrMapOvr>
</sld>
</file>

<file path=ppt/slides/slide74.xml><?xml version="1.0" encoding="utf-8"?>
<sld xmlns="http://schemas.openxmlformats.org/presentationml/2006/main" xmlns:a="http://schemas.openxmlformats.org/drawingml/2006/main" xmlns:ns2="http://schemas.microsoft.com/office/drawing/2014/main" xmlns:ns3="http://schemas.microsoft.com/office/powerpoint/2010/main">
  <cSld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14" name="Rectangle 13">
            <a:extLst>
              <a:ext uri="{FF2B5EF4-FFF2-40B4-BE49-F238E27FC236}">
                <ns2:creationId id="{D6FAF4CF-1881-41A5-A860-92EE785EC00B}"/>
              </a:ext>
            </a:extLst>
          </cNvPr>
          <cNvSpPr>
            <a:spLocks noGrp="1"/>
          </cNvSpPr>
          <nvPr/>
        </nvSpPr>
        <spPr>
          <a:xfrm>
            <a:off x="552450" y="381000"/>
            <a:ext cx="552450" cy="47625"/>
          </a:xfrm>
          <a:prstGeom prst="rect">
            <a:avLst/>
          </a:prstGeom>
          <a:solidFill>
            <a:srgbClr val="1B6FB8"/>
          </a:solidFill>
          <a:ln w="0">
            <a:noFill/>
          </a:ln>
        </spPr>
      </sp>
      <sp>
        <nvSpPr>
          <cNvPr id="2" name="Rectangle 1">
            <a:extLst>
              <a:ext uri="{FF2B5EF4-FFF2-40B4-BE49-F238E27FC236}">
                <ns2:creationId id="{4003447B-9220-4249-8848-0D7FC3694ED9}"/>
              </a:ext>
            </a:extLst>
          </cNvPr>
          <cNvSpPr>
            <a:spLocks noGrp="1"/>
          </cNvSpPr>
          <nvPr/>
        </nvSpPr>
        <spPr>
          <a:xfrm>
            <a:off x="552450" y="609600"/>
            <a:ext cx="85725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txBody>
      </sp>
      <sp>
        <nvSpPr>
          <cNvPr id="3" name="Rectangle 2">
            <a:extLst>
              <a:ext uri="{FF2B5EF4-FFF2-40B4-BE49-F238E27FC236}">
                <ns2:creationId id="{A6131E9D-CD9A-4656-BAC3-15B9E5868F3D}"/>
              </a:ext>
            </a:extLst>
          </cNvPr>
          <cNvSpPr>
            <a:spLocks noGrp="1"/>
          </cNvSpPr>
          <nvPr/>
        </nvSpPr>
        <spPr>
          <a:xfrm>
            <a:off x="552450" y="866775"/>
            <a:ext cx="11049000" cy="5905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Z-score</a:t>
            </a:r>
          </a:p>
        </txBody>
      </sp>
      <sp>
        <nvSpPr>
          <cNvPr id="4" name="Rectangle 3">
            <a:extLst>
              <a:ext uri="{FF2B5EF4-FFF2-40B4-BE49-F238E27FC236}">
                <ns2:creationId id="{46718C91-471D-403A-BDBD-9578A810C238}"/>
              </a:ext>
            </a:extLst>
          </cNvPr>
          <cNvSpPr>
            <a:spLocks noGrp="1"/>
          </cNvSpPr>
          <nvPr/>
        </nvSpPr>
        <spPr>
          <a:xfrm>
            <a:off x="552450" y="1581150"/>
            <a:ext cx="10572750" cy="2667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Standardisation expresses a value in sample standard-deviation units.</a:t>
            </a:r>
          </a:p>
        </txBody>
      </sp>
      <sp>
        <nvSpPr>
          <cNvPr id="5" name="Rectangle 4">
            <a:extLst>
              <a:ext uri="{FF2B5EF4-FFF2-40B4-BE49-F238E27FC236}">
                <ns2:creationId id="{7F31A2AF-125B-492E-B5CE-19612CFB2201}"/>
              </a:ext>
            </a:extLst>
          </cNvPr>
          <cNvSpPr>
            <a:spLocks noGrp="1"/>
          </cNvSpPr>
          <nvPr/>
        </nvSpPr>
        <spPr>
          <a:xfrm>
            <a:off x="552450" y="6496050"/>
            <a:ext cx="9715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txBody>
      </sp>
      <sp>
        <nvSpPr>
          <cNvPr id="6" name="Rectangle 5">
            <a:extLst>
              <a:ext uri="{FF2B5EF4-FFF2-40B4-BE49-F238E27FC236}">
                <ns2:creationId id="{533CD2C7-D4CE-4A77-80B0-68D5BA8465FE}"/>
              </a:ext>
            </a:extLst>
          </cNvPr>
          <cNvSpPr>
            <a:spLocks noGrp="1"/>
          </cNvSpPr>
          <nvPr/>
        </nvSpPr>
        <spPr>
          <a:xfrm>
            <a:off x="11068050" y="6496050"/>
            <a:ext cx="571500" cy="1524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r"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73</a:t>
            </a:r>
          </a:p>
        </txBody>
      </sp>
      <sp>
        <nvSpPr>
          <cNvPr id="7" name="Rectangle 6">
            <a:extLst>
              <a:ext uri="{FF2B5EF4-FFF2-40B4-BE49-F238E27FC236}">
                <ns2:creationId id="{C4BCE268-4CA5-4D98-8581-3576B6A2C739}"/>
              </a:ext>
            </a:extLst>
          </cNvPr>
          <cNvSpPr>
            <a:spLocks noGrp="1"/>
          </cNvSpPr>
          <nvPr/>
        </nvSpPr>
        <spPr>
          <a:xfrm>
            <a:off x="552450" y="2266950"/>
            <a:ext cx="11087100" cy="14097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</a:ln>
        </spPr>
      </sp>
      <sp>
        <nvSpPr>
          <cNvPr id="9" name="Rectangle 8">
            <a:extLst>
              <a:ext uri="{FF2B5EF4-FFF2-40B4-BE49-F238E27FC236}">
                <ns2:creationId id="{6C254915-D76D-452C-A2E6-386CDEA74F31}"/>
              </a:ext>
            </a:extLst>
          </cNvPr>
          <cNvSpPr>
            <a:spLocks noGrp="1"/>
          </cNvSpPr>
          <nvPr/>
        </nvSpPr>
        <spPr>
          <a:xfrm>
            <a:off x="762000" y="4114800"/>
            <a:ext cx="2286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txBody>
      </sp>
      <sp>
        <nvSpPr>
          <cNvPr id="10" name="Rectangle 9">
            <a:extLst>
              <a:ext uri="{FF2B5EF4-FFF2-40B4-BE49-F238E27FC236}">
                <ns2:creationId id="{28AA960B-9FC7-415F-846A-1EBD484C97BB}"/>
              </a:ext>
            </a:extLst>
          </cNvPr>
          <cNvSpPr>
            <a:spLocks noGrp="1"/>
          </cNvSpPr>
          <nvPr/>
        </nvSpPr>
        <spPr>
          <a:xfrm>
            <a:off x="762000" y="4457700"/>
            <a:ext cx="476250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zᵢ measures the distance from the mean relative to the sample spread. It has no original measurement unit.</a:t>
            </a:r>
          </a:p>
        </txBody>
      </sp>
      <sp>
        <nvSpPr>
          <cNvPr id="11" name="Rectangle 10">
            <a:extLst>
              <a:ext uri="{FF2B5EF4-FFF2-40B4-BE49-F238E27FC236}">
                <ns2:creationId id="{B909B853-B78F-4B52-8353-CE6040D979D5}"/>
              </a:ext>
            </a:extLst>
          </cNvPr>
          <cNvSpPr>
            <a:spLocks noGrp="1"/>
          </cNvSpPr>
          <nvPr/>
        </nvSpPr>
        <spPr>
          <a:xfrm>
            <a:off x="6477000" y="4095750"/>
            <a:ext cx="38100" cy="1143000"/>
          </a:xfrm>
          <a:prstGeom prst="rect">
            <a:avLst/>
          </a:prstGeom>
          <a:solidFill>
            <a:srgbClr val="10AFC0"/>
          </a:solidFill>
          <a:ln w="0">
            <a:noFill/>
          </a:ln>
        </spPr>
      </sp>
      <sp>
        <nvSpPr>
          <cNvPr id="12" name="Rectangle 11">
            <a:extLst>
              <a:ext uri="{FF2B5EF4-FFF2-40B4-BE49-F238E27FC236}">
                <ns2:creationId id="{E7978EE3-F7F5-4D41-9D40-E7AB4657DBCA}"/>
              </a:ext>
            </a:extLst>
          </cNvPr>
          <cNvSpPr>
            <a:spLocks noGrp="1"/>
          </cNvSpPr>
          <nvPr/>
        </nvSpPr>
        <spPr>
          <a:xfrm>
            <a:off x="6858000" y="4114800"/>
            <a:ext cx="2667000" cy="17145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txBody>
      </sp>
      <sp>
        <nvSpPr>
          <cNvPr id="13" name="Rectangle 12">
            <a:extLst>
              <a:ext uri="{FF2B5EF4-FFF2-40B4-BE49-F238E27FC236}">
                <ns2:creationId id="{5D57ECF3-9295-485E-A35B-3B03323AE43C}"/>
              </a:ext>
            </a:extLst>
          </cNvPr>
          <cNvSpPr>
            <a:spLocks noGrp="1"/>
          </cNvSpPr>
          <nvPr/>
        </nvSpPr>
        <spPr>
          <a:xfrm>
            <a:off x="6858000" y="4457700"/>
            <a:ext cx="4286250" cy="723900"/>
          </a:xfrm>
          <a:prstGeom prst="rect">
            <a:avLst/>
          </a:prstGeom>
          <a:noFill/>
          <a:ln w="0">
            <a:noFill/>
          </a:ln>
        </spPr>
        <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closing price with z = 2 lies two sample standard deviations above the sample mean.</a:t>
            </a:r>
          </a:p>
        </txBody>
      </sp>
    </spTree>
    <extLst>
      <ext uri="{BB962C8B-B14F-4D97-AF65-F5344CB8AC3E}">
        <ns3:creationId val="2050658353"/>
      </ext>
    </extLst>
  </cSld>
  <clrMapOvr>
    <a:masterClrMapping/>
  </clrMapOvr>
</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339</Words>
  <Application>Microsoft Office PowerPoint</Application>
  <PresentationFormat>Widescreen</PresentationFormat>
  <Paragraphs>33</Paragraphs>
  <Slides>107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2" baseType="lpstr">
      <vt:lpstr>Aptos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FERDINANTOS KOTTAS</cp:lastModifiedBy>
  <cp:revision>3</cp:revision>
  <dcterms:created xsi:type="dcterms:W3CDTF">2013-01-27T09:14:16Z</dcterms:created>
  <dcterms:modified xsi:type="dcterms:W3CDTF">2026-10-03T19:44:51Z</dcterms:modified>
  <cp:category/>
</cp:coreProperties>
</file>