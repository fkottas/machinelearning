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02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5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slides/slide104.xml" ContentType="application/vnd.openxmlformats-officedocument.presentationml.slide+xml"/>
  <Override PartName="/ppt/slides/slide12.xml" ContentType="application/vnd.openxmlformats-officedocument.presentationml.slide+xml"/>
  <Override PartName="/ppt/slides/slide57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103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63.xml" ContentType="application/vnd.openxmlformats-officedocument.presentationml.slide+xml"/>
  <Override PartName="/ppt/slides/slide67.xml" ContentType="application/vnd.openxmlformats-officedocument.presentationml.slide+xml"/>
  <Override PartName="/ppt/slides/slide92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5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65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22.xml" ContentType="application/vnd.openxmlformats-officedocument.presentationml.slide+xml"/>
  <Override PartName="/ppt/slides/slide74.xml" ContentType="application/vnd.openxmlformats-officedocument.presentationml.slide+xml"/>
  <Override PartName="/ppt/slides/slide43.xml" ContentType="application/vnd.openxmlformats-officedocument.presentationml.slide+xml"/>
  <Override PartName="/ppt/slides/slide105.xml" ContentType="application/vnd.openxmlformats-officedocument.presentationml.slide+xml"/>
  <Override PartName="/ppt/slides/slide94.xml" ContentType="application/vnd.openxmlformats-officedocument.presentationml.slide+xml"/>
  <Override PartName="/ppt/slides/slide106.xml" ContentType="application/vnd.openxmlformats-officedocument.presentationml.slide+xml"/>
  <Override PartName="/ppt/slides/slide77.xml" ContentType="application/vnd.openxmlformats-officedocument.presentationml.slide+xml"/>
  <Override PartName="/ppt/slides/slide85.xml" ContentType="application/vnd.openxmlformats-officedocument.presentationml.slide+xml"/>
  <Override PartName="/ppt/slides/slide72.xml" ContentType="application/vnd.openxmlformats-officedocument.presentationml.slide+xml"/>
  <Override PartName="/ppt/slides/slide95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60.xml" ContentType="application/vnd.openxmlformats-officedocument.presentationml.slide+xml"/>
  <Override PartName="/ppt/slides/slide89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107.xml" ContentType="application/vnd.openxmlformats-officedocument.presentationml.slide+xml"/>
  <Override PartName="/ppt/slides/slide86.xml" ContentType="application/vnd.openxmlformats-officedocument.presentationml.slide+xml"/>
  <Override PartName="/ppt/slides/slide71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98.xml" ContentType="application/vnd.openxmlformats-officedocument.presentationml.slide+xml"/>
  <Override PartName="/ppt/slides/slide78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76.xml" ContentType="application/vnd.openxmlformats-officedocument.presentationml.slide+xml"/>
  <Override PartName="/ppt/slides/slide29.xml" ContentType="application/vnd.openxmlformats-officedocument.presentationml.slide+xml"/>
  <Override PartName="/ppt/slides/slide99.xml" ContentType="application/vnd.openxmlformats-officedocument.presentationml.slide+xml"/>
  <Override PartName="/ppt/slides/slide93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35.xml" ContentType="application/vnd.openxmlformats-officedocument.presentationml.slide+xml"/>
  <Override PartName="/ppt/slides/slide64.xml" ContentType="application/vnd.openxmlformats-officedocument.presentationml.slide+xml"/>
  <Override PartName="/ppt/slides/slide80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7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61.xml" ContentType="application/vnd.openxmlformats-officedocument.presentationml.slide+xml"/>
  <Override PartName="/ppt/slides/slide79.xml" ContentType="application/vnd.openxmlformats-officedocument.presentationml.slide+xml"/>
  <Override PartName="/ppt/slides/slide96.xml" ContentType="application/vnd.openxmlformats-officedocument.presentationml.slide+xml"/>
  <Override PartName="/ppt/slides/slide1.xml" ContentType="application/vnd.openxmlformats-officedocument.presentationml.slide+xml"/>
  <Override PartName="/ppt/slides/slide91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90.xml" ContentType="application/vnd.openxmlformats-officedocument.presentationml.slide+xml"/>
  <Override PartName="/ppt/slides/slide11.xml" ContentType="application/vnd.openxmlformats-officedocument.presentationml.slide+xml"/>
  <Override PartName="/ppt/slides/slide83.xml" ContentType="application/vnd.openxmlformats-officedocument.presentationml.slide+xml"/>
  <Override PartName="/ppt/slides/slide20.xml" ContentType="application/vnd.openxmlformats-officedocument.presentationml.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7997E9E-7EA7-4A88-A9A3-C020892429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NKUA Machine Learning in Finance syllabus, academic year 2026–2027.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NKUA Machine Learning in Finance syllabus, academic year 2026–2027.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NKUA Machine Learning in Finance syllabus, academic year 2026–2027.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BCBF02B-A963-46B4-A30B-A670D6A36C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7DF51D1-BBB7-4807-994C-796AA04EAF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D7C8D0-D5F4-4B5B-B06B-846E7BDFFB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B3CEC42-9A8C-405A-B57F-18A28149BD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BF9F08A-A2B9-4B8C-98F0-E5D0B9C592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F17C4A5-A77C-4ED1-A102-870AE48B3E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F7F4F41-5927-4D20-9083-1C59B04305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BE6D483-016B-4A4C-8CD3-1FE7B9E0839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4CFB98E-7F52-4BE5-8737-B8407D93B4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05B8AC5-552D-4B37-821F-067B6F9F71E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7ACA59A-002D-44DC-95C0-3A48D2139A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52.png"/><Relationship Id="rId2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53.png"/><Relationship Id="rId2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54.png"/><Relationship Id="rId2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56.png"/><Relationship Id="rId2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57.png"/><Relationship Id="rId2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58.png"/><Relationship Id="rId2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60.png"/><Relationship Id="rId2" Type="http://schemas.openxmlformats.org/officeDocument/2006/relationships/slideLayout" Target="../slideLayouts/slideLayout9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61.png"/><Relationship Id="rId2" Type="http://schemas.openxmlformats.org/officeDocument/2006/relationships/slideLayout" Target="../slideLayouts/slideLayout9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62.png"/><Relationship Id="rId2" Type="http://schemas.openxmlformats.org/officeDocument/2006/relationships/slideLayout" Target="../slideLayouts/slideLayout9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63.png"/><Relationship Id="rId2" Type="http://schemas.openxmlformats.org/officeDocument/2006/relationships/slideLayout" Target="../slideLayouts/slideLayout9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64.png"/><Relationship Id="rId2" Type="http://schemas.openxmlformats.org/officeDocument/2006/relationships/slideLayout" Target="../slideLayouts/slideLayout9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65.png"/><Relationship Id="rId2" Type="http://schemas.openxmlformats.org/officeDocument/2006/relationships/slideLayout" Target="../slideLayouts/slideLayout9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66.png"/><Relationship Id="rId2" Type="http://schemas.openxmlformats.org/officeDocument/2006/relationships/slideLayout" Target="../slideLayouts/slideLayout9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67.png"/><Relationship Id="rId2" Type="http://schemas.openxmlformats.org/officeDocument/2006/relationships/slideLayout" Target="../slideLayouts/slideLayout9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68.png"/><Relationship Id="rId2" Type="http://schemas.openxmlformats.org/officeDocument/2006/relationships/slideLayout" Target="../slideLayouts/slideLayout9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69.png"/><Relationship Id="rId2" Type="http://schemas.openxmlformats.org/officeDocument/2006/relationships/slideLayout" Target="../slideLayouts/slideLayout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70.png"/><Relationship Id="rId2" Type="http://schemas.openxmlformats.org/officeDocument/2006/relationships/slideLayout" Target="../slideLayouts/slideLayout9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71.png"/><Relationship Id="rId2" Type="http://schemas.openxmlformats.org/officeDocument/2006/relationships/slideLayout" Target="../slideLayouts/slideLayout9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image" Target="../media/image72.png"/><Relationship Id="rId2" Type="http://schemas.openxmlformats.org/officeDocument/2006/relationships/slideLayout" Target="../slideLayouts/slideLayout9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image" Target="../media/image73.png"/><Relationship Id="rId2" Type="http://schemas.openxmlformats.org/officeDocument/2006/relationships/slideLayout" Target="../slideLayouts/slideLayout9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image" Target="../media/image74.png"/><Relationship Id="rId2" Type="http://schemas.openxmlformats.org/officeDocument/2006/relationships/slideLayout" Target="../slideLayouts/slideLayout9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image" Target="../media/image75.png"/><Relationship Id="rId2" Type="http://schemas.openxmlformats.org/officeDocument/2006/relationships/slideLayout" Target="../slideLayouts/slideLayout9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image" Target="../media/image76.png"/><Relationship Id="rId2" Type="http://schemas.openxmlformats.org/officeDocument/2006/relationships/slideLayout" Target="../slideLayouts/slideLayout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image" Target="../media/image77.png"/><Relationship Id="rId2" Type="http://schemas.openxmlformats.org/officeDocument/2006/relationships/slideLayout" Target="../slideLayouts/slideLayout9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image" Target="../media/image78.png"/><Relationship Id="rId2" Type="http://schemas.openxmlformats.org/officeDocument/2006/relationships/slideLayout" Target="../slideLayouts/slideLayout9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image" Target="../media/image79.png"/><Relationship Id="rId2" Type="http://schemas.openxmlformats.org/officeDocument/2006/relationships/slideLayout" Target="../slideLayouts/slideLayout9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image" Target="../media/image80.png"/><Relationship Id="rId2" Type="http://schemas.openxmlformats.org/officeDocument/2006/relationships/slideLayout" Target="../slideLayouts/slideLayout9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image" Target="../media/image81.png"/><Relationship Id="rId2" Type="http://schemas.openxmlformats.org/officeDocument/2006/relationships/slideLayout" Target="../slideLayouts/slideLayout9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image" Target="../media/image82.png"/><Relationship Id="rId2" Type="http://schemas.openxmlformats.org/officeDocument/2006/relationships/slideLayout" Target="../slideLayouts/slideLayout9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image" Target="../media/image83.png"/><Relationship Id="rId2" Type="http://schemas.openxmlformats.org/officeDocument/2006/relationships/slideLayout" Target="../slideLayouts/slideLayout9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image" Target="../media/image84.png"/><Relationship Id="rId2" Type="http://schemas.openxmlformats.org/officeDocument/2006/relationships/slideLayout" Target="../slideLayouts/slideLayout9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image" Target="../media/image85.png"/><Relationship Id="rId2" Type="http://schemas.openxmlformats.org/officeDocument/2006/relationships/slideLayout" Target="../slideLayouts/slideLayout9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image" Target="../media/image86.png"/><Relationship Id="rId2" Type="http://schemas.openxmlformats.org/officeDocument/2006/relationships/slideLayout" Target="../slideLayouts/slideLayout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image" Target="../media/image87.png"/><Relationship Id="rId2" Type="http://schemas.openxmlformats.org/officeDocument/2006/relationships/slideLayout" Target="../slideLayouts/slideLayout9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image" Target="../media/image88.png"/><Relationship Id="rId2" Type="http://schemas.openxmlformats.org/officeDocument/2006/relationships/slideLayout" Target="../slideLayouts/slideLayout9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image" Target="../media/image89.png"/><Relationship Id="rId2" Type="http://schemas.openxmlformats.org/officeDocument/2006/relationships/slideLayout" Target="../slideLayouts/slideLayout9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image" Target="../media/image90.png"/><Relationship Id="rId2" Type="http://schemas.openxmlformats.org/officeDocument/2006/relationships/slideLayout" Target="../slideLayouts/slideLayout9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image" Target="../media/image91.png"/><Relationship Id="rId2" Type="http://schemas.openxmlformats.org/officeDocument/2006/relationships/slideLayout" Target="../slideLayouts/slideLayout9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image" Target="../media/image92.png"/><Relationship Id="rId2" Type="http://schemas.openxmlformats.org/officeDocument/2006/relationships/slideLayout" Target="../slideLayouts/slideLayout9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image" Target="../media/image93.png"/><Relationship Id="rId2" Type="http://schemas.openxmlformats.org/officeDocument/2006/relationships/slideLayout" Target="../slideLayouts/slideLayout9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image" Target="../media/image94.png"/><Relationship Id="rId2" Type="http://schemas.openxmlformats.org/officeDocument/2006/relationships/slideLayout" Target="../slideLayouts/slideLayout9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image" Target="../media/image95.png"/><Relationship Id="rId2" Type="http://schemas.openxmlformats.org/officeDocument/2006/relationships/slideLayout" Target="../slideLayouts/slideLayout9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image" Target="../media/image96.png"/><Relationship Id="rId2" Type="http://schemas.openxmlformats.org/officeDocument/2006/relationships/slideLayout" Target="../slideLayouts/slideLayout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image" Target="../media/image97.png"/><Relationship Id="rId2" Type="http://schemas.openxmlformats.org/officeDocument/2006/relationships/slideLayout" Target="../slideLayouts/slideLayout9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image" Target="../media/image98.png"/><Relationship Id="rId2" Type="http://schemas.openxmlformats.org/officeDocument/2006/relationships/slideLayout" Target="../slideLayouts/slideLayout9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image" Target="../media/image99.png"/><Relationship Id="rId2" Type="http://schemas.openxmlformats.org/officeDocument/2006/relationships/slideLayout" Target="../slideLayouts/slideLayout9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image" Target="../media/image100.png"/><Relationship Id="rId2" Type="http://schemas.openxmlformats.org/officeDocument/2006/relationships/slideLayout" Target="../slideLayouts/slideLayout9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image" Target="../media/image101.png"/><Relationship Id="rId2" Type="http://schemas.openxmlformats.org/officeDocument/2006/relationships/slideLayout" Target="../slideLayouts/slideLayout9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image" Target="../media/image102.png"/><Relationship Id="rId2" Type="http://schemas.openxmlformats.org/officeDocument/2006/relationships/slideLayout" Target="../slideLayouts/slideLayout9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image" Target="../media/image103.png"/><Relationship Id="rId2" Type="http://schemas.openxmlformats.org/officeDocument/2006/relationships/slideLayout" Target="../slideLayouts/slideLayout9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image" Target="../media/image104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slide-1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1" descr="slide-2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1" descr="slide-3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1" descr="slide-4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1" descr="slide-5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1" descr="slide-6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Picture 1" descr="slide-7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1" descr="slide-8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Picture 1" descr="slide-9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1" descr="slide-10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1" descr="slide-11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1" descr="slide-12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1" descr="slide-13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Picture 1" descr="slide-14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1" descr="slide-15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1" descr="slide-16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Picture 1" descr="slide-17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1" descr="slide-18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1" descr="slide-19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Picture 1" descr="slide-20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Picture 1" descr="slide-21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Picture 1" descr="slide-22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Picture 1" descr="slide-23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1" descr="slide-24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Picture 1" descr="slide-25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1" descr="slide-26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1" descr="slide-27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slide-28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Picture 1" descr="slide-29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1" descr="slide-30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1" descr="slide-31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slide-32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Picture 1" descr="slide-33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slide-34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 descr="slide-35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" descr="slide-36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1" descr="slide-37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slide-38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Picture 1" descr="slide-39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Picture 1" descr="slide-40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1" descr="slide-41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1" descr="slide-42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Picture 1" descr="slide-43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Picture 1" descr="slide-44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Picture 1" descr="slide-45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1" descr="slide-46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Picture 1" descr="slide-47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1" descr="slide-48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" descr="slide-49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1" descr="slide-50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Picture 1" descr="slide-51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Picture 1" descr="slide-52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Picture 1" descr="slide-53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Picture 1" descr="slide-54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Picture 1" descr="slide-55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Picture 1" descr="slide-56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1" descr="slide-57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1" descr="slide-58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Picture 1" descr="slide-59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" descr="slide-60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Picture 1" descr="slide-61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Picture 1" descr="slide-62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Picture 1" descr="slide-63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Picture 1" descr="slide-64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Picture 1" descr="slide-65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Picture 1" descr="slide-66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Picture 1" descr="slide-67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Picture 1" descr="slide-68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Picture 1" descr="slide-69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Picture 1" descr="slide-70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"/>
          <p:cNvSpPr/>
          <p:nvPr/>
        </p:nvSpPr>
        <p:spPr>
          <a:xfrm>
            <a:off x="552600" y="380880"/>
            <a:ext cx="552240" cy="47160"/>
          </a:xfrm>
          <a:prstGeom prst="rect">
            <a:avLst/>
          </a:prstGeom>
          <a:solidFill>
            <a:srgbClr val="1B6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520" rIns="90000" bIns="252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Rectangle 1"/>
          <p:cNvSpPr/>
          <p:nvPr/>
        </p:nvSpPr>
        <p:spPr>
          <a:xfrm>
            <a:off x="552600" y="609480"/>
            <a:ext cx="85723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B6FB8"/>
                </a:solidFill>
                <a:effectLst/>
                <a:uFillTx/>
                <a:latin typeface="Aptos"/>
                <a:ea typeface="Aptos"/>
              </a:rPr>
              <a:t>MATHEMATICAL FOUNDATION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2"/>
          <p:cNvSpPr/>
          <p:nvPr/>
        </p:nvSpPr>
        <p:spPr>
          <a:xfrm>
            <a:off x="552600" y="866880"/>
            <a:ext cx="11048760" cy="5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2620" b="1" u="none" strike="noStrike">
                <a:solidFill>
                  <a:srgbClr val="102A43"/>
                </a:solidFill>
                <a:effectLst/>
                <a:uFillTx/>
                <a:latin typeface="Aptos"/>
                <a:ea typeface="Aptos"/>
              </a:rPr>
              <a:t>Arithmetic mean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ectangle 3"/>
          <p:cNvSpPr/>
          <p:nvPr/>
        </p:nvSpPr>
        <p:spPr>
          <a:xfrm>
            <a:off x="552600" y="1581120"/>
            <a:ext cx="105724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1280" b="0" u="none" strike="noStrike">
                <a:solidFill>
                  <a:srgbClr val="637891"/>
                </a:solidFill>
                <a:effectLst/>
                <a:uFillTx/>
                <a:latin typeface="Aptos"/>
                <a:ea typeface="Aptos"/>
              </a:rPr>
              <a:t>The mean is the balance point of observed values.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 4"/>
          <p:cNvSpPr/>
          <p:nvPr/>
        </p:nvSpPr>
        <p:spPr>
          <a:xfrm>
            <a:off x="552600" y="6496200"/>
            <a:ext cx="9715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637891"/>
                </a:solidFill>
                <a:effectLst/>
                <a:uFillTx/>
                <a:latin typeface="Aptos"/>
                <a:ea typeface="Aptos"/>
              </a:rPr>
              <a:t>Machine Learning in Finance  ·  Week 01  ·  NKUA MPhil Economics  ·  2026–2027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ectangle 5"/>
          <p:cNvSpPr/>
          <p:nvPr/>
        </p:nvSpPr>
        <p:spPr>
          <a:xfrm>
            <a:off x="11068200" y="6496200"/>
            <a:ext cx="571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637891"/>
                </a:solidFill>
                <a:effectLst/>
                <a:uFillTx/>
                <a:latin typeface="Aptos"/>
                <a:ea typeface="Aptos"/>
              </a:rPr>
              <a:t>70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6"/>
          <p:cNvSpPr/>
          <p:nvPr/>
        </p:nvSpPr>
        <p:spPr>
          <a:xfrm>
            <a:off x="552600" y="2095560"/>
            <a:ext cx="11086920" cy="1847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D7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ectangle 8"/>
          <p:cNvSpPr/>
          <p:nvPr/>
        </p:nvSpPr>
        <p:spPr>
          <a:xfrm>
            <a:off x="762120" y="4114800"/>
            <a:ext cx="2285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B6FB8"/>
                </a:solidFill>
                <a:effectLst/>
                <a:uFillTx/>
                <a:latin typeface="Aptos"/>
                <a:ea typeface="Aptos"/>
              </a:rPr>
              <a:t>DEFINITION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Rectangle 9"/>
          <p:cNvSpPr/>
          <p:nvPr/>
        </p:nvSpPr>
        <p:spPr>
          <a:xfrm>
            <a:off x="762120" y="4457880"/>
            <a:ext cx="476208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1430" b="0" u="none" strike="noStrike">
                <a:solidFill>
                  <a:srgbClr val="22364C"/>
                </a:solidFill>
                <a:effectLst/>
                <a:uFillTx/>
                <a:latin typeface="Aptos"/>
                <a:ea typeface="Aptos"/>
              </a:rPr>
              <a:t>xᵢ is observation i and n is the number of observations. Every observation receives equal weight.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10"/>
          <p:cNvSpPr/>
          <p:nvPr/>
        </p:nvSpPr>
        <p:spPr>
          <a:xfrm>
            <a:off x="6477120" y="4095720"/>
            <a:ext cx="37800" cy="1142640"/>
          </a:xfrm>
          <a:prstGeom prst="rect">
            <a:avLst/>
          </a:prstGeom>
          <a:solidFill>
            <a:srgbClr val="10AF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ectangle 11"/>
          <p:cNvSpPr/>
          <p:nvPr/>
        </p:nvSpPr>
        <p:spPr>
          <a:xfrm>
            <a:off x="6858000" y="4114800"/>
            <a:ext cx="26665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D936C"/>
                </a:solidFill>
                <a:effectLst/>
                <a:uFillTx/>
                <a:latin typeface="Aptos"/>
                <a:ea typeface="Aptos"/>
              </a:rPr>
              <a:t>FINANCE EXAMPLE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Rectangle 12"/>
          <p:cNvSpPr/>
          <p:nvPr/>
        </p:nvSpPr>
        <p:spPr>
          <a:xfrm>
            <a:off x="6858000" y="4457880"/>
            <a:ext cx="428580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1430" b="0" u="none" strike="noStrike">
                <a:solidFill>
                  <a:srgbClr val="22364C"/>
                </a:solidFill>
                <a:effectLst/>
                <a:uFillTx/>
                <a:latin typeface="Aptos"/>
                <a:ea typeface="Aptos"/>
              </a:rPr>
              <a:t>For Apple closing prices, the mean summarises the centre of the observed price sample. It does not describe every trading day.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7"/>
          <p:cNvSpPr/>
          <p:nvPr/>
        </p:nvSpPr>
        <p:spPr>
          <a:xfrm>
            <a:off x="3179520" y="2120040"/>
            <a:ext cx="4460760" cy="167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Picture 1" descr="slide-72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3"/>
          <p:cNvSpPr/>
          <p:nvPr/>
        </p:nvSpPr>
        <p:spPr>
          <a:xfrm>
            <a:off x="552600" y="380880"/>
            <a:ext cx="552240" cy="47160"/>
          </a:xfrm>
          <a:prstGeom prst="rect">
            <a:avLst/>
          </a:prstGeom>
          <a:solidFill>
            <a:srgbClr val="1B6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520" rIns="90000" bIns="252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Rectangle 1"/>
          <p:cNvSpPr/>
          <p:nvPr/>
        </p:nvSpPr>
        <p:spPr>
          <a:xfrm>
            <a:off x="552600" y="609480"/>
            <a:ext cx="85723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B6FB8"/>
                </a:solidFill>
                <a:effectLst/>
                <a:uFillTx/>
                <a:latin typeface="Aptos"/>
                <a:ea typeface="Aptos"/>
              </a:rPr>
              <a:t>MATHEMATICAL FOUNDATION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2"/>
          <p:cNvSpPr/>
          <p:nvPr/>
        </p:nvSpPr>
        <p:spPr>
          <a:xfrm>
            <a:off x="552600" y="866880"/>
            <a:ext cx="11048760" cy="5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2620" b="1" u="none" strike="noStrike">
                <a:solidFill>
                  <a:srgbClr val="102A43"/>
                </a:solidFill>
                <a:effectLst/>
                <a:uFillTx/>
                <a:latin typeface="Aptos"/>
                <a:ea typeface="Aptos"/>
              </a:rPr>
              <a:t>Variance and standard deviation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3"/>
          <p:cNvSpPr/>
          <p:nvPr/>
        </p:nvSpPr>
        <p:spPr>
          <a:xfrm>
            <a:off x="552600" y="1581120"/>
            <a:ext cx="105724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1280" b="0" u="none" strike="noStrike">
                <a:solidFill>
                  <a:srgbClr val="637891"/>
                </a:solidFill>
                <a:effectLst/>
                <a:uFillTx/>
                <a:latin typeface="Aptos"/>
                <a:ea typeface="Aptos"/>
              </a:rPr>
              <a:t>Dispersion measures how far observations sit from the sample mean.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ectangle 4"/>
          <p:cNvSpPr/>
          <p:nvPr/>
        </p:nvSpPr>
        <p:spPr>
          <a:xfrm>
            <a:off x="552600" y="6496200"/>
            <a:ext cx="9715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637891"/>
                </a:solidFill>
                <a:effectLst/>
                <a:uFillTx/>
                <a:latin typeface="Aptos"/>
                <a:ea typeface="Aptos"/>
              </a:rPr>
              <a:t>Machine Learning in Finance  ·  Week 01  ·  NKUA MPhil Economics  ·  2026–2027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ectangle 5"/>
          <p:cNvSpPr/>
          <p:nvPr/>
        </p:nvSpPr>
        <p:spPr>
          <a:xfrm>
            <a:off x="11068200" y="6496200"/>
            <a:ext cx="571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637891"/>
                </a:solidFill>
                <a:effectLst/>
                <a:uFillTx/>
                <a:latin typeface="Aptos"/>
                <a:ea typeface="Aptos"/>
              </a:rPr>
              <a:t>72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6"/>
          <p:cNvSpPr/>
          <p:nvPr/>
        </p:nvSpPr>
        <p:spPr>
          <a:xfrm>
            <a:off x="552600" y="2266920"/>
            <a:ext cx="11086920" cy="1409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7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ectangle 8"/>
          <p:cNvSpPr/>
          <p:nvPr/>
        </p:nvSpPr>
        <p:spPr>
          <a:xfrm>
            <a:off x="762120" y="4114800"/>
            <a:ext cx="2285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B6FB8"/>
                </a:solidFill>
                <a:effectLst/>
                <a:uFillTx/>
                <a:latin typeface="Aptos"/>
                <a:ea typeface="Aptos"/>
              </a:rPr>
              <a:t>DEFINITION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ectangle 9"/>
          <p:cNvSpPr/>
          <p:nvPr/>
        </p:nvSpPr>
        <p:spPr>
          <a:xfrm>
            <a:off x="762120" y="4457880"/>
            <a:ext cx="476208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1430" b="0" u="none" strike="noStrike">
                <a:solidFill>
                  <a:srgbClr val="22364C"/>
                </a:solidFill>
                <a:effectLst/>
                <a:uFillTx/>
                <a:latin typeface="Aptos"/>
                <a:ea typeface="Aptos"/>
              </a:rPr>
              <a:t>Variance is in squared units. Standard deviation returns to the original unit and is easier to interpret financially.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ectangle 10"/>
          <p:cNvSpPr/>
          <p:nvPr/>
        </p:nvSpPr>
        <p:spPr>
          <a:xfrm>
            <a:off x="6477120" y="4095720"/>
            <a:ext cx="37800" cy="1142640"/>
          </a:xfrm>
          <a:prstGeom prst="rect">
            <a:avLst/>
          </a:prstGeom>
          <a:solidFill>
            <a:srgbClr val="10AF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ectangle 11"/>
          <p:cNvSpPr/>
          <p:nvPr/>
        </p:nvSpPr>
        <p:spPr>
          <a:xfrm>
            <a:off x="6858000" y="4114800"/>
            <a:ext cx="26665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D936C"/>
                </a:solidFill>
                <a:effectLst/>
                <a:uFillTx/>
                <a:latin typeface="Aptos"/>
                <a:ea typeface="Aptos"/>
              </a:rPr>
              <a:t>FINANCE EXAMPLE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ectangle 12"/>
          <p:cNvSpPr/>
          <p:nvPr/>
        </p:nvSpPr>
        <p:spPr>
          <a:xfrm>
            <a:off x="6858000" y="4457880"/>
            <a:ext cx="428580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1430" b="0" u="none" strike="noStrike">
                <a:solidFill>
                  <a:srgbClr val="22364C"/>
                </a:solidFill>
                <a:effectLst/>
                <a:uFillTx/>
                <a:latin typeface="Aptos"/>
                <a:ea typeface="Aptos"/>
              </a:rPr>
              <a:t>A larger standard deviation means the observed closing prices vary more around their sample mean.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7"/>
          <p:cNvSpPr/>
          <p:nvPr/>
        </p:nvSpPr>
        <p:spPr>
          <a:xfrm>
            <a:off x="1562040" y="2393280"/>
            <a:ext cx="950544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3"/>
          <p:cNvSpPr/>
          <p:nvPr/>
        </p:nvSpPr>
        <p:spPr>
          <a:xfrm>
            <a:off x="552600" y="380880"/>
            <a:ext cx="552240" cy="47160"/>
          </a:xfrm>
          <a:prstGeom prst="rect">
            <a:avLst/>
          </a:prstGeom>
          <a:solidFill>
            <a:srgbClr val="1B6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520" rIns="90000" bIns="252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Rectangle 1"/>
          <p:cNvSpPr/>
          <p:nvPr/>
        </p:nvSpPr>
        <p:spPr>
          <a:xfrm>
            <a:off x="552600" y="609480"/>
            <a:ext cx="85723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B6FB8"/>
                </a:solidFill>
                <a:effectLst/>
                <a:uFillTx/>
                <a:latin typeface="Aptos"/>
                <a:ea typeface="Aptos"/>
              </a:rPr>
              <a:t>MATHEMATICAL FOUNDATION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Rectangle 2"/>
          <p:cNvSpPr/>
          <p:nvPr/>
        </p:nvSpPr>
        <p:spPr>
          <a:xfrm>
            <a:off x="552600" y="866880"/>
            <a:ext cx="11048760" cy="5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2620" b="1" u="none" strike="noStrike">
                <a:solidFill>
                  <a:srgbClr val="102A43"/>
                </a:solidFill>
                <a:effectLst/>
                <a:uFillTx/>
                <a:latin typeface="Aptos"/>
                <a:ea typeface="Aptos"/>
              </a:rPr>
              <a:t>Z-score</a:t>
            </a:r>
            <a:endParaRPr lang="en-US" sz="26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 3"/>
          <p:cNvSpPr/>
          <p:nvPr/>
        </p:nvSpPr>
        <p:spPr>
          <a:xfrm>
            <a:off x="552600" y="1581120"/>
            <a:ext cx="105724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1280" b="0" u="none" strike="noStrike">
                <a:solidFill>
                  <a:srgbClr val="637891"/>
                </a:solidFill>
                <a:effectLst/>
                <a:uFillTx/>
                <a:latin typeface="Aptos"/>
                <a:ea typeface="Aptos"/>
              </a:rPr>
              <a:t>Standardisation expresses a value in sample standard-deviation units.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ectangle 4"/>
          <p:cNvSpPr/>
          <p:nvPr/>
        </p:nvSpPr>
        <p:spPr>
          <a:xfrm>
            <a:off x="552600" y="6496200"/>
            <a:ext cx="9715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637891"/>
                </a:solidFill>
                <a:effectLst/>
                <a:uFillTx/>
                <a:latin typeface="Aptos"/>
                <a:ea typeface="Aptos"/>
              </a:rPr>
              <a:t>Machine Learning in Finance  ·  Week 01  ·  NKUA MPhil Economics  ·  2026–2027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5"/>
          <p:cNvSpPr/>
          <p:nvPr/>
        </p:nvSpPr>
        <p:spPr>
          <a:xfrm>
            <a:off x="11068200" y="6496200"/>
            <a:ext cx="571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637891"/>
                </a:solidFill>
                <a:effectLst/>
                <a:uFillTx/>
                <a:latin typeface="Aptos"/>
                <a:ea typeface="Aptos"/>
              </a:rPr>
              <a:t>73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6"/>
          <p:cNvSpPr/>
          <p:nvPr/>
        </p:nvSpPr>
        <p:spPr>
          <a:xfrm>
            <a:off x="552600" y="2266920"/>
            <a:ext cx="11086920" cy="1409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7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8"/>
          <p:cNvSpPr/>
          <p:nvPr/>
        </p:nvSpPr>
        <p:spPr>
          <a:xfrm>
            <a:off x="762120" y="4114800"/>
            <a:ext cx="228564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B6FB8"/>
                </a:solidFill>
                <a:effectLst/>
                <a:uFillTx/>
                <a:latin typeface="Aptos"/>
                <a:ea typeface="Aptos"/>
              </a:rPr>
              <a:t>DEFINITION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ectangle 9"/>
          <p:cNvSpPr/>
          <p:nvPr/>
        </p:nvSpPr>
        <p:spPr>
          <a:xfrm>
            <a:off x="762120" y="4457880"/>
            <a:ext cx="476208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1430" b="0" u="none" strike="noStrike">
                <a:solidFill>
                  <a:srgbClr val="22364C"/>
                </a:solidFill>
                <a:effectLst/>
                <a:uFillTx/>
                <a:latin typeface="Aptos"/>
                <a:ea typeface="Aptos"/>
              </a:rPr>
              <a:t>zᵢ measures the distance from the mean relative to the sample spread. It has no original measurement unit.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ectangle 10"/>
          <p:cNvSpPr/>
          <p:nvPr/>
        </p:nvSpPr>
        <p:spPr>
          <a:xfrm>
            <a:off x="6477120" y="4095720"/>
            <a:ext cx="37800" cy="1142640"/>
          </a:xfrm>
          <a:prstGeom prst="rect">
            <a:avLst/>
          </a:prstGeom>
          <a:solidFill>
            <a:srgbClr val="10AFC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ectangle 11"/>
          <p:cNvSpPr/>
          <p:nvPr/>
        </p:nvSpPr>
        <p:spPr>
          <a:xfrm>
            <a:off x="6858000" y="4114800"/>
            <a:ext cx="26665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1D936C"/>
                </a:solidFill>
                <a:effectLst/>
                <a:uFillTx/>
                <a:latin typeface="Aptos"/>
                <a:ea typeface="Aptos"/>
              </a:rPr>
              <a:t>FINANCE EXAMPLE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ectangle 12"/>
          <p:cNvSpPr/>
          <p:nvPr/>
        </p:nvSpPr>
        <p:spPr>
          <a:xfrm>
            <a:off x="6858000" y="4457880"/>
            <a:ext cx="4285800" cy="72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457200">
              <a:lnSpc>
                <a:spcPct val="100000"/>
              </a:lnSpc>
            </a:pPr>
            <a:r>
              <a:rPr lang="en-US" sz="1430" b="0" u="none" strike="noStrike">
                <a:solidFill>
                  <a:srgbClr val="22364C"/>
                </a:solidFill>
                <a:effectLst/>
                <a:uFillTx/>
                <a:latin typeface="Aptos"/>
                <a:ea typeface="Aptos"/>
              </a:rPr>
              <a:t>A closing price with z = 2 lies two sample standard deviations above the sample mean.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ectangle 7"/>
          <p:cNvSpPr/>
          <p:nvPr/>
        </p:nvSpPr>
        <p:spPr>
          <a:xfrm>
            <a:off x="4476240" y="2286000"/>
            <a:ext cx="2983680" cy="122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Picture 1" descr="slide-75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Picture 1" descr="slide-76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Picture 1" descr="slide-77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Picture 1" descr="slide-78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Picture 1" descr="slide-79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Picture 1" descr="slide-80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Picture 1" descr="slide-81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Picture 1" descr="slide-82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Picture 1" descr="slide-83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Picture 1" descr="slide-84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Picture 1" descr="slide-85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1" descr="slide-86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Picture 1" descr="slide-87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Picture 1" descr="slide-88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Picture 1" descr="slide-89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Picture 1" descr="slide-90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Picture 1" descr="slide-91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Picture 1" descr="slide-92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Picture 1" descr="slide-93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Picture 1" descr="slide-94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Picture 1" descr="slide-95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Picture 1" descr="slide-96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Picture 1" descr="slide-97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Picture 1" descr="slide-98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Picture 1" descr="slide-99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Picture 1" descr="slide-100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Picture 1" descr="slide-101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Picture 1" descr="slide-102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Picture 1" descr="slide-103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Picture 1" descr="slide-104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1" descr="slide-105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icture 1" descr="slide-106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Picture 1" descr="slide-107.png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LibreOfficeDev/26.8.0.0.alpha0$Linux_X86_64 LibreOffice_project/2c87e51eeaa2b413ff4ae097b2705eea1995d8e5</Application>
  <AppVersion>15.0000</AppVersion>
  <Words>339</Words>
  <Paragraphs>33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FERDINANTOS KOTTAS</cp:lastModifiedBy>
  <dcterms:modified xsi:type="dcterms:W3CDTF">2026-10-03T19:44:51Z</dcterms:modified>
  <cp:revision>3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</vt:r8>
  </property>
  <property fmtid="{D5CDD505-2E9C-101B-9397-08002B2CF9AE}" pid="3" name="PresentationFormat">
    <vt:lpwstr>Widescreen</vt:lpwstr>
  </property>
  <property fmtid="{D5CDD505-2E9C-101B-9397-08002B2CF9AE}" pid="4" name="Slides">
    <vt:r8>107</vt:r8>
  </property>
</Properties>
</file>