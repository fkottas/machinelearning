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b3927e52b924387" Type="http://schemas.openxmlformats.org/officeDocument/2006/relationships/officeDocument" Target="ppt/presentation.xml"/><Relationship Id="R79700af2034c46e4" Type="http://schemas.openxmlformats.org/package/2006/relationships/metadata/core-properties" Target="docProps/core.xml"/><Relationship Id="R7ed65e81339442d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653a861604018"/>
  </p:sldMasterIdLst>
  <p:notesMasterIdLst>
    <p:notesMasterId xmlns:r="http://schemas.openxmlformats.org/officeDocument/2006/relationships" r:id="R40118da33d394283"/>
  </p:notesMasterIdLst>
  <p:sldIdLst>
    <p:sldId xmlns:r="http://schemas.openxmlformats.org/officeDocument/2006/relationships" id="256" r:id="R3896b2ffd3b14829"/>
    <p:sldId xmlns:r="http://schemas.openxmlformats.org/officeDocument/2006/relationships" id="257" r:id="R7681a3db57864c33"/>
    <p:sldId xmlns:r="http://schemas.openxmlformats.org/officeDocument/2006/relationships" id="258" r:id="Raaf19b0a781642a2"/>
    <p:sldId xmlns:r="http://schemas.openxmlformats.org/officeDocument/2006/relationships" id="259" r:id="Ref17e730ba654d2e"/>
    <p:sldId xmlns:r="http://schemas.openxmlformats.org/officeDocument/2006/relationships" id="260" r:id="R6809b294b01849ea"/>
    <p:sldId xmlns:r="http://schemas.openxmlformats.org/officeDocument/2006/relationships" id="261" r:id="R92884605be5f4ba6"/>
    <p:sldId xmlns:r="http://schemas.openxmlformats.org/officeDocument/2006/relationships" id="262" r:id="R3a89cf590d0f42af"/>
    <p:sldId xmlns:r="http://schemas.openxmlformats.org/officeDocument/2006/relationships" id="263" r:id="R50800ca136764c1c"/>
    <p:sldId xmlns:r="http://schemas.openxmlformats.org/officeDocument/2006/relationships" id="264" r:id="R7c0e1adaff8e4f41"/>
    <p:sldId xmlns:r="http://schemas.openxmlformats.org/officeDocument/2006/relationships" id="265" r:id="R09a5fa9ec3aa428b"/>
    <p:sldId xmlns:r="http://schemas.openxmlformats.org/officeDocument/2006/relationships" id="266" r:id="R26ac5f8008e74528"/>
    <p:sldId xmlns:r="http://schemas.openxmlformats.org/officeDocument/2006/relationships" id="267" r:id="R246508e25cdd4dec"/>
    <p:sldId xmlns:r="http://schemas.openxmlformats.org/officeDocument/2006/relationships" id="268" r:id="R7fd4c334bf374cb7"/>
    <p:sldId xmlns:r="http://schemas.openxmlformats.org/officeDocument/2006/relationships" id="269" r:id="Re0a5fbbb7bf540e2"/>
    <p:sldId xmlns:r="http://schemas.openxmlformats.org/officeDocument/2006/relationships" id="270" r:id="Rd41067154c4049cb"/>
    <p:sldId xmlns:r="http://schemas.openxmlformats.org/officeDocument/2006/relationships" id="271" r:id="Rffa12e0a392449b8"/>
    <p:sldId xmlns:r="http://schemas.openxmlformats.org/officeDocument/2006/relationships" id="272" r:id="R7d8b7db4760846ae"/>
    <p:sldId xmlns:r="http://schemas.openxmlformats.org/officeDocument/2006/relationships" id="273" r:id="R1adb93c783224096"/>
    <p:sldId xmlns:r="http://schemas.openxmlformats.org/officeDocument/2006/relationships" id="274" r:id="R9f437da5b7274bd5"/>
    <p:sldId xmlns:r="http://schemas.openxmlformats.org/officeDocument/2006/relationships" id="275" r:id="Ref337187e537436d"/>
    <p:sldId xmlns:r="http://schemas.openxmlformats.org/officeDocument/2006/relationships" id="276" r:id="R632683b342934c05"/>
    <p:sldId xmlns:r="http://schemas.openxmlformats.org/officeDocument/2006/relationships" id="277" r:id="R802929cbdb804ecb"/>
    <p:sldId xmlns:r="http://schemas.openxmlformats.org/officeDocument/2006/relationships" id="278" r:id="Rca2a54eee26a439e"/>
    <p:sldId xmlns:r="http://schemas.openxmlformats.org/officeDocument/2006/relationships" id="279" r:id="R855ef74fd6d94ef3"/>
    <p:sldId xmlns:r="http://schemas.openxmlformats.org/officeDocument/2006/relationships" id="280" r:id="R4d0e42d4a5904a7f"/>
    <p:sldId xmlns:r="http://schemas.openxmlformats.org/officeDocument/2006/relationships" id="281" r:id="R410385c0afc74924"/>
    <p:sldId xmlns:r="http://schemas.openxmlformats.org/officeDocument/2006/relationships" id="282" r:id="R50bc896338e84c7b"/>
    <p:sldId xmlns:r="http://schemas.openxmlformats.org/officeDocument/2006/relationships" id="283" r:id="Ra440cbd3a60b4680"/>
    <p:sldId xmlns:r="http://schemas.openxmlformats.org/officeDocument/2006/relationships" id="284" r:id="Re3d255d85e554380"/>
    <p:sldId xmlns:r="http://schemas.openxmlformats.org/officeDocument/2006/relationships" id="285" r:id="Rc013cf7b01f1452b"/>
    <p:sldId xmlns:r="http://schemas.openxmlformats.org/officeDocument/2006/relationships" id="286" r:id="R95bfef6473474de9"/>
    <p:sldId xmlns:r="http://schemas.openxmlformats.org/officeDocument/2006/relationships" id="287" r:id="R1bd4f45c7d8e4b0c"/>
    <p:sldId xmlns:r="http://schemas.openxmlformats.org/officeDocument/2006/relationships" id="288" r:id="R7108fd7db6344035"/>
    <p:sldId xmlns:r="http://schemas.openxmlformats.org/officeDocument/2006/relationships" id="289" r:id="R980138e9e6d24c17"/>
    <p:sldId xmlns:r="http://schemas.openxmlformats.org/officeDocument/2006/relationships" id="290" r:id="R726ab1bf64d54795"/>
    <p:sldId xmlns:r="http://schemas.openxmlformats.org/officeDocument/2006/relationships" id="291" r:id="Rd7f7e1c290034ace"/>
    <p:sldId xmlns:r="http://schemas.openxmlformats.org/officeDocument/2006/relationships" id="292" r:id="Rff468b3307354002"/>
    <p:sldId xmlns:r="http://schemas.openxmlformats.org/officeDocument/2006/relationships" id="293" r:id="R7ced5f46e8144ace"/>
    <p:sldId xmlns:r="http://schemas.openxmlformats.org/officeDocument/2006/relationships" id="294" r:id="R933d2b0b39844ea1"/>
    <p:sldId xmlns:r="http://schemas.openxmlformats.org/officeDocument/2006/relationships" id="295" r:id="Rdfef26795ced4696"/>
    <p:sldId xmlns:r="http://schemas.openxmlformats.org/officeDocument/2006/relationships" id="296" r:id="R5f580859e4c440e1"/>
    <p:sldId xmlns:r="http://schemas.openxmlformats.org/officeDocument/2006/relationships" id="297" r:id="R9c2a9ebbf04b4941"/>
    <p:sldId xmlns:r="http://schemas.openxmlformats.org/officeDocument/2006/relationships" id="298" r:id="Rfbd87a2673224891"/>
    <p:sldId xmlns:r="http://schemas.openxmlformats.org/officeDocument/2006/relationships" id="299" r:id="Rdc6301d40943497c"/>
    <p:sldId xmlns:r="http://schemas.openxmlformats.org/officeDocument/2006/relationships" id="300" r:id="R078ad696c8a44531"/>
    <p:sldId xmlns:r="http://schemas.openxmlformats.org/officeDocument/2006/relationships" id="301" r:id="R1d9b5a60690640ac"/>
    <p:sldId xmlns:r="http://schemas.openxmlformats.org/officeDocument/2006/relationships" id="302" r:id="Re5cd75e0ab624ef7"/>
    <p:sldId xmlns:r="http://schemas.openxmlformats.org/officeDocument/2006/relationships" id="303" r:id="Rd11f874f393a4c10"/>
    <p:sldId xmlns:r="http://schemas.openxmlformats.org/officeDocument/2006/relationships" id="304" r:id="R28bbd2798c7641cf"/>
    <p:sldId xmlns:r="http://schemas.openxmlformats.org/officeDocument/2006/relationships" id="305" r:id="Rc24bd30c4d784d77"/>
    <p:sldId xmlns:r="http://schemas.openxmlformats.org/officeDocument/2006/relationships" id="306" r:id="R773014f9739a48dc"/>
    <p:sldId xmlns:r="http://schemas.openxmlformats.org/officeDocument/2006/relationships" id="307" r:id="R7305f2b0c0dc48e6"/>
    <p:sldId xmlns:r="http://schemas.openxmlformats.org/officeDocument/2006/relationships" id="308" r:id="R68547716589c43a4"/>
    <p:sldId xmlns:r="http://schemas.openxmlformats.org/officeDocument/2006/relationships" id="309" r:id="Re7457b7a3ab5473a"/>
    <p:sldId xmlns:r="http://schemas.openxmlformats.org/officeDocument/2006/relationships" id="310" r:id="R224ed4b9c23349c8"/>
    <p:sldId xmlns:r="http://schemas.openxmlformats.org/officeDocument/2006/relationships" id="311" r:id="R43c82c04df86433f"/>
    <p:sldId xmlns:r="http://schemas.openxmlformats.org/officeDocument/2006/relationships" id="312" r:id="R65491d163e114966"/>
    <p:sldId xmlns:r="http://schemas.openxmlformats.org/officeDocument/2006/relationships" id="313" r:id="R3cf55ffd50ca4c53"/>
    <p:sldId xmlns:r="http://schemas.openxmlformats.org/officeDocument/2006/relationships" id="314" r:id="Reee29d8c2b554c92"/>
    <p:sldId xmlns:r="http://schemas.openxmlformats.org/officeDocument/2006/relationships" id="315" r:id="R0d2b0ad9ab434930"/>
    <p:sldId xmlns:r="http://schemas.openxmlformats.org/officeDocument/2006/relationships" id="316" r:id="R9152ece42f8c4bd2"/>
    <p:sldId xmlns:r="http://schemas.openxmlformats.org/officeDocument/2006/relationships" id="317" r:id="R35776c034e22431f"/>
    <p:sldId xmlns:r="http://schemas.openxmlformats.org/officeDocument/2006/relationships" id="318" r:id="R68e4358e07f74056"/>
    <p:sldId xmlns:r="http://schemas.openxmlformats.org/officeDocument/2006/relationships" id="319" r:id="R4541086b27954d9a"/>
    <p:sldId xmlns:r="http://schemas.openxmlformats.org/officeDocument/2006/relationships" id="320" r:id="R620103cae5394893"/>
    <p:sldId xmlns:r="http://schemas.openxmlformats.org/officeDocument/2006/relationships" id="321" r:id="R7fd188031dc34de3"/>
    <p:sldId xmlns:r="http://schemas.openxmlformats.org/officeDocument/2006/relationships" id="322" r:id="R7a26d2911e904150"/>
    <p:sldId xmlns:r="http://schemas.openxmlformats.org/officeDocument/2006/relationships" id="323" r:id="R5cbf13adb4614dc9"/>
    <p:sldId xmlns:r="http://schemas.openxmlformats.org/officeDocument/2006/relationships" id="324" r:id="R3b0d17b5638844f9"/>
    <p:sldId xmlns:r="http://schemas.openxmlformats.org/officeDocument/2006/relationships" id="325" r:id="R61d2614db7114137"/>
    <p:sldId xmlns:r="http://schemas.openxmlformats.org/officeDocument/2006/relationships" id="326" r:id="R6a854470f7ff4a7a"/>
    <p:sldId xmlns:r="http://schemas.openxmlformats.org/officeDocument/2006/relationships" id="327" r:id="Rca8e26ac99044959"/>
    <p:sldId xmlns:r="http://schemas.openxmlformats.org/officeDocument/2006/relationships" id="328" r:id="Rf5bfc14f63f64422"/>
    <p:sldId xmlns:r="http://schemas.openxmlformats.org/officeDocument/2006/relationships" id="329" r:id="R5c283417634745d2"/>
    <p:sldId xmlns:r="http://schemas.openxmlformats.org/officeDocument/2006/relationships" id="330" r:id="Rb263a937c8de4438"/>
    <p:sldId xmlns:r="http://schemas.openxmlformats.org/officeDocument/2006/relationships" id="331" r:id="R7531a3efa76448b8"/>
    <p:sldId xmlns:r="http://schemas.openxmlformats.org/officeDocument/2006/relationships" id="332" r:id="R8a38882081204fbc"/>
    <p:sldId xmlns:r="http://schemas.openxmlformats.org/officeDocument/2006/relationships" id="333" r:id="Ra27901d901844e09"/>
    <p:sldId xmlns:r="http://schemas.openxmlformats.org/officeDocument/2006/relationships" id="334" r:id="R9ee00875117f462a"/>
    <p:sldId xmlns:r="http://schemas.openxmlformats.org/officeDocument/2006/relationships" id="335" r:id="Rd00780f4603a4980"/>
    <p:sldId xmlns:r="http://schemas.openxmlformats.org/officeDocument/2006/relationships" id="336" r:id="R8681ebb3090447b5"/>
    <p:sldId xmlns:r="http://schemas.openxmlformats.org/officeDocument/2006/relationships" id="337" r:id="R936cca1ff0934190"/>
    <p:sldId xmlns:r="http://schemas.openxmlformats.org/officeDocument/2006/relationships" id="338" r:id="R682aa01aa7314dda"/>
    <p:sldId xmlns:r="http://schemas.openxmlformats.org/officeDocument/2006/relationships" id="339" r:id="R171346fe5d1247ab"/>
    <p:sldId xmlns:r="http://schemas.openxmlformats.org/officeDocument/2006/relationships" id="340" r:id="R2d4680bf1b4442b8"/>
    <p:sldId xmlns:r="http://schemas.openxmlformats.org/officeDocument/2006/relationships" id="341" r:id="R5242219de2204448"/>
    <p:sldId xmlns:r="http://schemas.openxmlformats.org/officeDocument/2006/relationships" id="342" r:id="R51d544d71901495a"/>
    <p:sldId xmlns:r="http://schemas.openxmlformats.org/officeDocument/2006/relationships" id="343" r:id="Rdaec3e185ce74afd"/>
    <p:sldId xmlns:r="http://schemas.openxmlformats.org/officeDocument/2006/relationships" id="344" r:id="R0c13b8fd76e94958"/>
    <p:sldId xmlns:r="http://schemas.openxmlformats.org/officeDocument/2006/relationships" id="345" r:id="Rda05ccf5ba6f4ed5"/>
    <p:sldId xmlns:r="http://schemas.openxmlformats.org/officeDocument/2006/relationships" id="346" r:id="Rcaea551b73124612"/>
    <p:sldId xmlns:r="http://schemas.openxmlformats.org/officeDocument/2006/relationships" id="347" r:id="Re58ee3e931524974"/>
    <p:sldId xmlns:r="http://schemas.openxmlformats.org/officeDocument/2006/relationships" id="348" r:id="R024bad7d9ec54258"/>
    <p:sldId xmlns:r="http://schemas.openxmlformats.org/officeDocument/2006/relationships" id="349" r:id="Ra6ad7f2518b54503"/>
    <p:sldId xmlns:r="http://schemas.openxmlformats.org/officeDocument/2006/relationships" id="350" r:id="Rc7ffc0f7773c44ae"/>
    <p:sldId xmlns:r="http://schemas.openxmlformats.org/officeDocument/2006/relationships" id="351" r:id="R86b2a176f8da4a26"/>
    <p:sldId xmlns:r="http://schemas.openxmlformats.org/officeDocument/2006/relationships" id="352" r:id="Rf3ac09a7fa6848c3"/>
    <p:sldId xmlns:r="http://schemas.openxmlformats.org/officeDocument/2006/relationships" id="353" r:id="R4594f5863a234d80"/>
    <p:sldId xmlns:r="http://schemas.openxmlformats.org/officeDocument/2006/relationships" id="354" r:id="R0dd885f4a7e645a3"/>
    <p:sldId xmlns:r="http://schemas.openxmlformats.org/officeDocument/2006/relationships" id="355" r:id="R9e32d85e1f344859"/>
    <p:sldId xmlns:r="http://schemas.openxmlformats.org/officeDocument/2006/relationships" id="356" r:id="R7254d1da523b4e94"/>
    <p:sldId xmlns:r="http://schemas.openxmlformats.org/officeDocument/2006/relationships" id="357" r:id="Rbe33b9d23bf045a9"/>
    <p:sldId xmlns:r="http://schemas.openxmlformats.org/officeDocument/2006/relationships" id="358" r:id="Rb0ef21da66f4406b"/>
    <p:sldId xmlns:r="http://schemas.openxmlformats.org/officeDocument/2006/relationships" id="359" r:id="R8690142b30f146fc"/>
    <p:sldId xmlns:r="http://schemas.openxmlformats.org/officeDocument/2006/relationships" id="360" r:id="R8c7cd8fcf30c4159"/>
    <p:sldId xmlns:r="http://schemas.openxmlformats.org/officeDocument/2006/relationships" id="361" r:id="R04741112dc8f483d"/>
    <p:sldId xmlns:r="http://schemas.openxmlformats.org/officeDocument/2006/relationships" id="362" r:id="R80a4ec02ed77496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4bad7d9ec54258" Type="http://schemas.openxmlformats.org/officeDocument/2006/relationships/slide" Target="slides/slide93.xml"/><Relationship Id="R04741112dc8f483d" Type="http://schemas.openxmlformats.org/officeDocument/2006/relationships/slide" Target="slides/slide106.xml"/><Relationship Id="R078ad696c8a44531" Type="http://schemas.openxmlformats.org/officeDocument/2006/relationships/slide" Target="slides/slide45.xml"/><Relationship Id="R09a5fa9ec3aa428b" Type="http://schemas.openxmlformats.org/officeDocument/2006/relationships/slide" Target="slides/slide10.xml"/><Relationship Id="R0c13b8fd76e94958" Type="http://schemas.openxmlformats.org/officeDocument/2006/relationships/slide" Target="slides/slide89.xml"/><Relationship Id="R0d2b0ad9ab434930" Type="http://schemas.openxmlformats.org/officeDocument/2006/relationships/slide" Target="slides/slide60.xml"/><Relationship Id="R0dd885f4a7e645a3" Type="http://schemas.openxmlformats.org/officeDocument/2006/relationships/slide" Target="slides/slide99.xml"/><Relationship Id="R171346fe5d1247ab" Type="http://schemas.openxmlformats.org/officeDocument/2006/relationships/slide" Target="slides/slide84.xml"/><Relationship Id="R1adb93c783224096" Type="http://schemas.openxmlformats.org/officeDocument/2006/relationships/slide" Target="slides/slide18.xml"/><Relationship Id="R1bd4f45c7d8e4b0c" Type="http://schemas.openxmlformats.org/officeDocument/2006/relationships/slide" Target="slides/slide32.xml"/><Relationship Id="R1d9b5a60690640ac" Type="http://schemas.openxmlformats.org/officeDocument/2006/relationships/slide" Target="slides/slide46.xml"/><Relationship Id="R224ed4b9c23349c8" Type="http://schemas.openxmlformats.org/officeDocument/2006/relationships/slide" Target="slides/slide55.xml"/><Relationship Id="R246508e25cdd4dec" Type="http://schemas.openxmlformats.org/officeDocument/2006/relationships/slide" Target="slides/slide12.xml"/><Relationship Id="R26ac5f8008e74528" Type="http://schemas.openxmlformats.org/officeDocument/2006/relationships/slide" Target="slides/slide11.xml"/><Relationship Id="R28bbd2798c7641cf" Type="http://schemas.openxmlformats.org/officeDocument/2006/relationships/slide" Target="slides/slide49.xml"/><Relationship Id="R2bf94b0cb1c6413e" Type="http://schemas.openxmlformats.org/officeDocument/2006/relationships/theme" Target="theme/theme1.xml"/><Relationship Id="R2d4680bf1b4442b8" Type="http://schemas.openxmlformats.org/officeDocument/2006/relationships/slide" Target="slides/slide85.xml"/><Relationship Id="R35776c034e22431f" Type="http://schemas.openxmlformats.org/officeDocument/2006/relationships/slide" Target="slides/slide62.xml"/><Relationship Id="R3896b2ffd3b14829" Type="http://schemas.openxmlformats.org/officeDocument/2006/relationships/slide" Target="slides/slide1.xml"/><Relationship Id="R3a11a4257ac446b8" Type="http://schemas.openxmlformats.org/officeDocument/2006/relationships/tableStyles" Target="tableStyles.xml"/><Relationship Id="R3a89cf590d0f42af" Type="http://schemas.openxmlformats.org/officeDocument/2006/relationships/slide" Target="slides/slide7.xml"/><Relationship Id="R3b0d17b5638844f9" Type="http://schemas.openxmlformats.org/officeDocument/2006/relationships/slide" Target="slides/slide69.xml"/><Relationship Id="R3cf55ffd50ca4c53" Type="http://schemas.openxmlformats.org/officeDocument/2006/relationships/slide" Target="slides/slide58.xml"/><Relationship Id="R40118da33d394283" Type="http://schemas.openxmlformats.org/officeDocument/2006/relationships/notesMaster" Target="notesMasters/notesMaster1.xml"/><Relationship Id="R410385c0afc74924" Type="http://schemas.openxmlformats.org/officeDocument/2006/relationships/slide" Target="slides/slide26.xml"/><Relationship Id="R43c82c04df86433f" Type="http://schemas.openxmlformats.org/officeDocument/2006/relationships/slide" Target="slides/slide56.xml"/><Relationship Id="R4541086b27954d9a" Type="http://schemas.openxmlformats.org/officeDocument/2006/relationships/slide" Target="slides/slide64.xml"/><Relationship Id="R4594f5863a234d80" Type="http://schemas.openxmlformats.org/officeDocument/2006/relationships/slide" Target="slides/slide98.xml"/><Relationship Id="R4d0e42d4a5904a7f" Type="http://schemas.openxmlformats.org/officeDocument/2006/relationships/slide" Target="slides/slide25.xml"/><Relationship Id="R50800ca136764c1c" Type="http://schemas.openxmlformats.org/officeDocument/2006/relationships/slide" Target="slides/slide8.xml"/><Relationship Id="R50bc896338e84c7b" Type="http://schemas.openxmlformats.org/officeDocument/2006/relationships/slide" Target="slides/slide27.xml"/><Relationship Id="R51d544d71901495a" Type="http://schemas.openxmlformats.org/officeDocument/2006/relationships/slide" Target="slides/slide87.xml"/><Relationship Id="R5242219de2204448" Type="http://schemas.openxmlformats.org/officeDocument/2006/relationships/slide" Target="slides/slide86.xml"/><Relationship Id="R5c283417634745d2" Type="http://schemas.openxmlformats.org/officeDocument/2006/relationships/slide" Target="slides/slide74.xml"/><Relationship Id="R5cbf13adb4614dc9" Type="http://schemas.openxmlformats.org/officeDocument/2006/relationships/slide" Target="slides/slide68.xml"/><Relationship Id="R5f580859e4c440e1" Type="http://schemas.openxmlformats.org/officeDocument/2006/relationships/slide" Target="slides/slide41.xml"/><Relationship Id="R61d2614db7114137" Type="http://schemas.openxmlformats.org/officeDocument/2006/relationships/slide" Target="slides/slide70.xml"/><Relationship Id="R620103cae5394893" Type="http://schemas.openxmlformats.org/officeDocument/2006/relationships/slide" Target="slides/slide65.xml"/><Relationship Id="R632683b342934c05" Type="http://schemas.openxmlformats.org/officeDocument/2006/relationships/slide" Target="slides/slide21.xml"/><Relationship Id="R65491d163e114966" Type="http://schemas.openxmlformats.org/officeDocument/2006/relationships/slide" Target="slides/slide57.xml"/><Relationship Id="R6809b294b01849ea" Type="http://schemas.openxmlformats.org/officeDocument/2006/relationships/slide" Target="slides/slide5.xml"/><Relationship Id="R682aa01aa7314dda" Type="http://schemas.openxmlformats.org/officeDocument/2006/relationships/slide" Target="slides/slide83.xml"/><Relationship Id="R68547716589c43a4" Type="http://schemas.openxmlformats.org/officeDocument/2006/relationships/slide" Target="slides/slide53.xml"/><Relationship Id="R68e4358e07f74056" Type="http://schemas.openxmlformats.org/officeDocument/2006/relationships/slide" Target="slides/slide63.xml"/><Relationship Id="R6a854470f7ff4a7a" Type="http://schemas.openxmlformats.org/officeDocument/2006/relationships/slide" Target="slides/slide71.xml"/><Relationship Id="R7108fd7db6344035" Type="http://schemas.openxmlformats.org/officeDocument/2006/relationships/slide" Target="slides/slide33.xml"/><Relationship Id="R7254d1da523b4e94" Type="http://schemas.openxmlformats.org/officeDocument/2006/relationships/slide" Target="slides/slide101.xml"/><Relationship Id="R726ab1bf64d54795" Type="http://schemas.openxmlformats.org/officeDocument/2006/relationships/slide" Target="slides/slide35.xml"/><Relationship Id="R7305f2b0c0dc48e6" Type="http://schemas.openxmlformats.org/officeDocument/2006/relationships/slide" Target="slides/slide52.xml"/><Relationship Id="R7531a3efa76448b8" Type="http://schemas.openxmlformats.org/officeDocument/2006/relationships/slide" Target="slides/slide76.xml"/><Relationship Id="R7681a3db57864c33" Type="http://schemas.openxmlformats.org/officeDocument/2006/relationships/slide" Target="slides/slide2.xml"/><Relationship Id="R773014f9739a48dc" Type="http://schemas.openxmlformats.org/officeDocument/2006/relationships/slide" Target="slides/slide51.xml"/><Relationship Id="R7a26d2911e904150" Type="http://schemas.openxmlformats.org/officeDocument/2006/relationships/slide" Target="slides/slide67.xml"/><Relationship Id="R7c0e1adaff8e4f41" Type="http://schemas.openxmlformats.org/officeDocument/2006/relationships/slide" Target="slides/slide9.xml"/><Relationship Id="R7ced5f46e8144ace" Type="http://schemas.openxmlformats.org/officeDocument/2006/relationships/slide" Target="slides/slide38.xml"/><Relationship Id="R7d8b7db4760846ae" Type="http://schemas.openxmlformats.org/officeDocument/2006/relationships/slide" Target="slides/slide17.xml"/><Relationship Id="R7fd188031dc34de3" Type="http://schemas.openxmlformats.org/officeDocument/2006/relationships/slide" Target="slides/slide66.xml"/><Relationship Id="R7fd4c334bf374cb7" Type="http://schemas.openxmlformats.org/officeDocument/2006/relationships/slide" Target="slides/slide13.xml"/><Relationship Id="R802929cbdb804ecb" Type="http://schemas.openxmlformats.org/officeDocument/2006/relationships/slide" Target="slides/slide22.xml"/><Relationship Id="R80a4ec02ed77496b" Type="http://schemas.openxmlformats.org/officeDocument/2006/relationships/slide" Target="slides/slide107.xml"/><Relationship Id="R855ef74fd6d94ef3" Type="http://schemas.openxmlformats.org/officeDocument/2006/relationships/slide" Target="slides/slide24.xml"/><Relationship Id="R8681ebb3090447b5" Type="http://schemas.openxmlformats.org/officeDocument/2006/relationships/slide" Target="slides/slide81.xml"/><Relationship Id="R8690142b30f146fc" Type="http://schemas.openxmlformats.org/officeDocument/2006/relationships/slide" Target="slides/slide104.xml"/><Relationship Id="R86b2a176f8da4a26" Type="http://schemas.openxmlformats.org/officeDocument/2006/relationships/slide" Target="slides/slide96.xml"/><Relationship Id="R8a38882081204fbc" Type="http://schemas.openxmlformats.org/officeDocument/2006/relationships/slide" Target="slides/slide77.xml"/><Relationship Id="R8c7cd8fcf30c4159" Type="http://schemas.openxmlformats.org/officeDocument/2006/relationships/slide" Target="slides/slide105.xml"/><Relationship Id="R8d5653a861604018" Type="http://schemas.openxmlformats.org/officeDocument/2006/relationships/slideMaster" Target="slideMasters/slideMaster1.xml"/><Relationship Id="R8fe86092d5824f35" Type="http://schemas.openxmlformats.org/officeDocument/2006/relationships/presProps" Target="presProps.xml"/><Relationship Id="R9152ece42f8c4bd2" Type="http://schemas.openxmlformats.org/officeDocument/2006/relationships/slide" Target="slides/slide61.xml"/><Relationship Id="R92884605be5f4ba6" Type="http://schemas.openxmlformats.org/officeDocument/2006/relationships/slide" Target="slides/slide6.xml"/><Relationship Id="R933d2b0b39844ea1" Type="http://schemas.openxmlformats.org/officeDocument/2006/relationships/slide" Target="slides/slide39.xml"/><Relationship Id="R936cca1ff0934190" Type="http://schemas.openxmlformats.org/officeDocument/2006/relationships/slide" Target="slides/slide82.xml"/><Relationship Id="R95bfef6473474de9" Type="http://schemas.openxmlformats.org/officeDocument/2006/relationships/slide" Target="slides/slide31.xml"/><Relationship Id="R980138e9e6d24c17" Type="http://schemas.openxmlformats.org/officeDocument/2006/relationships/slide" Target="slides/slide34.xml"/><Relationship Id="R9c2a9ebbf04b4941" Type="http://schemas.openxmlformats.org/officeDocument/2006/relationships/slide" Target="slides/slide42.xml"/><Relationship Id="R9e32d85e1f344859" Type="http://schemas.openxmlformats.org/officeDocument/2006/relationships/slide" Target="slides/slide100.xml"/><Relationship Id="R9ee00875117f462a" Type="http://schemas.openxmlformats.org/officeDocument/2006/relationships/slide" Target="slides/slide79.xml"/><Relationship Id="R9f437da5b7274bd5" Type="http://schemas.openxmlformats.org/officeDocument/2006/relationships/slide" Target="slides/slide19.xml"/><Relationship Id="Ra27901d901844e09" Type="http://schemas.openxmlformats.org/officeDocument/2006/relationships/slide" Target="slides/slide78.xml"/><Relationship Id="Ra440cbd3a60b4680" Type="http://schemas.openxmlformats.org/officeDocument/2006/relationships/slide" Target="slides/slide28.xml"/><Relationship Id="Ra64d158035d7496a" Type="http://schemas.openxmlformats.org/officeDocument/2006/relationships/viewProps" Target="viewProps.xml"/><Relationship Id="Ra6ad7f2518b54503" Type="http://schemas.openxmlformats.org/officeDocument/2006/relationships/slide" Target="slides/slide94.xml"/><Relationship Id="Raaf19b0a781642a2" Type="http://schemas.openxmlformats.org/officeDocument/2006/relationships/slide" Target="slides/slide3.xml"/><Relationship Id="Rb0ef21da66f4406b" Type="http://schemas.openxmlformats.org/officeDocument/2006/relationships/slide" Target="slides/slide103.xml"/><Relationship Id="Rb263a937c8de4438" Type="http://schemas.openxmlformats.org/officeDocument/2006/relationships/slide" Target="slides/slide75.xml"/><Relationship Id="Rbe33b9d23bf045a9" Type="http://schemas.openxmlformats.org/officeDocument/2006/relationships/slide" Target="slides/slide102.xml"/><Relationship Id="Rc013cf7b01f1452b" Type="http://schemas.openxmlformats.org/officeDocument/2006/relationships/slide" Target="slides/slide30.xml"/><Relationship Id="Rc24bd30c4d784d77" Type="http://schemas.openxmlformats.org/officeDocument/2006/relationships/slide" Target="slides/slide50.xml"/><Relationship Id="Rc7ffc0f7773c44ae" Type="http://schemas.openxmlformats.org/officeDocument/2006/relationships/slide" Target="slides/slide95.xml"/><Relationship Id="Rca2a54eee26a439e" Type="http://schemas.openxmlformats.org/officeDocument/2006/relationships/slide" Target="slides/slide23.xml"/><Relationship Id="Rca8e26ac99044959" Type="http://schemas.openxmlformats.org/officeDocument/2006/relationships/slide" Target="slides/slide72.xml"/><Relationship Id="Rcaea551b73124612" Type="http://schemas.openxmlformats.org/officeDocument/2006/relationships/slide" Target="slides/slide91.xml"/><Relationship Id="Rd00780f4603a4980" Type="http://schemas.openxmlformats.org/officeDocument/2006/relationships/slide" Target="slides/slide80.xml"/><Relationship Id="Rd11f874f393a4c10" Type="http://schemas.openxmlformats.org/officeDocument/2006/relationships/slide" Target="slides/slide48.xml"/><Relationship Id="Rd41067154c4049cb" Type="http://schemas.openxmlformats.org/officeDocument/2006/relationships/slide" Target="slides/slide15.xml"/><Relationship Id="Rd7f7e1c290034ace" Type="http://schemas.openxmlformats.org/officeDocument/2006/relationships/slide" Target="slides/slide36.xml"/><Relationship Id="Rda05ccf5ba6f4ed5" Type="http://schemas.openxmlformats.org/officeDocument/2006/relationships/slide" Target="slides/slide90.xml"/><Relationship Id="Rdaec3e185ce74afd" Type="http://schemas.openxmlformats.org/officeDocument/2006/relationships/slide" Target="slides/slide88.xml"/><Relationship Id="Rdc6301d40943497c" Type="http://schemas.openxmlformats.org/officeDocument/2006/relationships/slide" Target="slides/slide44.xml"/><Relationship Id="Rdfef26795ced4696" Type="http://schemas.openxmlformats.org/officeDocument/2006/relationships/slide" Target="slides/slide40.xml"/><Relationship Id="Re0a5fbbb7bf540e2" Type="http://schemas.openxmlformats.org/officeDocument/2006/relationships/slide" Target="slides/slide14.xml"/><Relationship Id="Re3d255d85e554380" Type="http://schemas.openxmlformats.org/officeDocument/2006/relationships/slide" Target="slides/slide29.xml"/><Relationship Id="Re58ee3e931524974" Type="http://schemas.openxmlformats.org/officeDocument/2006/relationships/slide" Target="slides/slide92.xml"/><Relationship Id="Re5cd75e0ab624ef7" Type="http://schemas.openxmlformats.org/officeDocument/2006/relationships/slide" Target="slides/slide47.xml"/><Relationship Id="Re7457b7a3ab5473a" Type="http://schemas.openxmlformats.org/officeDocument/2006/relationships/slide" Target="slides/slide54.xml"/><Relationship Id="Reee29d8c2b554c92" Type="http://schemas.openxmlformats.org/officeDocument/2006/relationships/slide" Target="slides/slide59.xml"/><Relationship Id="Ref17e730ba654d2e" Type="http://schemas.openxmlformats.org/officeDocument/2006/relationships/slide" Target="slides/slide4.xml"/><Relationship Id="Ref337187e537436d" Type="http://schemas.openxmlformats.org/officeDocument/2006/relationships/slide" Target="slides/slide20.xml"/><Relationship Id="Rf3ac09a7fa6848c3" Type="http://schemas.openxmlformats.org/officeDocument/2006/relationships/slide" Target="slides/slide97.xml"/><Relationship Id="Rf5bfc14f63f64422" Type="http://schemas.openxmlformats.org/officeDocument/2006/relationships/slide" Target="slides/slide73.xml"/><Relationship Id="Rfbd87a2673224891" Type="http://schemas.openxmlformats.org/officeDocument/2006/relationships/slide" Target="slides/slide43.xml"/><Relationship Id="Rff468b3307354002" Type="http://schemas.openxmlformats.org/officeDocument/2006/relationships/slide" Target="slides/slide37.xml"/><Relationship Id="Rffa12e0a392449b8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5a9c250d29e041f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3ec19afc72c4015" Type="http://schemas.openxmlformats.org/officeDocument/2006/relationships/notesMaster" Target="../notesMasters/notesMaster1.xml"/><Relationship Id="Rd6e85fb761df491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474ce1b43e744b6" Type="http://schemas.openxmlformats.org/officeDocument/2006/relationships/slide" Target="../slides/slide2.xml"/><Relationship Id="R38c5858bad6040e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dcbc00d0944ac0" Type="http://schemas.openxmlformats.org/officeDocument/2006/relationships/notesMaster" Target="../notesMasters/notesMaster1.xml"/><Relationship Id="Rdca99bd6a16d469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04eccb92524be6" Type="http://schemas.openxmlformats.org/officeDocument/2006/relationships/slide" Target="../slides/slide4.xml"/><Relationship Id="R688c5ca597d9407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139f337b6d64bd3" Type="http://schemas.openxmlformats.org/officeDocument/2006/relationships/slide" Target="../slides/slide5.xml"/><Relationship Id="Rd177375df4fb40c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9ea620d72a9469c" Type="http://schemas.openxmlformats.org/officeDocument/2006/relationships/slide" Target="../slides/slide6.xml"/><Relationship Id="R416a7ee6ad3740d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b5d8611857742aa" Type="http://schemas.openxmlformats.org/officeDocument/2006/relationships/slide" Target="../slides/slide7.xml"/><Relationship Id="Rc015210de77d4f94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9d1fc6d8d0e4bec" Type="http://schemas.openxmlformats.org/officeDocument/2006/relationships/slide" Target="../slides/slide8.xml"/><Relationship Id="Rf8835721c492440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52b603eba344335" Type="http://schemas.openxmlformats.org/officeDocument/2006/relationships/notesMaster" Target="../notesMasters/notesMaster1.xml"/><Relationship Id="Rd3f1761e88b4445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a7f10722e684f34" Type="http://schemas.openxmlformats.org/officeDocument/2006/relationships/slide" Target="../slides/slide10.xml"/><Relationship Id="Re6db486c6b8b495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b0df046f8fa4562" Type="http://schemas.openxmlformats.org/officeDocument/2006/relationships/slide" Target="../slides/slide11.xml"/><Relationship Id="Rccdfb38b66954fc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4b34ba37b074349" Type="http://schemas.openxmlformats.org/officeDocument/2006/relationships/slide" Target="../slides/slide12.xml"/><Relationship Id="R3da23ace5f4c46a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eff56e37aff04309" Type="http://schemas.openxmlformats.org/officeDocument/2006/relationships/slide" Target="../slides/slide13.xml"/><Relationship Id="Rfbcbd135031f4d3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90e43ffe2ea74e5e" Type="http://schemas.openxmlformats.org/officeDocument/2006/relationships/notesMaster" Target="../notesMasters/notesMaster1.xml"/><Relationship Id="Ra379ebdb5942423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b143ad119904b45" Type="http://schemas.openxmlformats.org/officeDocument/2006/relationships/notesMaster" Target="../notesMasters/notesMaster1.xml"/><Relationship Id="Rbe6c32d225e647ff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d0bf10c11a4749b3" Type="http://schemas.openxmlformats.org/officeDocument/2006/relationships/notesMaster" Target="../notesMasters/notesMaster1.xml"/><Relationship Id="Re745df4c2e5c439f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3560b3630e724281" Type="http://schemas.openxmlformats.org/officeDocument/2006/relationships/slide" Target="../slides/slide17.xml"/><Relationship Id="Rea5c7abf3d5740df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4fa7d552aa848bd" Type="http://schemas.openxmlformats.org/officeDocument/2006/relationships/slide" Target="../slides/slide18.xml"/><Relationship Id="Raadd856e29b74914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6477448f78d84837" Type="http://schemas.openxmlformats.org/officeDocument/2006/relationships/slide" Target="../slides/slide19.xml"/><Relationship Id="R975d655a30144158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410001a0e5e74029" Type="http://schemas.openxmlformats.org/officeDocument/2006/relationships/slide" Target="../slides/slide20.xml"/><Relationship Id="R50b470eb9fa04ddd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5dbff7c44808475b" Type="http://schemas.openxmlformats.org/officeDocument/2006/relationships/slide" Target="../slides/slide21.xml"/><Relationship Id="R8d8bdd0eaca2407c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d89640a5ba584aca" Type="http://schemas.openxmlformats.org/officeDocument/2006/relationships/slide" Target="../slides/slide22.xml"/><Relationship Id="Rf0fae101a67f4278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30366f810a4a46e7" Type="http://schemas.openxmlformats.org/officeDocument/2006/relationships/slide" Target="../slides/slide23.xml"/><Relationship Id="R88b326cd76a941b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0a6267df338c4bc0" Type="http://schemas.openxmlformats.org/officeDocument/2006/relationships/notesMaster" Target="../notesMasters/notesMaster1.xml"/><Relationship Id="Rfd22f68ec4f94ac8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a5b16e95a530499b" Type="http://schemas.openxmlformats.org/officeDocument/2006/relationships/slide" Target="../slides/slide25.xml"/><Relationship Id="Rb0bae94728e24c3e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1f1c7c912ea84d92" Type="http://schemas.openxmlformats.org/officeDocument/2006/relationships/slide" Target="../slides/slide26.xml"/><Relationship Id="Re037867dc90046c0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4686f53366ec4021" Type="http://schemas.openxmlformats.org/officeDocument/2006/relationships/slide" Target="../slides/slide27.xml"/><Relationship Id="Rabfaddf2cfe54515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0085a93339074a6b" Type="http://schemas.openxmlformats.org/officeDocument/2006/relationships/slide" Target="../slides/slide28.xml"/><Relationship Id="R39364cab1fbe4bae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137eb08593504962" Type="http://schemas.openxmlformats.org/officeDocument/2006/relationships/slide" Target="../slides/slide29.xml"/><Relationship Id="R207aa67bc29341ed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d5ce0c0e13c04f98" Type="http://schemas.openxmlformats.org/officeDocument/2006/relationships/slide" Target="../slides/slide30.xml"/><Relationship Id="Rdf1d451f6098413e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1b3181b180864407" Type="http://schemas.openxmlformats.org/officeDocument/2006/relationships/notesMaster" Target="../notesMasters/notesMaster1.xml"/><Relationship Id="R8df35ef9fd1f48a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89f16b7b0e14d38" Type="http://schemas.openxmlformats.org/officeDocument/2006/relationships/slide" Target="../slides/slide32.xml"/><Relationship Id="Re618abd891a44ee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0e135fc8b17c40b5" Type="http://schemas.openxmlformats.org/officeDocument/2006/relationships/notesMaster" Target="../notesMasters/notesMaster1.xml"/><Relationship Id="Red8c4223ab234954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013a125e7d494ba7" Type="http://schemas.openxmlformats.org/officeDocument/2006/relationships/slide" Target="../slides/slide34.xml"/><Relationship Id="R49ee433ed9c649e8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2b91ee9bced04209" Type="http://schemas.openxmlformats.org/officeDocument/2006/relationships/notesMaster" Target="../notesMasters/notesMaster1.xml"/><Relationship Id="Rea0b1d1f76184b59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5a0d5ff486f84544" Type="http://schemas.openxmlformats.org/officeDocument/2006/relationships/slide" Target="../slides/slide36.xml"/><Relationship Id="Rbfc6aac5655e4bed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66ce357e8988468b" Type="http://schemas.openxmlformats.org/officeDocument/2006/relationships/slide" Target="../slides/slide37.xml"/><Relationship Id="Rb93561c6273a4975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b565424d0ca44202" Type="http://schemas.openxmlformats.org/officeDocument/2006/relationships/slide" Target="../slides/slide38.xml"/><Relationship Id="Rd6f4d600741e42a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149af0e8beb8414f" Type="http://schemas.openxmlformats.org/officeDocument/2006/relationships/slide" Target="../slides/slide39.xml"/><Relationship Id="Rcd41f2cd9aed48b6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31929fb98c124681" Type="http://schemas.openxmlformats.org/officeDocument/2006/relationships/notesMaster" Target="../notesMasters/notesMaster1.xml"/><Relationship Id="R8b012a9ca9554ad7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13729074ccb64d0f" Type="http://schemas.openxmlformats.org/officeDocument/2006/relationships/slide" Target="../slides/slide41.xml"/><Relationship Id="R98e98ba0e25c4506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15aa2f3308e64128" Type="http://schemas.openxmlformats.org/officeDocument/2006/relationships/slide" Target="../slides/slide42.xml"/><Relationship Id="R55380df91909442e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809ea440063649ba" Type="http://schemas.openxmlformats.org/officeDocument/2006/relationships/slide" Target="../slides/slide43.xml"/><Relationship Id="R9e6b0c8ced9a48bc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79998fc2e44244c8" Type="http://schemas.openxmlformats.org/officeDocument/2006/relationships/slide" Target="../slides/slide44.xml"/><Relationship Id="Rcbb459758bb94806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86da04a8a3be411a" Type="http://schemas.openxmlformats.org/officeDocument/2006/relationships/slide" Target="../slides/slide45.xml"/><Relationship Id="Rca49bb8ccf724007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72586174113844ee" Type="http://schemas.openxmlformats.org/officeDocument/2006/relationships/slide" Target="../slides/slide46.xml"/><Relationship Id="Rf64732657c804db8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ae8755d70a0c469d" Type="http://schemas.openxmlformats.org/officeDocument/2006/relationships/notesMaster" Target="../notesMasters/notesMaster1.xml"/><Relationship Id="Rfe440c31892d410b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66cfa6852d1248d7" Type="http://schemas.openxmlformats.org/officeDocument/2006/relationships/notesMaster" Target="../notesMasters/notesMaster1.xml"/><Relationship Id="Rb09308ad730a4b80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84870dfce980431e" Type="http://schemas.openxmlformats.org/officeDocument/2006/relationships/notesMaster" Target="../notesMasters/notesMaster1.xml"/><Relationship Id="R9e18490164c64f8f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7dbeb7b07c3c4337" Type="http://schemas.openxmlformats.org/officeDocument/2006/relationships/notesMaster" Target="../notesMasters/notesMaster1.xml"/><Relationship Id="R9ec4aa13a9004d45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3433973af6bb4594" Type="http://schemas.openxmlformats.org/officeDocument/2006/relationships/slide" Target="../slides/slide51.xml"/><Relationship Id="Rdb371658ccb1439a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69212b16be2c45cc" Type="http://schemas.openxmlformats.org/officeDocument/2006/relationships/slide" Target="../slides/slide52.xml"/><Relationship Id="Ra3bf46d703564987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1be95fc12ce44b1b" Type="http://schemas.openxmlformats.org/officeDocument/2006/relationships/slide" Target="../slides/slide53.xml"/><Relationship Id="R423e1825f97643a8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2656f59abed14cfc" Type="http://schemas.openxmlformats.org/officeDocument/2006/relationships/slide" Target="../slides/slide54.xml"/><Relationship Id="R4f66feb18d344c3c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7eb4a3798ed24dd8" Type="http://schemas.openxmlformats.org/officeDocument/2006/relationships/notesMaster" Target="../notesMasters/notesMaster1.xml"/><Relationship Id="Rb2cc8b7342984e11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588d1ed942ff4cbf" Type="http://schemas.openxmlformats.org/officeDocument/2006/relationships/slide" Target="../slides/slide56.xml"/><Relationship Id="Rb4a8256afae24834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367ce74fcc9646b8" Type="http://schemas.openxmlformats.org/officeDocument/2006/relationships/notesMaster" Target="../notesMasters/notesMaster1.xml"/><Relationship Id="R4ee4467eeada44a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4fe0a558119e41c8" Type="http://schemas.openxmlformats.org/officeDocument/2006/relationships/slide" Target="../slides/slide58.xml"/><Relationship Id="Rf9aa0c401e004b39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45d265e3618c4298" Type="http://schemas.openxmlformats.org/officeDocument/2006/relationships/slide" Target="../slides/slide59.xml"/><Relationship Id="Rb4d80e8754af4e0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becb69ac177249a9" Type="http://schemas.openxmlformats.org/officeDocument/2006/relationships/slide" Target="../slides/slide60.xml"/><Relationship Id="Rfca4fb5bb8834de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ad64421d06004554" Type="http://schemas.openxmlformats.org/officeDocument/2006/relationships/slide" Target="../slides/slide61.xml"/><Relationship Id="Rf9d675168cd149ef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0a703f55768e43d7" Type="http://schemas.openxmlformats.org/officeDocument/2006/relationships/notesMaster" Target="../notesMasters/notesMaster1.xml"/><Relationship Id="Rab96d06ad3024326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4bec951055f64695" Type="http://schemas.openxmlformats.org/officeDocument/2006/relationships/notesMaster" Target="../notesMasters/notesMaster1.xml"/><Relationship Id="R86390215a8f845bb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2726e8344dd640d9" Type="http://schemas.openxmlformats.org/officeDocument/2006/relationships/notesMaster" Target="../notesMasters/notesMaster1.xml"/><Relationship Id="R41b40bab0cb9422d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04bef38bb4304255" Type="http://schemas.openxmlformats.org/officeDocument/2006/relationships/notesMaster" Target="../notesMasters/notesMaster1.xml"/><Relationship Id="R2a7a394dcca945ea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1990432565a84fb3" Type="http://schemas.openxmlformats.org/officeDocument/2006/relationships/slide" Target="../slides/slide66.xml"/><Relationship Id="Rb3ed9a0ae39848b8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5bc7f2ecc54e4ff7" Type="http://schemas.openxmlformats.org/officeDocument/2006/relationships/slide" Target="../slides/slide67.xml"/><Relationship Id="Ra7a578c1144a4c69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05414af8ec6047b3" Type="http://schemas.openxmlformats.org/officeDocument/2006/relationships/slide" Target="../slides/slide68.xml"/><Relationship Id="Rbac89bedd5264784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26b3ff04566441bb" Type="http://schemas.openxmlformats.org/officeDocument/2006/relationships/notesMaster" Target="../notesMasters/notesMaster1.xml"/><Relationship Id="R496dbf17c4e44641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58a38285223e46f8" Type="http://schemas.openxmlformats.org/officeDocument/2006/relationships/slide" Target="../slides/slide70.xml"/><Relationship Id="R5e28e0de80244000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005664f51f224018" Type="http://schemas.openxmlformats.org/officeDocument/2006/relationships/slide" Target="../slides/slide71.xml"/><Relationship Id="R923c723d03714b3c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267043f912fa43b7" Type="http://schemas.openxmlformats.org/officeDocument/2006/relationships/slide" Target="../slides/slide72.xml"/><Relationship Id="R40d9fe8455bf491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40135c7c4a9a41b1" Type="http://schemas.openxmlformats.org/officeDocument/2006/relationships/notesMaster" Target="../notesMasters/notesMaster1.xml"/><Relationship Id="R953472d418554244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1360d15f18824b65" Type="http://schemas.openxmlformats.org/officeDocument/2006/relationships/slide" Target="../slides/slide74.xml"/><Relationship Id="R1cafa20a0ce541fe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068de89a15d34667" Type="http://schemas.openxmlformats.org/officeDocument/2006/relationships/notesMaster" Target="../notesMasters/notesMaster1.xml"/><Relationship Id="Rf8364bcac8654f26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3eca879c5989418d" Type="http://schemas.openxmlformats.org/officeDocument/2006/relationships/slide" Target="../slides/slide76.xml"/><Relationship Id="R6aba6572b7fc43a3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7af83ae78db045bd" Type="http://schemas.openxmlformats.org/officeDocument/2006/relationships/notesMaster" Target="../notesMasters/notesMaster1.xml"/><Relationship Id="Rf8d6afa80050444f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76843d587088442f" Type="http://schemas.openxmlformats.org/officeDocument/2006/relationships/notesMaster" Target="../notesMasters/notesMaster1.xml"/><Relationship Id="Rb05a5b62546e443c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20270e827ee6466f" Type="http://schemas.openxmlformats.org/officeDocument/2006/relationships/notesMaster" Target="../notesMasters/notesMaster1.xml"/><Relationship Id="R50c75bf20b184a2c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6c12426cfa42446d" Type="http://schemas.openxmlformats.org/officeDocument/2006/relationships/notesMaster" Target="../notesMasters/notesMaster1.xml"/><Relationship Id="R9f78d25e3a9e4cec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6ba6eaa7b58c474a" Type="http://schemas.openxmlformats.org/officeDocument/2006/relationships/slide" Target="../slides/slide81.xml"/><Relationship Id="R84c22f9ccd1d4566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485ff126a4c2451d" Type="http://schemas.openxmlformats.org/officeDocument/2006/relationships/slide" Target="../slides/slide82.xml"/><Relationship Id="R7966e70808d1406c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6a36194c0c13427a" Type="http://schemas.openxmlformats.org/officeDocument/2006/relationships/notesMaster" Target="../notesMasters/notesMaster1.xml"/><Relationship Id="R90565fb0f07146ba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81c1bde1d78d423c" Type="http://schemas.openxmlformats.org/officeDocument/2006/relationships/notesMaster" Target="../notesMasters/notesMaster1.xml"/><Relationship Id="Rbb401d63f72f453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26ff8c3ef31848cf" Type="http://schemas.openxmlformats.org/officeDocument/2006/relationships/slide" Target="../slides/slide85.xml"/><Relationship Id="R8820f8b1907a45bf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12f07610fe154ced" Type="http://schemas.openxmlformats.org/officeDocument/2006/relationships/slide" Target="../slides/slide86.xml"/><Relationship Id="R3d1f1c03e2694620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7820911af0204725" Type="http://schemas.openxmlformats.org/officeDocument/2006/relationships/slide" Target="../slides/slide87.xml"/><Relationship Id="R7c9078bf24324b26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1587d9e4eb594fbf" Type="http://schemas.openxmlformats.org/officeDocument/2006/relationships/notesMaster" Target="../notesMasters/notesMaster1.xml"/><Relationship Id="R3bca0cddb58c45b9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b804861348d94d6d" Type="http://schemas.openxmlformats.org/officeDocument/2006/relationships/notesMaster" Target="../notesMasters/notesMaster1.xml"/><Relationship Id="Rfcb084169ad4420a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8ec91fcf58e74252" Type="http://schemas.openxmlformats.org/officeDocument/2006/relationships/notesMaster" Target="../notesMasters/notesMaster1.xml"/><Relationship Id="Rf3607bc4a5cd4e1c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1bccfab47c8d48df" Type="http://schemas.openxmlformats.org/officeDocument/2006/relationships/slide" Target="../slides/slide91.xml"/><Relationship Id="R4e8e8a92643844f6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81d5d0ef2b5c4896" Type="http://schemas.openxmlformats.org/officeDocument/2006/relationships/slide" Target="../slides/slide92.xml"/><Relationship Id="Rcad214f8e13f46ad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9e7e1216e0e549f3" Type="http://schemas.openxmlformats.org/officeDocument/2006/relationships/slide" Target="../slides/slide93.xml"/><Relationship Id="Rceceed8b0cab4b5f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464d3003258c4022" Type="http://schemas.openxmlformats.org/officeDocument/2006/relationships/notesMaster" Target="../notesMasters/notesMaster1.xml"/><Relationship Id="Rb4d91a99098b482f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8ebe57488add47be" Type="http://schemas.openxmlformats.org/officeDocument/2006/relationships/slide" Target="../slides/slide95.xml"/><Relationship Id="Re0b32014b3c24b9e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3eb22128b5a64824" Type="http://schemas.openxmlformats.org/officeDocument/2006/relationships/notesMaster" Target="../notesMasters/notesMaster1.xml"/><Relationship Id="Rb3b3f65351b148ec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1ec9065ed48e4124" Type="http://schemas.openxmlformats.org/officeDocument/2006/relationships/slide" Target="../slides/slide97.xml"/><Relationship Id="R563d837fcb7b44f7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1aba7678b8a748f6" Type="http://schemas.openxmlformats.org/officeDocument/2006/relationships/notesMaster" Target="../notesMasters/notesMaster1.xml"/><Relationship Id="Ra392054ba3774eb7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38f48a50f39745d7" Type="http://schemas.openxmlformats.org/officeDocument/2006/relationships/notesMaster" Target="../notesMasters/notesMaster1.xml"/><Relationship Id="R53e4b0ec4b354435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35c236ba80b6421b" Type="http://schemas.openxmlformats.org/officeDocument/2006/relationships/notesMaster" Target="../notesMasters/notesMaster1.xml"/><Relationship Id="Rdf0b8d0179764d86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0667380b2b584877" Type="http://schemas.openxmlformats.org/officeDocument/2006/relationships/notesMaster" Target="../notesMasters/notesMaster1.xml"/><Relationship Id="Rc038a898f877495e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5e73f5772ade434b" Type="http://schemas.openxmlformats.org/officeDocument/2006/relationships/slide" Target="../slides/slide102.xml"/><Relationship Id="Rd8344239c0e54ffc" Type="http://schemas.openxmlformats.org/officeDocument/2006/relationships/notesMaster" Target="../notesMasters/notesMaster1.xml"/></Relationships>
</file>

<file path=ppt/notesSlides/_rels/notesSlide103.xml.rels><?xml version='1.0' encoding='UTF-8' standalone='yes'?>
<Relationships xmlns="http://schemas.openxmlformats.org/package/2006/relationships"><Relationship Id="R77b85364ce794bab" Type="http://schemas.openxmlformats.org/officeDocument/2006/relationships/notesMaster" Target="../notesMasters/notesMaster1.xml"/><Relationship Id="R91bcaccef7e64a5f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31bdfa3680c240eb" Type="http://schemas.openxmlformats.org/officeDocument/2006/relationships/slide" Target="../slides/slide104.xml"/><Relationship Id="Re3d7770161a44466" Type="http://schemas.openxmlformats.org/officeDocument/2006/relationships/notesMaster" Target="../notesMasters/notesMaster1.xml"/></Relationships>
</file>

<file path=ppt/notesSlides/_rels/notesSlide105.xml.rels><?xml version='1.0' encoding='UTF-8' standalone='yes'?>
<Relationships xmlns="http://schemas.openxmlformats.org/package/2006/relationships"><Relationship Id="R14839e307d2e4ced" Type="http://schemas.openxmlformats.org/officeDocument/2006/relationships/slide" Target="../slides/slide105.xml"/><Relationship Id="Rec8deb1d139e47fc" Type="http://schemas.openxmlformats.org/officeDocument/2006/relationships/notesMaster" Target="../notesMasters/notesMaster1.xml"/></Relationships>
</file>

<file path=ppt/notesSlides/_rels/notesSlide106.xml.rels><?xml version='1.0' encoding='UTF-8' standalone='yes'?>
<Relationships xmlns="http://schemas.openxmlformats.org/package/2006/relationships"><Relationship Id="R406d7a1174d1455b" Type="http://schemas.openxmlformats.org/officeDocument/2006/relationships/notesMaster" Target="../notesMasters/notesMaster1.xml"/><Relationship Id="Rce843636bcc048c9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5454fadd64324d07" Type="http://schemas.openxmlformats.org/officeDocument/2006/relationships/slide" Target="../slides/slide107.xml"/><Relationship Id="Ra37b2ca899864ad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Cover visual generated for this course deck. The lecture content follows the official syllabus.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UCI Machine Learning Repository: https://archive.ics.uci.edu/dataset/350/default+of+credit+card+clients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Descriptive-statistics theory slide. The definitions and library functions are based on standard pandas and NumPy APIs. The following slides run the functions on the included Apple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 This slide replaces the less interpretable price-volume scatter example with an annual grouped-return comparison. The grouped averages are descriptive and are not a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plotly/datasets finance-charts-apple.csv, included in the course package. Daily simple returns are computed from consecutive closing prices; volume is shown in million shares. The scatter plot is descriptive and does not establish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Source: plotly/datasets finance-charts-apple.csv | 506 rows | one daily Apple observation | https://github.com/plotly/datasets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Official download: https://archive.ics.uci.edu/static/public/350/default+of+credit+card+clients.zip | Accessed for this package: 2026-10-03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Interpretation follows the official UCI variable documentation. Check coding values and possible out-of-range codes during Week 2 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Source definition: UCI Default of Credit Card Clients, Additional Variable Information. Do not silently relabel coded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r>
              <a:t>Units and month definitions: UCI official documentation | Amounts are not percentages | Target must not be used as an input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NKUA Machine Learning in Finance syllabus, academic year 2026–2027.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executed Lecture 0–1 Colab, additional worked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finance-charts-apple.csv; output calculated from the included public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finance-charts-apple.csv; the output is generated from the included public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Default of Credit Card Clients, dataset 350; included CSV and data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Default of Credit Card Clients, dataset 350; included CSV and data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UCI Default of Credit Card Clients, dataset 350; included CSV and data dictionary.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fb7ffab825340c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bb4bb612c7648e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734902fe95ff46f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0494752c291430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e27ea2af1204309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6ac5c0c1abbf40f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A5A81A-52D5-4658-8098-51543E5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750176-0678-47EF-A2CA-E69F3D350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F60764-BD00-43B9-8D7E-18192B905B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BF981E-1399-4376-90AE-9CF24761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9421AA-6510-4007-AAB6-E61438634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B339582-E7E0-4671-A8E5-386F221C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404247-7B59-4BE0-988D-DCE6B1B6C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746A03-0347-411D-B551-A8D0622E0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9F444D3-E3D8-4E6D-8305-40A50ED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EB4667-582A-4943-85C5-603D4A5BC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CB7DB8-07FF-4932-8EB7-B4BB1186D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435E12-196B-4C3D-A91B-FD5681D499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2CECD7-6001-4255-BD07-9C2C835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C68004-818A-4C5D-B747-944B72ED1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13370D-9DB0-486F-A8F7-8DD8622A8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6efe7d9d26444aa" Type="http://schemas.openxmlformats.org/officeDocument/2006/relationships/slideLayout" Target="../slideLayouts/slideLayout6.xml"/><Relationship Id="R4e9a7f6364034eb2" Type="http://schemas.openxmlformats.org/officeDocument/2006/relationships/slideLayout" Target="../slideLayouts/slideLayout3.xml"/><Relationship Id="R90e33a2fb8b540cd" Type="http://schemas.openxmlformats.org/officeDocument/2006/relationships/theme" Target="theme/theme2.xml"/><Relationship Id="Rc4b7089cbd6a493f" Type="http://schemas.openxmlformats.org/officeDocument/2006/relationships/slideLayout" Target="../slideLayouts/slideLayout5.xml"/><Relationship Id="Rd772602de0424082" Type="http://schemas.openxmlformats.org/officeDocument/2006/relationships/slideLayout" Target="../slideLayouts/slideLayout4.xml"/><Relationship Id="Reb72ef6c179e4437" Type="http://schemas.openxmlformats.org/officeDocument/2006/relationships/slideLayout" Target="../slideLayouts/slideLayout1.xml"/><Relationship Id="Rfedbfbc35e404b45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72ef6c179e4437"/>
    <p:sldLayoutId xmlns:r="http://schemas.openxmlformats.org/officeDocument/2006/relationships" id="2147483650" r:id="Rfedbfbc35e404b45"/>
    <p:sldLayoutId xmlns:r="http://schemas.openxmlformats.org/officeDocument/2006/relationships" id="2147483651" r:id="R4e9a7f6364034eb2"/>
    <p:sldLayoutId xmlns:r="http://schemas.openxmlformats.org/officeDocument/2006/relationships" id="2147483652" r:id="Rd772602de0424082"/>
    <p:sldLayoutId xmlns:r="http://schemas.openxmlformats.org/officeDocument/2006/relationships" id="2147483653" r:id="Rc4b7089cbd6a493f"/>
    <p:sldLayoutId xmlns:r="http://schemas.openxmlformats.org/officeDocument/2006/relationships" id="2147483654" r:id="R26efe7d9d264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e98e17e57544487" Type="http://schemas.openxmlformats.org/officeDocument/2006/relationships/notesSlide" Target="../notesSlides/notesSlide1.xml"/><Relationship Id="Ra3376139533c42aa" Type="http://schemas.openxmlformats.org/officeDocument/2006/relationships/slideLayout" Target="../slideLayouts/slideLayout6.xml"/><Relationship Id="Rdea7b4315c4b4011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98714a334da04c6c" Type="http://schemas.openxmlformats.org/officeDocument/2006/relationships/notesSlide" Target="../notesSlides/notesSlide2.xml"/><Relationship Id="Re4415824a474400f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3bde6829bfcf42d7" Type="http://schemas.openxmlformats.org/officeDocument/2006/relationships/slideLayout" Target="../slideLayouts/slideLayout6.xml"/><Relationship Id="R8a9374885970448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0a4db166c0e4c30" Type="http://schemas.openxmlformats.org/officeDocument/2006/relationships/notesSlide" Target="../notesSlides/notesSlide4.xml"/><Relationship Id="Rfac48a7869aa4f2e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496287d26bab4360" Type="http://schemas.openxmlformats.org/officeDocument/2006/relationships/slideLayout" Target="../slideLayouts/slideLayout6.xml"/><Relationship Id="Rac18e51f8b0c4e6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7d36720936341a1" Type="http://schemas.openxmlformats.org/officeDocument/2006/relationships/notesSlide" Target="../notesSlides/notesSlide6.xml"/><Relationship Id="Rfba8dc89f6fa4022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8cc18a530f504629" Type="http://schemas.openxmlformats.org/officeDocument/2006/relationships/slideLayout" Target="../slideLayouts/slideLayout6.xml"/><Relationship Id="Rdc90a6b4d05f4bb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b86b69933bb4149" Type="http://schemas.openxmlformats.org/officeDocument/2006/relationships/notesSlide" Target="../notesSlides/notesSlide8.xml"/><Relationship Id="R890269a1055642f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1345d6b62fae4088" Type="http://schemas.openxmlformats.org/officeDocument/2006/relationships/notesSlide" Target="../notesSlides/notesSlide9.xml"/><Relationship Id="Rc63b8bcad0684fb0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ad180c6c9bfc43e5" Type="http://schemas.openxmlformats.org/officeDocument/2006/relationships/notesSlide" Target="../notesSlides/notesSlide10.xml"/><Relationship Id="Re9a37b69e7504463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bbaa8b7db47448d3" Type="http://schemas.openxmlformats.org/officeDocument/2006/relationships/notesSlide" Target="../notesSlides/notesSlide11.xml"/><Relationship Id="Rd210a62e5db34e44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3f8b1640c54446ac" Type="http://schemas.openxmlformats.org/officeDocument/2006/relationships/notesSlide" Target="../notesSlides/notesSlide12.xml"/><Relationship Id="Refd4f8e6343048ab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86af9bff18ae497e" Type="http://schemas.openxmlformats.org/officeDocument/2006/relationships/notesSlide" Target="../notesSlides/notesSlide13.xml"/><Relationship Id="Rae5057e4d5ec48bb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9ded868ebdc34783" Type="http://schemas.openxmlformats.org/officeDocument/2006/relationships/slideLayout" Target="../slideLayouts/slideLayout6.xml"/><Relationship Id="Rc00ca0271ff6494c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33918a65d2e46a8" Type="http://schemas.openxmlformats.org/officeDocument/2006/relationships/slideLayout" Target="../slideLayouts/slideLayout6.xml"/><Relationship Id="Rc25629a4a21a443a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b89a2fc74c143d3" Type="http://schemas.openxmlformats.org/officeDocument/2006/relationships/notesSlide" Target="../notesSlides/notesSlide16.xml"/><Relationship Id="Rfd8b85651ecc455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332bc7b3ec994e8d" Type="http://schemas.openxmlformats.org/officeDocument/2006/relationships/slideLayout" Target="../slideLayouts/slideLayout6.xml"/><Relationship Id="R4d6497362515426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8ae88271ed448ba" Type="http://schemas.openxmlformats.org/officeDocument/2006/relationships/slideLayout" Target="../slideLayouts/slideLayout6.xml"/><Relationship Id="Re401543ce832417a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989f6fc17f86409f" Type="http://schemas.openxmlformats.org/officeDocument/2006/relationships/slideLayout" Target="../slideLayouts/slideLayout6.xml"/><Relationship Id="Rbec8525724bc401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61bdcae6e9714241" Type="http://schemas.openxmlformats.org/officeDocument/2006/relationships/slideLayout" Target="../slideLayouts/slideLayout6.xml"/><Relationship Id="Ra398770f3bbc42f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bb1f03b3b5574024" Type="http://schemas.openxmlformats.org/officeDocument/2006/relationships/slideLayout" Target="../slideLayouts/slideLayout6.xml"/><Relationship Id="Refbe9f911f2a4db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9b56bfd995fc443c" Type="http://schemas.openxmlformats.org/officeDocument/2006/relationships/slideLayout" Target="../slideLayouts/slideLayout6.xml"/><Relationship Id="Rc99ab681fb00412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115fd930c5d34ba1" Type="http://schemas.openxmlformats.org/officeDocument/2006/relationships/notesSlide" Target="../notesSlides/notesSlide23.xml"/><Relationship Id="Rd95fc450be3240d7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4b0d8a46b36e46ee" Type="http://schemas.openxmlformats.org/officeDocument/2006/relationships/notesSlide" Target="../notesSlides/notesSlide24.xml"/><Relationship Id="R58a6ed6230774ecf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ab520f6ada704bab" Type="http://schemas.openxmlformats.org/officeDocument/2006/relationships/notesSlide" Target="../notesSlides/notesSlide25.xml"/><Relationship Id="Rc41ee4bef6db4bb7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0f06d89319314633" Type="http://schemas.openxmlformats.org/officeDocument/2006/relationships/notesSlide" Target="../notesSlides/notesSlide26.xml"/><Relationship Id="Rc86671eb8f3c4f9c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32fd5b3a97ae49e6" Type="http://schemas.openxmlformats.org/officeDocument/2006/relationships/notesSlide" Target="../notesSlides/notesSlide27.xml"/><Relationship Id="Rad8aec24632b42dd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3d104bf784524105" Type="http://schemas.openxmlformats.org/officeDocument/2006/relationships/notesSlide" Target="../notesSlides/notesSlide28.xml"/><Relationship Id="R4ae1606d062a450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0ed18607d8e8490e" Type="http://schemas.openxmlformats.org/officeDocument/2006/relationships/slideLayout" Target="../slideLayouts/slideLayout6.xml"/><Relationship Id="R6333c67ab3aa430c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42dd61d0344a457e" Type="http://schemas.openxmlformats.org/officeDocument/2006/relationships/slideLayout" Target="../slideLayouts/slideLayout6.xml"/><Relationship Id="R62eeaced13d04dfb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818eb9d5e824c3f" Type="http://schemas.openxmlformats.org/officeDocument/2006/relationships/slideLayout" Target="../slideLayouts/slideLayout6.xml"/><Relationship Id="R7a3f0f9400da4649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ac15036ef1fa4197" Type="http://schemas.openxmlformats.org/officeDocument/2006/relationships/notesSlide" Target="../notesSlides/notesSlide32.xml"/><Relationship Id="Rbaf9a05ba0a64905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36ff4ea546c14e4d" Type="http://schemas.openxmlformats.org/officeDocument/2006/relationships/slideLayout" Target="../slideLayouts/slideLayout6.xml"/><Relationship Id="R889fce8cb8894e4a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889837ab97c9472b" Type="http://schemas.openxmlformats.org/officeDocument/2006/relationships/slideLayout" Target="../slideLayouts/slideLayout6.xml"/><Relationship Id="R8e415300050d4c1d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6a45f02e07c0433a" Type="http://schemas.openxmlformats.org/officeDocument/2006/relationships/notesSlide" Target="../notesSlides/notesSlide35.xml"/><Relationship Id="Rdfa68d86afc64977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bf9e613860fa43b9" Type="http://schemas.openxmlformats.org/officeDocument/2006/relationships/slideLayout" Target="../slideLayouts/slideLayout6.xml"/><Relationship Id="Rdb889aa6610c4c30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a85f3f24e83b4dad" Type="http://schemas.openxmlformats.org/officeDocument/2006/relationships/notesSlide" Target="../notesSlides/notesSlide37.xml"/><Relationship Id="Rdcde4de68ef74ef6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76f595ba62914a34" Type="http://schemas.openxmlformats.org/officeDocument/2006/relationships/slideLayout" Target="../slideLayouts/slideLayout6.xml"/><Relationship Id="Ra28413dc59984de1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6e3ec3e4b6cb4ff4" Type="http://schemas.openxmlformats.org/officeDocument/2006/relationships/notesSlide" Target="../notesSlides/notesSlide39.xml"/><Relationship Id="Ra8fbb23af2054446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0211651a6cba453c" Type="http://schemas.openxmlformats.org/officeDocument/2006/relationships/slideLayout" Target="../slideLayouts/slideLayout6.xml"/><Relationship Id="R255c3d80f85b448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292477a78568444f" Type="http://schemas.openxmlformats.org/officeDocument/2006/relationships/slideLayout" Target="../slideLayouts/slideLayout6.xml"/><Relationship Id="R85a8b9ad1884491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d3b4facc4d494099" Type="http://schemas.openxmlformats.org/officeDocument/2006/relationships/notesSlide" Target="../notesSlides/notesSlide42.xml"/><Relationship Id="Rf130eb6b657442ab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42edf333bf0a4920" Type="http://schemas.openxmlformats.org/officeDocument/2006/relationships/slideLayout" Target="../slideLayouts/slideLayout6.xml"/><Relationship Id="Rb0f00f8aea4b43a5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53f7815822c5480e" Type="http://schemas.openxmlformats.org/officeDocument/2006/relationships/notesSlide" Target="../notesSlides/notesSlide44.xml"/><Relationship Id="Rfce466e43e234bae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8d4704d511f94fa8" Type="http://schemas.openxmlformats.org/officeDocument/2006/relationships/notesSlide" Target="../notesSlides/notesSlide45.xml"/><Relationship Id="Rcd9480bd256b4a8f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1c0bdf45ad99466c" Type="http://schemas.openxmlformats.org/officeDocument/2006/relationships/slideLayout" Target="../slideLayouts/slideLayout6.xml"/><Relationship Id="Rdf271534e85b4928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21fadcdbbcdc4027" Type="http://schemas.openxmlformats.org/officeDocument/2006/relationships/slideLayout" Target="../slideLayouts/slideLayout6.xml"/><Relationship Id="R82a44f00fdbc4887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177402475ac74c53" Type="http://schemas.openxmlformats.org/officeDocument/2006/relationships/slideLayout" Target="../slideLayouts/slideLayout6.xml"/><Relationship Id="R39d08a5e015f4b98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98b4a22cd4584654" Type="http://schemas.openxmlformats.org/officeDocument/2006/relationships/slideLayout" Target="../slideLayouts/slideLayout6.xml"/><Relationship Id="R98d0b7f45194464f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c40cad8e8d744d1e" Type="http://schemas.openxmlformats.org/officeDocument/2006/relationships/slideLayout" Target="../slideLayouts/slideLayout6.xml"/><Relationship Id="Rfe171ee5cf934e8b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aab957b43f8b4dc0" Type="http://schemas.openxmlformats.org/officeDocument/2006/relationships/slideLayout" Target="../slideLayouts/slideLayout6.xml"/><Relationship Id="Rc35d80a308ce4231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5f57c89e36d34a74" Type="http://schemas.openxmlformats.org/officeDocument/2006/relationships/notesSlide" Target="../notesSlides/notesSlide52.xml"/><Relationship Id="R9dbe0a245bd5469a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3af50ce6436f4c47" Type="http://schemas.openxmlformats.org/officeDocument/2006/relationships/notesSlide" Target="../notesSlides/notesSlide53.xml"/><Relationship Id="R616d992b86a74325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47711feacb1d44bb" Type="http://schemas.openxmlformats.org/officeDocument/2006/relationships/notesSlide" Target="../notesSlides/notesSlide54.xml"/><Relationship Id="Rf615cd2d003c4793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6ff9bead9f524c94" Type="http://schemas.openxmlformats.org/officeDocument/2006/relationships/notesSlide" Target="../notesSlides/notesSlide55.xml"/><Relationship Id="Rae1e10c4be2344d0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58573e6414124cd6" Type="http://schemas.openxmlformats.org/officeDocument/2006/relationships/slideLayout" Target="../slideLayouts/slideLayout6.xml"/><Relationship Id="Rb0f91ac43c8d4b67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77d3aab6e0b844b6" Type="http://schemas.openxmlformats.org/officeDocument/2006/relationships/notesSlide" Target="../notesSlides/notesSlide57.xml"/><Relationship Id="Rd5f630e24f0c48fd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a3ee878501414517" Type="http://schemas.openxmlformats.org/officeDocument/2006/relationships/notesSlide" Target="../notesSlides/notesSlide58.xml"/><Relationship Id="Rbe2706971e8f4f1b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1f2c5ea8c56b49e0" Type="http://schemas.openxmlformats.org/officeDocument/2006/relationships/notesSlide" Target="../notesSlides/notesSlide59.xml"/><Relationship Id="R21947b6ac2a34b53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120a0da4cc7045fc" Type="http://schemas.openxmlformats.org/officeDocument/2006/relationships/notesSlide" Target="../notesSlides/notesSlide60.xml"/><Relationship Id="Rba90311c645e459d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841b365aa8bc43d5" Type="http://schemas.openxmlformats.org/officeDocument/2006/relationships/notesSlide" Target="../notesSlides/notesSlide61.xml"/><Relationship Id="Ref2b5144bb9046a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9b28b093bdc44dca" Type="http://schemas.openxmlformats.org/officeDocument/2006/relationships/notesSlide" Target="../notesSlides/notesSlide62.xml"/><Relationship Id="Rad90f239e1574a8e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0de195830e43406b" Type="http://schemas.openxmlformats.org/officeDocument/2006/relationships/notesSlide" Target="../notesSlides/notesSlide63.xml"/><Relationship Id="R12360230d3a340ad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5bb278f7ff6249eb" Type="http://schemas.openxmlformats.org/officeDocument/2006/relationships/slideLayout" Target="../slideLayouts/slideLayout6.xml"/><Relationship Id="Rce6bab700b584f3c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7a9d806334d34049" Type="http://schemas.openxmlformats.org/officeDocument/2006/relationships/slideLayout" Target="../slideLayouts/slideLayout6.xml"/><Relationship Id="Rb55fc431f9ca4eca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6968fea615a94b1c" Type="http://schemas.openxmlformats.org/officeDocument/2006/relationships/notesSlide" Target="../notesSlides/notesSlide66.xml"/><Relationship Id="Rf48ded399b294db6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8fb7d95e73114b82" Type="http://schemas.openxmlformats.org/officeDocument/2006/relationships/notesSlide" Target="../notesSlides/notesSlide67.xml"/><Relationship Id="Rc54d699c2a8e4ebc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2fab462b8f96406f" Type="http://schemas.openxmlformats.org/officeDocument/2006/relationships/slideLayout" Target="../slideLayouts/slideLayout6.xml"/><Relationship Id="R831a472ca2b84686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8dbba0cbecb04872" Type="http://schemas.openxmlformats.org/officeDocument/2006/relationships/notesSlide" Target="../notesSlides/notesSlide69.xml"/><Relationship Id="Rcc8dfa25888942b2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3784057b7d9143b4" Type="http://schemas.openxmlformats.org/officeDocument/2006/relationships/slideLayout" Target="../slideLayouts/slideLayout6.xml"/><Relationship Id="Rbad5d5dd14144d4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0f92c3e2e68a4e66" Type="http://schemas.openxmlformats.org/officeDocument/2006/relationships/slideLayout" Target="../slideLayouts/slideLayout6.xml"/><Relationship Id="R19aac206156d4c8e" Type="http://schemas.openxmlformats.org/officeDocument/2006/relationships/image" Target="../media/image.png"/><Relationship Id="Rc86db6cbc0594d5b" Type="http://schemas.openxmlformats.org/officeDocument/2006/relationships/image" Target="../media/image.svg"/><Relationship Id="Rfa3e0ad291af4098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0058bed08b074fc7" Type="http://schemas.openxmlformats.org/officeDocument/2006/relationships/image" Target="../media/image2.svg"/><Relationship Id="R0063f9af9fa9435a" Type="http://schemas.openxmlformats.org/officeDocument/2006/relationships/notesSlide" Target="../notesSlides/notesSlide72.xml"/><Relationship Id="R7d20d6d3c2814d69" Type="http://schemas.openxmlformats.org/officeDocument/2006/relationships/slideLayout" Target="../slideLayouts/slideLayout6.xml"/><Relationship Id="R968036165684484c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833f303a8dfd4916" Type="http://schemas.openxmlformats.org/officeDocument/2006/relationships/notesSlide" Target="../notesSlides/notesSlide73.xml"/><Relationship Id="Rf60e6f83dfab4a09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08d9bc6ecaaa49bf" Type="http://schemas.openxmlformats.org/officeDocument/2006/relationships/image" Target="../media/image3.png"/><Relationship Id="R4959cf2bb8814e91" Type="http://schemas.openxmlformats.org/officeDocument/2006/relationships/image" Target="../media/image3.svg"/><Relationship Id="R5b75bebba50b421c" Type="http://schemas.openxmlformats.org/officeDocument/2006/relationships/slideLayout" Target="../slideLayouts/slideLayout6.xml"/><Relationship Id="Re2bef25910ca4e5a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37a39c5d61f94438" Type="http://schemas.openxmlformats.org/officeDocument/2006/relationships/slideLayout" Target="../slideLayouts/slideLayout6.xml"/><Relationship Id="R7cebfbd83abe4730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5f63cf59f74c4568" Type="http://schemas.openxmlformats.org/officeDocument/2006/relationships/slideLayout" Target="../slideLayouts/slideLayout6.xml"/><Relationship Id="R8d409efedda14a35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ae02ff8868594586" Type="http://schemas.openxmlformats.org/officeDocument/2006/relationships/slideLayout" Target="../slideLayouts/slideLayout6.xml"/><Relationship Id="Rff02e798cd1b4e05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2323e7621a03422d" Type="http://schemas.openxmlformats.org/officeDocument/2006/relationships/notesSlide" Target="../notesSlides/notesSlide78.xml"/><Relationship Id="Reef62444739f4342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59f287d7866d4f00" Type="http://schemas.openxmlformats.org/officeDocument/2006/relationships/slideLayout" Target="../slideLayouts/slideLayout6.xml"/><Relationship Id="Rb4b939abc8d741e9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467b95be05f1466d" Type="http://schemas.openxmlformats.org/officeDocument/2006/relationships/notesSlide" Target="../notesSlides/notesSlide80.xml"/><Relationship Id="Rbed71059a9ef4a24" Type="http://schemas.openxmlformats.org/officeDocument/2006/relationships/slideLayout" Target="../slideLayouts/slideLayout6.xml"/><Relationship Id="Rccf41850eec74e18" Type="http://schemas.openxmlformats.org/officeDocument/2006/relationships/chart" Target="charts/chart1.xml"/></Relationships>
</file>

<file path=ppt/slides/_rels/slide81.xml.rels><?xml version='1.0' encoding='UTF-8' standalone='yes'?>
<Relationships xmlns="http://schemas.openxmlformats.org/package/2006/relationships"><Relationship Id="R89710a49abeb44c3" Type="http://schemas.openxmlformats.org/officeDocument/2006/relationships/notesSlide" Target="../notesSlides/notesSlide81.xml"/><Relationship Id="Rc2752b2e6d59494b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39f5085750b34ab1" Type="http://schemas.openxmlformats.org/officeDocument/2006/relationships/notesSlide" Target="../notesSlides/notesSlide82.xml"/><Relationship Id="R41563a4c63e544b0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78fb802b64594073" Type="http://schemas.openxmlformats.org/officeDocument/2006/relationships/notesSlide" Target="../notesSlides/notesSlide83.xml"/><Relationship Id="R9c23536de2a24dad" Type="http://schemas.openxmlformats.org/officeDocument/2006/relationships/slideLayout" Target="../slideLayouts/slideLayout6.xml"/><Relationship Id="Rf3be41c3449c4cdd" Type="http://schemas.openxmlformats.org/officeDocument/2006/relationships/chart" Target="charts/chart2.xml"/></Relationships>
</file>

<file path=ppt/slides/_rels/slide84.xml.rels><?xml version='1.0' encoding='UTF-8' standalone='yes'?>
<Relationships xmlns="http://schemas.openxmlformats.org/package/2006/relationships"><Relationship Id="R0f90cf9d924f4c09" Type="http://schemas.openxmlformats.org/officeDocument/2006/relationships/notesSlide" Target="../notesSlides/notesSlide84.xml"/><Relationship Id="R6057804413824e79" Type="http://schemas.openxmlformats.org/officeDocument/2006/relationships/slideLayout" Target="../slideLayouts/slideLayout6.xml"/><Relationship Id="Rfc28681b668e472f" Type="http://schemas.openxmlformats.org/officeDocument/2006/relationships/chart" Target="charts/chart3.xml"/></Relationships>
</file>

<file path=ppt/slides/_rels/slide85.xml.rels><?xml version='1.0' encoding='UTF-8' standalone='yes'?>
<Relationships xmlns="http://schemas.openxmlformats.org/package/2006/relationships"><Relationship Id="R148ba25297f846ce" Type="http://schemas.openxmlformats.org/officeDocument/2006/relationships/notesSlide" Target="../notesSlides/notesSlide85.xml"/><Relationship Id="Rb2f86a41ad564eda" Type="http://schemas.openxmlformats.org/officeDocument/2006/relationships/chart" Target="charts/chart4.xml"/><Relationship Id="Rccc69fff0349486a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3c0e5c0441fa4572" Type="http://schemas.openxmlformats.org/officeDocument/2006/relationships/notesSlide" Target="../notesSlides/notesSlide86.xml"/><Relationship Id="Rc3dead4fc9f845b0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190a77cafa174365" Type="http://schemas.openxmlformats.org/officeDocument/2006/relationships/slideLayout" Target="../slideLayouts/slideLayout6.xml"/><Relationship Id="R7856733f34414fef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952249e6c3984fa7" Type="http://schemas.openxmlformats.org/officeDocument/2006/relationships/notesSlide" Target="../notesSlides/notesSlide88.xml"/><Relationship Id="Rbde043af0a5c4d62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34c7f9f279e448b5" Type="http://schemas.openxmlformats.org/officeDocument/2006/relationships/slideLayout" Target="../slideLayouts/slideLayout6.xml"/><Relationship Id="R77533a4fdaf041dd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512f5ca7e2954a22" Type="http://schemas.openxmlformats.org/officeDocument/2006/relationships/slideLayout" Target="../slideLayouts/slideLayout6.xml"/><Relationship Id="R90e8151dd24b42fd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0ad60d5b8fac4ed1" Type="http://schemas.openxmlformats.org/officeDocument/2006/relationships/notesSlide" Target="../notesSlides/notesSlide91.xml"/><Relationship Id="R201317cce4664ff6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7109f91d81714f30" Type="http://schemas.openxmlformats.org/officeDocument/2006/relationships/notesSlide" Target="../notesSlides/notesSlide92.xml"/><Relationship Id="Rb34803cf349b419f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61952adc777c4b75" Type="http://schemas.openxmlformats.org/officeDocument/2006/relationships/slideLayout" Target="../slideLayouts/slideLayout6.xml"/><Relationship Id="R8a7a2520fe9446cc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3a9900d5cd774deb" Type="http://schemas.openxmlformats.org/officeDocument/2006/relationships/notesSlide" Target="../notesSlides/notesSlide94.xml"/><Relationship Id="R5723195cf6e743fc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289cc2c134864ae4" Type="http://schemas.openxmlformats.org/officeDocument/2006/relationships/notesSlide" Target="../notesSlides/notesSlide95.xml"/><Relationship Id="R4ba392fa47114d9c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a51527965eac4a35" Type="http://schemas.openxmlformats.org/officeDocument/2006/relationships/notesSlide" Target="../notesSlides/notesSlide96.xml"/><Relationship Id="Rb19883c157824a65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2247447bf1534789" Type="http://schemas.openxmlformats.org/officeDocument/2006/relationships/slideLayout" Target="../slideLayouts/slideLayout6.xml"/><Relationship Id="Rc6ce4a8e4b2844c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cbe78aff2f6e44f4" Type="http://schemas.openxmlformats.org/officeDocument/2006/relationships/slideLayout" Target="../slideLayouts/slideLayout6.xml"/><Relationship Id="Re6c75b284809467e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1f85a761c84244e6" Type="http://schemas.openxmlformats.org/officeDocument/2006/relationships/notesSlide" Target="../notesSlides/notesSlide99.xml"/><Relationship Id="R4c219e17dc364024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07236b6dd65c48f9" Type="http://schemas.openxmlformats.org/officeDocument/2006/relationships/notesSlide" Target="../notesSlides/notesSlide100.xml"/><Relationship Id="R25b4ed767fd54179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1419eae3a1524bae" Type="http://schemas.openxmlformats.org/officeDocument/2006/relationships/notesSlide" Target="../notesSlides/notesSlide101.xml"/><Relationship Id="R6babb1ce9b1c4c35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09df4ee1505d4576" Type="http://schemas.openxmlformats.org/officeDocument/2006/relationships/slideLayout" Target="../slideLayouts/slideLayout6.xml"/><Relationship Id="R882624ce3b6748e1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066c1e1c83d04127" Type="http://schemas.openxmlformats.org/officeDocument/2006/relationships/notesSlide" Target="../notesSlides/notesSlide103.xml"/><Relationship Id="R835d804286da4853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510dcf8b0288454e" Type="http://schemas.openxmlformats.org/officeDocument/2006/relationships/slideLayout" Target="../slideLayouts/slideLayout6.xml"/><Relationship Id="R7584c0af523a4e2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d151634c8aa94daa" Type="http://schemas.openxmlformats.org/officeDocument/2006/relationships/notesSlide" Target="../notesSlides/notesSlide105.xml"/><Relationship Id="Rd63f8a3904de4756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441a447308874354" Type="http://schemas.openxmlformats.org/officeDocument/2006/relationships/slideLayout" Target="../slideLayouts/slideLayout6.xml"/><Relationship Id="R86f44a82ddf74a4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6fc218f36f464fe4" Type="http://schemas.openxmlformats.org/officeDocument/2006/relationships/slideLayout" Target="../slideLayouts/slideLayout6.xml"/><Relationship Id="Rfffbf492be9e43e7" Type="http://schemas.openxmlformats.org/officeDocument/2006/relationships/notesSlide" Target="../notesSlides/notesSlide107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Trading days</c:v>
          </c:tx>
          <c:spPr>
            <a:solidFill xmlns:a="http://schemas.openxmlformats.org/drawingml/2006/main">
              <a:srgbClr val="1B6FB8"/>
            </a:solidFill>
          </c:spPr>
          <c:cat>
            <c:strRef>
              <c:f>'Chart Data'!$A$2:$A$13</c:f>
              <c:strCache>
                <c:ptCount val="12"/>
                <c:pt idx="0">
                  <c:v>90–94</c:v>
                </c:pt>
                <c:pt idx="1">
                  <c:v>94–98</c:v>
                </c:pt>
                <c:pt idx="2">
                  <c:v>98–102</c:v>
                </c:pt>
                <c:pt idx="3">
                  <c:v>102–105</c:v>
                </c:pt>
                <c:pt idx="4">
                  <c:v>105–109</c:v>
                </c:pt>
                <c:pt idx="5">
                  <c:v>109–113</c:v>
                </c:pt>
                <c:pt idx="6">
                  <c:v>113–117</c:v>
                </c:pt>
                <c:pt idx="7">
                  <c:v>117–120</c:v>
                </c:pt>
                <c:pt idx="8">
                  <c:v>120–124</c:v>
                </c:pt>
                <c:pt idx="9">
                  <c:v>124–128</c:v>
                </c:pt>
                <c:pt idx="10">
                  <c:v>128–132</c:v>
                </c:pt>
                <c:pt idx="11">
                  <c:v>132–136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19</c:v>
                </c:pt>
                <c:pt idx="1">
                  <c:v>54</c:v>
                </c:pt>
                <c:pt idx="2">
                  <c:v>33</c:v>
                </c:pt>
                <c:pt idx="3">
                  <c:v>18</c:v>
                </c:pt>
                <c:pt idx="4">
                  <c:v>60</c:v>
                </c:pt>
                <c:pt idx="5">
                  <c:v>68</c:v>
                </c:pt>
                <c:pt idx="6">
                  <c:v>69</c:v>
                </c:pt>
                <c:pt idx="7">
                  <c:v>46</c:v>
                </c:pt>
                <c:pt idx="8">
                  <c:v>23</c:v>
                </c:pt>
                <c:pt idx="9">
                  <c:v>61</c:v>
                </c:pt>
                <c:pt idx="10">
                  <c:v>41</c:v>
                </c:pt>
                <c:pt idx="11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Closing-price interval (USD)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Trading days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AAPL close</c:v>
          </c:tx>
          <c:spPr>
            <a:ln xmlns:a="http://schemas.openxmlformats.org/drawingml/2006/main" w="19050">
              <a:solidFill>
                <a:srgbClr val="10AFC0"/>
              </a:solidFill>
            </a:ln>
          </c:spPr>
          <c:marker>
            <c:symbol val="none"/>
          </c:marker>
          <c:cat>
            <c:strRef>
              <c:f>'Chart Data'!$A$2:$A$507</c:f>
              <c:strCache>
                <c:ptCount val="506"/>
                <c:pt idx="0">
                  <c:v>2015-02-17</c:v>
                </c:pt>
                <c:pt idx="1">
                  <c:v>2015-02-18</c:v>
                </c:pt>
                <c:pt idx="2">
                  <c:v>2015-02-19</c:v>
                </c:pt>
                <c:pt idx="3">
                  <c:v>2015-02-20</c:v>
                </c:pt>
                <c:pt idx="4">
                  <c:v>2015-02-23</c:v>
                </c:pt>
                <c:pt idx="5">
                  <c:v>2015-02-24</c:v>
                </c:pt>
                <c:pt idx="6">
                  <c:v>2015-02-25</c:v>
                </c:pt>
                <c:pt idx="7">
                  <c:v>2015-02-26</c:v>
                </c:pt>
                <c:pt idx="8">
                  <c:v>2015-02-27</c:v>
                </c:pt>
                <c:pt idx="9">
                  <c:v>2015-03-02</c:v>
                </c:pt>
                <c:pt idx="10">
                  <c:v>2015-03-03</c:v>
                </c:pt>
                <c:pt idx="11">
                  <c:v>2015-03-04</c:v>
                </c:pt>
                <c:pt idx="12">
                  <c:v>2015-03-05</c:v>
                </c:pt>
                <c:pt idx="13">
                  <c:v>2015-03-06</c:v>
                </c:pt>
                <c:pt idx="14">
                  <c:v>2015-03-09</c:v>
                </c:pt>
                <c:pt idx="15">
                  <c:v>2015-03-10</c:v>
                </c:pt>
                <c:pt idx="16">
                  <c:v>2015-03-11</c:v>
                </c:pt>
                <c:pt idx="17">
                  <c:v>2015-03-12</c:v>
                </c:pt>
                <c:pt idx="18">
                  <c:v>2015-03-13</c:v>
                </c:pt>
                <c:pt idx="19">
                  <c:v>2015-03-16</c:v>
                </c:pt>
                <c:pt idx="20">
                  <c:v>2015-03-17</c:v>
                </c:pt>
                <c:pt idx="21">
                  <c:v>2015-03-18</c:v>
                </c:pt>
                <c:pt idx="22">
                  <c:v>2015-03-19</c:v>
                </c:pt>
                <c:pt idx="23">
                  <c:v>2015-03-20</c:v>
                </c:pt>
                <c:pt idx="24">
                  <c:v>2015-03-23</c:v>
                </c:pt>
                <c:pt idx="25">
                  <c:v>2015-03-24</c:v>
                </c:pt>
                <c:pt idx="26">
                  <c:v>2015-03-25</c:v>
                </c:pt>
                <c:pt idx="27">
                  <c:v>2015-03-26</c:v>
                </c:pt>
                <c:pt idx="28">
                  <c:v>2015-03-27</c:v>
                </c:pt>
                <c:pt idx="29">
                  <c:v>2015-03-30</c:v>
                </c:pt>
                <c:pt idx="30">
                  <c:v>2015-03-31</c:v>
                </c:pt>
                <c:pt idx="31">
                  <c:v>2015-04-01</c:v>
                </c:pt>
                <c:pt idx="32">
                  <c:v>2015-04-02</c:v>
                </c:pt>
                <c:pt idx="33">
                  <c:v>2015-04-06</c:v>
                </c:pt>
                <c:pt idx="34">
                  <c:v>2015-04-07</c:v>
                </c:pt>
                <c:pt idx="35">
                  <c:v>2015-04-08</c:v>
                </c:pt>
                <c:pt idx="36">
                  <c:v>2015-04-09</c:v>
                </c:pt>
                <c:pt idx="37">
                  <c:v>2015-04-10</c:v>
                </c:pt>
                <c:pt idx="38">
                  <c:v>2015-04-13</c:v>
                </c:pt>
                <c:pt idx="39">
                  <c:v>2015-04-14</c:v>
                </c:pt>
                <c:pt idx="40">
                  <c:v>2015-04-15</c:v>
                </c:pt>
                <c:pt idx="41">
                  <c:v>2015-04-16</c:v>
                </c:pt>
                <c:pt idx="42">
                  <c:v>2015-04-17</c:v>
                </c:pt>
                <c:pt idx="43">
                  <c:v>2015-04-20</c:v>
                </c:pt>
                <c:pt idx="44">
                  <c:v>2015-04-21</c:v>
                </c:pt>
                <c:pt idx="45">
                  <c:v>2015-04-22</c:v>
                </c:pt>
                <c:pt idx="46">
                  <c:v>2015-04-23</c:v>
                </c:pt>
                <c:pt idx="47">
                  <c:v>2015-04-24</c:v>
                </c:pt>
                <c:pt idx="48">
                  <c:v>2015-04-27</c:v>
                </c:pt>
                <c:pt idx="49">
                  <c:v>2015-04-28</c:v>
                </c:pt>
                <c:pt idx="50">
                  <c:v>2015-04-29</c:v>
                </c:pt>
                <c:pt idx="51">
                  <c:v>2015-04-30</c:v>
                </c:pt>
                <c:pt idx="52">
                  <c:v>2015-05-01</c:v>
                </c:pt>
                <c:pt idx="53">
                  <c:v>2015-05-04</c:v>
                </c:pt>
                <c:pt idx="54">
                  <c:v>2015-05-05</c:v>
                </c:pt>
                <c:pt idx="55">
                  <c:v>2015-05-06</c:v>
                </c:pt>
                <c:pt idx="56">
                  <c:v>2015-05-07</c:v>
                </c:pt>
                <c:pt idx="57">
                  <c:v>2015-05-08</c:v>
                </c:pt>
                <c:pt idx="58">
                  <c:v>2015-05-11</c:v>
                </c:pt>
                <c:pt idx="59">
                  <c:v>2015-05-12</c:v>
                </c:pt>
                <c:pt idx="60">
                  <c:v>2015-05-13</c:v>
                </c:pt>
                <c:pt idx="61">
                  <c:v>2015-05-14</c:v>
                </c:pt>
                <c:pt idx="62">
                  <c:v>2015-05-15</c:v>
                </c:pt>
                <c:pt idx="63">
                  <c:v>2015-05-18</c:v>
                </c:pt>
                <c:pt idx="64">
                  <c:v>2015-05-19</c:v>
                </c:pt>
                <c:pt idx="65">
                  <c:v>2015-05-20</c:v>
                </c:pt>
                <c:pt idx="66">
                  <c:v>2015-05-21</c:v>
                </c:pt>
                <c:pt idx="67">
                  <c:v>2015-05-22</c:v>
                </c:pt>
                <c:pt idx="68">
                  <c:v>2015-05-26</c:v>
                </c:pt>
                <c:pt idx="69">
                  <c:v>2015-05-27</c:v>
                </c:pt>
                <c:pt idx="70">
                  <c:v>2015-05-28</c:v>
                </c:pt>
                <c:pt idx="71">
                  <c:v>2015-05-29</c:v>
                </c:pt>
                <c:pt idx="72">
                  <c:v>2015-06-01</c:v>
                </c:pt>
                <c:pt idx="73">
                  <c:v>2015-06-02</c:v>
                </c:pt>
                <c:pt idx="74">
                  <c:v>2015-06-03</c:v>
                </c:pt>
                <c:pt idx="75">
                  <c:v>2015-06-04</c:v>
                </c:pt>
                <c:pt idx="76">
                  <c:v>2015-06-05</c:v>
                </c:pt>
                <c:pt idx="77">
                  <c:v>2015-06-08</c:v>
                </c:pt>
                <c:pt idx="78">
                  <c:v>2015-06-09</c:v>
                </c:pt>
                <c:pt idx="79">
                  <c:v>2015-06-10</c:v>
                </c:pt>
                <c:pt idx="80">
                  <c:v>2015-06-11</c:v>
                </c:pt>
                <c:pt idx="81">
                  <c:v>2015-06-12</c:v>
                </c:pt>
                <c:pt idx="82">
                  <c:v>2015-06-15</c:v>
                </c:pt>
                <c:pt idx="83">
                  <c:v>2015-06-16</c:v>
                </c:pt>
                <c:pt idx="84">
                  <c:v>2015-06-17</c:v>
                </c:pt>
                <c:pt idx="85">
                  <c:v>2015-06-18</c:v>
                </c:pt>
                <c:pt idx="86">
                  <c:v>2015-06-19</c:v>
                </c:pt>
                <c:pt idx="87">
                  <c:v>2015-06-22</c:v>
                </c:pt>
                <c:pt idx="88">
                  <c:v>2015-06-23</c:v>
                </c:pt>
                <c:pt idx="89">
                  <c:v>2015-06-24</c:v>
                </c:pt>
                <c:pt idx="90">
                  <c:v>2015-06-25</c:v>
                </c:pt>
                <c:pt idx="91">
                  <c:v>2015-06-26</c:v>
                </c:pt>
                <c:pt idx="92">
                  <c:v>2015-06-29</c:v>
                </c:pt>
                <c:pt idx="93">
                  <c:v>2015-06-30</c:v>
                </c:pt>
                <c:pt idx="94">
                  <c:v>2015-07-01</c:v>
                </c:pt>
                <c:pt idx="95">
                  <c:v>2015-07-02</c:v>
                </c:pt>
                <c:pt idx="96">
                  <c:v>2015-07-06</c:v>
                </c:pt>
                <c:pt idx="97">
                  <c:v>2015-07-07</c:v>
                </c:pt>
                <c:pt idx="98">
                  <c:v>2015-07-08</c:v>
                </c:pt>
                <c:pt idx="99">
                  <c:v>2015-07-09</c:v>
                </c:pt>
                <c:pt idx="100">
                  <c:v>2015-07-10</c:v>
                </c:pt>
                <c:pt idx="101">
                  <c:v>2015-07-13</c:v>
                </c:pt>
                <c:pt idx="102">
                  <c:v>2015-07-14</c:v>
                </c:pt>
                <c:pt idx="103">
                  <c:v>2015-07-15</c:v>
                </c:pt>
                <c:pt idx="104">
                  <c:v>2015-07-16</c:v>
                </c:pt>
                <c:pt idx="105">
                  <c:v>2015-07-17</c:v>
                </c:pt>
                <c:pt idx="106">
                  <c:v>2015-07-20</c:v>
                </c:pt>
                <c:pt idx="107">
                  <c:v>2015-07-21</c:v>
                </c:pt>
                <c:pt idx="108">
                  <c:v>2015-07-22</c:v>
                </c:pt>
                <c:pt idx="109">
                  <c:v>2015-07-23</c:v>
                </c:pt>
                <c:pt idx="110">
                  <c:v>2015-07-24</c:v>
                </c:pt>
                <c:pt idx="111">
                  <c:v>2015-07-27</c:v>
                </c:pt>
                <c:pt idx="112">
                  <c:v>2015-07-28</c:v>
                </c:pt>
                <c:pt idx="113">
                  <c:v>2015-07-29</c:v>
                </c:pt>
                <c:pt idx="114">
                  <c:v>2015-07-30</c:v>
                </c:pt>
                <c:pt idx="115">
                  <c:v>2015-07-31</c:v>
                </c:pt>
                <c:pt idx="116">
                  <c:v>2015-08-03</c:v>
                </c:pt>
                <c:pt idx="117">
                  <c:v>2015-08-04</c:v>
                </c:pt>
                <c:pt idx="118">
                  <c:v>2015-08-05</c:v>
                </c:pt>
                <c:pt idx="119">
                  <c:v>2015-08-06</c:v>
                </c:pt>
                <c:pt idx="120">
                  <c:v>2015-08-07</c:v>
                </c:pt>
                <c:pt idx="121">
                  <c:v>2015-08-10</c:v>
                </c:pt>
                <c:pt idx="122">
                  <c:v>2015-08-11</c:v>
                </c:pt>
                <c:pt idx="123">
                  <c:v>2015-08-12</c:v>
                </c:pt>
                <c:pt idx="124">
                  <c:v>2015-08-13</c:v>
                </c:pt>
                <c:pt idx="125">
                  <c:v>2015-08-14</c:v>
                </c:pt>
                <c:pt idx="126">
                  <c:v>2015-08-17</c:v>
                </c:pt>
                <c:pt idx="127">
                  <c:v>2015-08-18</c:v>
                </c:pt>
                <c:pt idx="128">
                  <c:v>2015-08-19</c:v>
                </c:pt>
                <c:pt idx="129">
                  <c:v>2015-08-20</c:v>
                </c:pt>
                <c:pt idx="130">
                  <c:v>2015-08-21</c:v>
                </c:pt>
                <c:pt idx="131">
                  <c:v>2015-08-24</c:v>
                </c:pt>
                <c:pt idx="132">
                  <c:v>2015-08-25</c:v>
                </c:pt>
                <c:pt idx="133">
                  <c:v>2015-08-26</c:v>
                </c:pt>
                <c:pt idx="134">
                  <c:v>2015-08-27</c:v>
                </c:pt>
                <c:pt idx="135">
                  <c:v>2015-08-28</c:v>
                </c:pt>
                <c:pt idx="136">
                  <c:v>2015-08-31</c:v>
                </c:pt>
                <c:pt idx="137">
                  <c:v>2015-09-01</c:v>
                </c:pt>
                <c:pt idx="138">
                  <c:v>2015-09-02</c:v>
                </c:pt>
                <c:pt idx="139">
                  <c:v>2015-09-03</c:v>
                </c:pt>
                <c:pt idx="140">
                  <c:v>2015-09-04</c:v>
                </c:pt>
                <c:pt idx="141">
                  <c:v>2015-09-08</c:v>
                </c:pt>
                <c:pt idx="142">
                  <c:v>2015-09-09</c:v>
                </c:pt>
                <c:pt idx="143">
                  <c:v>2015-09-10</c:v>
                </c:pt>
                <c:pt idx="144">
                  <c:v>2015-09-11</c:v>
                </c:pt>
                <c:pt idx="145">
                  <c:v>2015-09-14</c:v>
                </c:pt>
                <c:pt idx="146">
                  <c:v>2015-09-15</c:v>
                </c:pt>
                <c:pt idx="147">
                  <c:v>2015-09-16</c:v>
                </c:pt>
                <c:pt idx="148">
                  <c:v>2015-09-17</c:v>
                </c:pt>
                <c:pt idx="149">
                  <c:v>2015-09-18</c:v>
                </c:pt>
                <c:pt idx="150">
                  <c:v>2015-09-21</c:v>
                </c:pt>
                <c:pt idx="151">
                  <c:v>2015-09-22</c:v>
                </c:pt>
                <c:pt idx="152">
                  <c:v>2015-09-23</c:v>
                </c:pt>
                <c:pt idx="153">
                  <c:v>2015-09-24</c:v>
                </c:pt>
                <c:pt idx="154">
                  <c:v>2015-09-25</c:v>
                </c:pt>
                <c:pt idx="155">
                  <c:v>2015-09-28</c:v>
                </c:pt>
                <c:pt idx="156">
                  <c:v>2015-09-29</c:v>
                </c:pt>
                <c:pt idx="157">
                  <c:v>2015-09-30</c:v>
                </c:pt>
                <c:pt idx="158">
                  <c:v>2015-10-01</c:v>
                </c:pt>
                <c:pt idx="159">
                  <c:v>2015-10-02</c:v>
                </c:pt>
                <c:pt idx="160">
                  <c:v>2015-10-05</c:v>
                </c:pt>
                <c:pt idx="161">
                  <c:v>2015-10-06</c:v>
                </c:pt>
                <c:pt idx="162">
                  <c:v>2015-10-07</c:v>
                </c:pt>
                <c:pt idx="163">
                  <c:v>2015-10-08</c:v>
                </c:pt>
                <c:pt idx="164">
                  <c:v>2015-10-09</c:v>
                </c:pt>
                <c:pt idx="165">
                  <c:v>2015-10-12</c:v>
                </c:pt>
                <c:pt idx="166">
                  <c:v>2015-10-13</c:v>
                </c:pt>
                <c:pt idx="167">
                  <c:v>2015-10-14</c:v>
                </c:pt>
                <c:pt idx="168">
                  <c:v>2015-10-15</c:v>
                </c:pt>
                <c:pt idx="169">
                  <c:v>2015-10-16</c:v>
                </c:pt>
                <c:pt idx="170">
                  <c:v>2015-10-19</c:v>
                </c:pt>
                <c:pt idx="171">
                  <c:v>2015-10-20</c:v>
                </c:pt>
                <c:pt idx="172">
                  <c:v>2015-10-21</c:v>
                </c:pt>
                <c:pt idx="173">
                  <c:v>2015-10-22</c:v>
                </c:pt>
                <c:pt idx="174">
                  <c:v>2015-10-23</c:v>
                </c:pt>
                <c:pt idx="175">
                  <c:v>2015-10-26</c:v>
                </c:pt>
                <c:pt idx="176">
                  <c:v>2015-10-27</c:v>
                </c:pt>
                <c:pt idx="177">
                  <c:v>2015-10-28</c:v>
                </c:pt>
                <c:pt idx="178">
                  <c:v>2015-10-29</c:v>
                </c:pt>
                <c:pt idx="179">
                  <c:v>2015-10-30</c:v>
                </c:pt>
                <c:pt idx="180">
                  <c:v>2015-11-02</c:v>
                </c:pt>
                <c:pt idx="181">
                  <c:v>2015-11-03</c:v>
                </c:pt>
                <c:pt idx="182">
                  <c:v>2015-11-04</c:v>
                </c:pt>
                <c:pt idx="183">
                  <c:v>2015-11-05</c:v>
                </c:pt>
                <c:pt idx="184">
                  <c:v>2015-11-06</c:v>
                </c:pt>
                <c:pt idx="185">
                  <c:v>2015-11-09</c:v>
                </c:pt>
                <c:pt idx="186">
                  <c:v>2015-11-10</c:v>
                </c:pt>
                <c:pt idx="187">
                  <c:v>2015-11-11</c:v>
                </c:pt>
                <c:pt idx="188">
                  <c:v>2015-11-12</c:v>
                </c:pt>
                <c:pt idx="189">
                  <c:v>2015-11-13</c:v>
                </c:pt>
                <c:pt idx="190">
                  <c:v>2015-11-16</c:v>
                </c:pt>
                <c:pt idx="191">
                  <c:v>2015-11-17</c:v>
                </c:pt>
                <c:pt idx="192">
                  <c:v>2015-11-18</c:v>
                </c:pt>
                <c:pt idx="193">
                  <c:v>2015-11-19</c:v>
                </c:pt>
                <c:pt idx="194">
                  <c:v>2015-11-20</c:v>
                </c:pt>
                <c:pt idx="195">
                  <c:v>2015-11-23</c:v>
                </c:pt>
                <c:pt idx="196">
                  <c:v>2015-11-24</c:v>
                </c:pt>
                <c:pt idx="197">
                  <c:v>2015-11-25</c:v>
                </c:pt>
                <c:pt idx="198">
                  <c:v>2015-11-27</c:v>
                </c:pt>
                <c:pt idx="199">
                  <c:v>2015-11-30</c:v>
                </c:pt>
                <c:pt idx="200">
                  <c:v>2015-12-01</c:v>
                </c:pt>
                <c:pt idx="201">
                  <c:v>2015-12-02</c:v>
                </c:pt>
                <c:pt idx="202">
                  <c:v>2015-12-03</c:v>
                </c:pt>
                <c:pt idx="203">
                  <c:v>2015-12-04</c:v>
                </c:pt>
                <c:pt idx="204">
                  <c:v>2015-12-07</c:v>
                </c:pt>
                <c:pt idx="205">
                  <c:v>2015-12-08</c:v>
                </c:pt>
                <c:pt idx="206">
                  <c:v>2015-12-09</c:v>
                </c:pt>
                <c:pt idx="207">
                  <c:v>2015-12-10</c:v>
                </c:pt>
                <c:pt idx="208">
                  <c:v>2015-12-11</c:v>
                </c:pt>
                <c:pt idx="209">
                  <c:v>2015-12-14</c:v>
                </c:pt>
                <c:pt idx="210">
                  <c:v>2015-12-15</c:v>
                </c:pt>
                <c:pt idx="211">
                  <c:v>2015-12-16</c:v>
                </c:pt>
                <c:pt idx="212">
                  <c:v>2015-12-17</c:v>
                </c:pt>
                <c:pt idx="213">
                  <c:v>2015-12-18</c:v>
                </c:pt>
                <c:pt idx="214">
                  <c:v>2015-12-21</c:v>
                </c:pt>
                <c:pt idx="215">
                  <c:v>2015-12-22</c:v>
                </c:pt>
                <c:pt idx="216">
                  <c:v>2015-12-23</c:v>
                </c:pt>
                <c:pt idx="217">
                  <c:v>2015-12-24</c:v>
                </c:pt>
                <c:pt idx="218">
                  <c:v>2015-12-28</c:v>
                </c:pt>
                <c:pt idx="219">
                  <c:v>2015-12-29</c:v>
                </c:pt>
                <c:pt idx="220">
                  <c:v>2015-12-30</c:v>
                </c:pt>
                <c:pt idx="221">
                  <c:v>2015-12-31</c:v>
                </c:pt>
                <c:pt idx="222">
                  <c:v>2016-01-04</c:v>
                </c:pt>
                <c:pt idx="223">
                  <c:v>2016-01-05</c:v>
                </c:pt>
                <c:pt idx="224">
                  <c:v>2016-01-06</c:v>
                </c:pt>
                <c:pt idx="225">
                  <c:v>2016-01-07</c:v>
                </c:pt>
                <c:pt idx="226">
                  <c:v>2016-01-08</c:v>
                </c:pt>
                <c:pt idx="227">
                  <c:v>2016-01-11</c:v>
                </c:pt>
                <c:pt idx="228">
                  <c:v>2016-01-12</c:v>
                </c:pt>
                <c:pt idx="229">
                  <c:v>2016-01-13</c:v>
                </c:pt>
                <c:pt idx="230">
                  <c:v>2016-01-14</c:v>
                </c:pt>
                <c:pt idx="231">
                  <c:v>2016-01-15</c:v>
                </c:pt>
                <c:pt idx="232">
                  <c:v>2016-01-19</c:v>
                </c:pt>
                <c:pt idx="233">
                  <c:v>2016-01-20</c:v>
                </c:pt>
                <c:pt idx="234">
                  <c:v>2016-01-21</c:v>
                </c:pt>
                <c:pt idx="235">
                  <c:v>2016-01-22</c:v>
                </c:pt>
                <c:pt idx="236">
                  <c:v>2016-01-25</c:v>
                </c:pt>
                <c:pt idx="237">
                  <c:v>2016-01-26</c:v>
                </c:pt>
                <c:pt idx="238">
                  <c:v>2016-01-27</c:v>
                </c:pt>
                <c:pt idx="239">
                  <c:v>2016-01-28</c:v>
                </c:pt>
                <c:pt idx="240">
                  <c:v>2016-01-29</c:v>
                </c:pt>
                <c:pt idx="241">
                  <c:v>2016-02-01</c:v>
                </c:pt>
                <c:pt idx="242">
                  <c:v>2016-02-02</c:v>
                </c:pt>
                <c:pt idx="243">
                  <c:v>2016-02-03</c:v>
                </c:pt>
                <c:pt idx="244">
                  <c:v>2016-02-04</c:v>
                </c:pt>
                <c:pt idx="245">
                  <c:v>2016-02-05</c:v>
                </c:pt>
                <c:pt idx="246">
                  <c:v>2016-02-08</c:v>
                </c:pt>
                <c:pt idx="247">
                  <c:v>2016-02-09</c:v>
                </c:pt>
                <c:pt idx="248">
                  <c:v>2016-02-10</c:v>
                </c:pt>
                <c:pt idx="249">
                  <c:v>2016-02-11</c:v>
                </c:pt>
                <c:pt idx="250">
                  <c:v>2016-02-12</c:v>
                </c:pt>
                <c:pt idx="251">
                  <c:v>2016-02-16</c:v>
                </c:pt>
                <c:pt idx="252">
                  <c:v>2016-02-17</c:v>
                </c:pt>
                <c:pt idx="253">
                  <c:v>2016-02-18</c:v>
                </c:pt>
                <c:pt idx="254">
                  <c:v>2016-02-19</c:v>
                </c:pt>
                <c:pt idx="255">
                  <c:v>2016-02-22</c:v>
                </c:pt>
                <c:pt idx="256">
                  <c:v>2016-02-23</c:v>
                </c:pt>
                <c:pt idx="257">
                  <c:v>2016-02-24</c:v>
                </c:pt>
                <c:pt idx="258">
                  <c:v>2016-02-25</c:v>
                </c:pt>
                <c:pt idx="259">
                  <c:v>2016-02-26</c:v>
                </c:pt>
                <c:pt idx="260">
                  <c:v>2016-02-29</c:v>
                </c:pt>
                <c:pt idx="261">
                  <c:v>2016-03-01</c:v>
                </c:pt>
                <c:pt idx="262">
                  <c:v>2016-03-02</c:v>
                </c:pt>
                <c:pt idx="263">
                  <c:v>2016-03-03</c:v>
                </c:pt>
                <c:pt idx="264">
                  <c:v>2016-03-04</c:v>
                </c:pt>
                <c:pt idx="265">
                  <c:v>2016-03-07</c:v>
                </c:pt>
                <c:pt idx="266">
                  <c:v>2016-03-08</c:v>
                </c:pt>
                <c:pt idx="267">
                  <c:v>2016-03-09</c:v>
                </c:pt>
                <c:pt idx="268">
                  <c:v>2016-03-10</c:v>
                </c:pt>
                <c:pt idx="269">
                  <c:v>2016-03-11</c:v>
                </c:pt>
                <c:pt idx="270">
                  <c:v>2016-03-14</c:v>
                </c:pt>
                <c:pt idx="271">
                  <c:v>2016-03-15</c:v>
                </c:pt>
                <c:pt idx="272">
                  <c:v>2016-03-16</c:v>
                </c:pt>
                <c:pt idx="273">
                  <c:v>2016-03-17</c:v>
                </c:pt>
                <c:pt idx="274">
                  <c:v>2016-03-18</c:v>
                </c:pt>
                <c:pt idx="275">
                  <c:v>2016-03-21</c:v>
                </c:pt>
                <c:pt idx="276">
                  <c:v>2016-03-22</c:v>
                </c:pt>
                <c:pt idx="277">
                  <c:v>2016-03-23</c:v>
                </c:pt>
                <c:pt idx="278">
                  <c:v>2016-03-24</c:v>
                </c:pt>
                <c:pt idx="279">
                  <c:v>2016-03-28</c:v>
                </c:pt>
                <c:pt idx="280">
                  <c:v>2016-03-29</c:v>
                </c:pt>
                <c:pt idx="281">
                  <c:v>2016-03-30</c:v>
                </c:pt>
                <c:pt idx="282">
                  <c:v>2016-03-31</c:v>
                </c:pt>
                <c:pt idx="283">
                  <c:v>2016-04-01</c:v>
                </c:pt>
                <c:pt idx="284">
                  <c:v>2016-04-04</c:v>
                </c:pt>
                <c:pt idx="285">
                  <c:v>2016-04-05</c:v>
                </c:pt>
                <c:pt idx="286">
                  <c:v>2016-04-06</c:v>
                </c:pt>
                <c:pt idx="287">
                  <c:v>2016-04-07</c:v>
                </c:pt>
                <c:pt idx="288">
                  <c:v>2016-04-08</c:v>
                </c:pt>
                <c:pt idx="289">
                  <c:v>2016-04-11</c:v>
                </c:pt>
                <c:pt idx="290">
                  <c:v>2016-04-12</c:v>
                </c:pt>
                <c:pt idx="291">
                  <c:v>2016-04-13</c:v>
                </c:pt>
                <c:pt idx="292">
                  <c:v>2016-04-14</c:v>
                </c:pt>
                <c:pt idx="293">
                  <c:v>2016-04-15</c:v>
                </c:pt>
                <c:pt idx="294">
                  <c:v>2016-04-18</c:v>
                </c:pt>
                <c:pt idx="295">
                  <c:v>2016-04-19</c:v>
                </c:pt>
                <c:pt idx="296">
                  <c:v>2016-04-20</c:v>
                </c:pt>
                <c:pt idx="297">
                  <c:v>2016-04-21</c:v>
                </c:pt>
                <c:pt idx="298">
                  <c:v>2016-04-22</c:v>
                </c:pt>
                <c:pt idx="299">
                  <c:v>2016-04-25</c:v>
                </c:pt>
                <c:pt idx="300">
                  <c:v>2016-04-26</c:v>
                </c:pt>
                <c:pt idx="301">
                  <c:v>2016-04-27</c:v>
                </c:pt>
                <c:pt idx="302">
                  <c:v>2016-04-28</c:v>
                </c:pt>
                <c:pt idx="303">
                  <c:v>2016-04-29</c:v>
                </c:pt>
                <c:pt idx="304">
                  <c:v>2016-05-02</c:v>
                </c:pt>
                <c:pt idx="305">
                  <c:v>2016-05-03</c:v>
                </c:pt>
                <c:pt idx="306">
                  <c:v>2016-05-04</c:v>
                </c:pt>
                <c:pt idx="307">
                  <c:v>2016-05-05</c:v>
                </c:pt>
                <c:pt idx="308">
                  <c:v>2016-05-06</c:v>
                </c:pt>
                <c:pt idx="309">
                  <c:v>2016-05-09</c:v>
                </c:pt>
                <c:pt idx="310">
                  <c:v>2016-05-10</c:v>
                </c:pt>
                <c:pt idx="311">
                  <c:v>2016-05-11</c:v>
                </c:pt>
                <c:pt idx="312">
                  <c:v>2016-05-12</c:v>
                </c:pt>
                <c:pt idx="313">
                  <c:v>2016-05-13</c:v>
                </c:pt>
                <c:pt idx="314">
                  <c:v>2016-05-16</c:v>
                </c:pt>
                <c:pt idx="315">
                  <c:v>2016-05-17</c:v>
                </c:pt>
                <c:pt idx="316">
                  <c:v>2016-05-18</c:v>
                </c:pt>
                <c:pt idx="317">
                  <c:v>2016-05-19</c:v>
                </c:pt>
                <c:pt idx="318">
                  <c:v>2016-05-20</c:v>
                </c:pt>
                <c:pt idx="319">
                  <c:v>2016-05-23</c:v>
                </c:pt>
                <c:pt idx="320">
                  <c:v>2016-05-24</c:v>
                </c:pt>
                <c:pt idx="321">
                  <c:v>2016-05-25</c:v>
                </c:pt>
                <c:pt idx="322">
                  <c:v>2016-05-26</c:v>
                </c:pt>
                <c:pt idx="323">
                  <c:v>2016-05-27</c:v>
                </c:pt>
                <c:pt idx="324">
                  <c:v>2016-05-31</c:v>
                </c:pt>
                <c:pt idx="325">
                  <c:v>2016-06-01</c:v>
                </c:pt>
                <c:pt idx="326">
                  <c:v>2016-06-02</c:v>
                </c:pt>
                <c:pt idx="327">
                  <c:v>2016-06-03</c:v>
                </c:pt>
                <c:pt idx="328">
                  <c:v>2016-06-06</c:v>
                </c:pt>
                <c:pt idx="329">
                  <c:v>2016-06-07</c:v>
                </c:pt>
                <c:pt idx="330">
                  <c:v>2016-06-08</c:v>
                </c:pt>
                <c:pt idx="331">
                  <c:v>2016-06-09</c:v>
                </c:pt>
                <c:pt idx="332">
                  <c:v>2016-06-10</c:v>
                </c:pt>
                <c:pt idx="333">
                  <c:v>2016-06-13</c:v>
                </c:pt>
                <c:pt idx="334">
                  <c:v>2016-06-14</c:v>
                </c:pt>
                <c:pt idx="335">
                  <c:v>2016-06-15</c:v>
                </c:pt>
                <c:pt idx="336">
                  <c:v>2016-06-16</c:v>
                </c:pt>
                <c:pt idx="337">
                  <c:v>2016-06-17</c:v>
                </c:pt>
                <c:pt idx="338">
                  <c:v>2016-06-20</c:v>
                </c:pt>
                <c:pt idx="339">
                  <c:v>2016-06-21</c:v>
                </c:pt>
                <c:pt idx="340">
                  <c:v>2016-06-22</c:v>
                </c:pt>
                <c:pt idx="341">
                  <c:v>2016-06-23</c:v>
                </c:pt>
                <c:pt idx="342">
                  <c:v>2016-06-24</c:v>
                </c:pt>
                <c:pt idx="343">
                  <c:v>2016-06-27</c:v>
                </c:pt>
                <c:pt idx="344">
                  <c:v>2016-06-28</c:v>
                </c:pt>
                <c:pt idx="345">
                  <c:v>2016-06-29</c:v>
                </c:pt>
                <c:pt idx="346">
                  <c:v>2016-06-30</c:v>
                </c:pt>
                <c:pt idx="347">
                  <c:v>2016-07-01</c:v>
                </c:pt>
                <c:pt idx="348">
                  <c:v>2016-07-05</c:v>
                </c:pt>
                <c:pt idx="349">
                  <c:v>2016-07-06</c:v>
                </c:pt>
                <c:pt idx="350">
                  <c:v>2016-07-07</c:v>
                </c:pt>
                <c:pt idx="351">
                  <c:v>2016-07-08</c:v>
                </c:pt>
                <c:pt idx="352">
                  <c:v>2016-07-11</c:v>
                </c:pt>
                <c:pt idx="353">
                  <c:v>2016-07-12</c:v>
                </c:pt>
                <c:pt idx="354">
                  <c:v>2016-07-13</c:v>
                </c:pt>
                <c:pt idx="355">
                  <c:v>2016-07-14</c:v>
                </c:pt>
                <c:pt idx="356">
                  <c:v>2016-07-15</c:v>
                </c:pt>
                <c:pt idx="357">
                  <c:v>2016-07-18</c:v>
                </c:pt>
                <c:pt idx="358">
                  <c:v>2016-07-19</c:v>
                </c:pt>
                <c:pt idx="359">
                  <c:v>2016-07-20</c:v>
                </c:pt>
                <c:pt idx="360">
                  <c:v>2016-07-21</c:v>
                </c:pt>
                <c:pt idx="361">
                  <c:v>2016-07-22</c:v>
                </c:pt>
                <c:pt idx="362">
                  <c:v>2016-07-25</c:v>
                </c:pt>
                <c:pt idx="363">
                  <c:v>2016-07-26</c:v>
                </c:pt>
                <c:pt idx="364">
                  <c:v>2016-07-27</c:v>
                </c:pt>
                <c:pt idx="365">
                  <c:v>2016-07-28</c:v>
                </c:pt>
                <c:pt idx="366">
                  <c:v>2016-07-29</c:v>
                </c:pt>
                <c:pt idx="367">
                  <c:v>2016-08-01</c:v>
                </c:pt>
                <c:pt idx="368">
                  <c:v>2016-08-02</c:v>
                </c:pt>
                <c:pt idx="369">
                  <c:v>2016-08-03</c:v>
                </c:pt>
                <c:pt idx="370">
                  <c:v>2016-08-04</c:v>
                </c:pt>
                <c:pt idx="371">
                  <c:v>2016-08-05</c:v>
                </c:pt>
                <c:pt idx="372">
                  <c:v>2016-08-08</c:v>
                </c:pt>
                <c:pt idx="373">
                  <c:v>2016-08-09</c:v>
                </c:pt>
                <c:pt idx="374">
                  <c:v>2016-08-10</c:v>
                </c:pt>
                <c:pt idx="375">
                  <c:v>2016-08-11</c:v>
                </c:pt>
                <c:pt idx="376">
                  <c:v>2016-08-12</c:v>
                </c:pt>
                <c:pt idx="377">
                  <c:v>2016-08-15</c:v>
                </c:pt>
                <c:pt idx="378">
                  <c:v>2016-08-16</c:v>
                </c:pt>
                <c:pt idx="379">
                  <c:v>2016-08-17</c:v>
                </c:pt>
                <c:pt idx="380">
                  <c:v>2016-08-18</c:v>
                </c:pt>
                <c:pt idx="381">
                  <c:v>2016-08-19</c:v>
                </c:pt>
                <c:pt idx="382">
                  <c:v>2016-08-22</c:v>
                </c:pt>
                <c:pt idx="383">
                  <c:v>2016-08-23</c:v>
                </c:pt>
                <c:pt idx="384">
                  <c:v>2016-08-24</c:v>
                </c:pt>
                <c:pt idx="385">
                  <c:v>2016-08-25</c:v>
                </c:pt>
                <c:pt idx="386">
                  <c:v>2016-08-26</c:v>
                </c:pt>
                <c:pt idx="387">
                  <c:v>2016-08-29</c:v>
                </c:pt>
                <c:pt idx="388">
                  <c:v>2016-08-30</c:v>
                </c:pt>
                <c:pt idx="389">
                  <c:v>2016-08-31</c:v>
                </c:pt>
                <c:pt idx="390">
                  <c:v>2016-09-01</c:v>
                </c:pt>
                <c:pt idx="391">
                  <c:v>2016-09-02</c:v>
                </c:pt>
                <c:pt idx="392">
                  <c:v>2016-09-06</c:v>
                </c:pt>
                <c:pt idx="393">
                  <c:v>2016-09-07</c:v>
                </c:pt>
                <c:pt idx="394">
                  <c:v>2016-09-08</c:v>
                </c:pt>
                <c:pt idx="395">
                  <c:v>2016-09-09</c:v>
                </c:pt>
                <c:pt idx="396">
                  <c:v>2016-09-12</c:v>
                </c:pt>
                <c:pt idx="397">
                  <c:v>2016-09-13</c:v>
                </c:pt>
                <c:pt idx="398">
                  <c:v>2016-09-14</c:v>
                </c:pt>
                <c:pt idx="399">
                  <c:v>2016-09-15</c:v>
                </c:pt>
                <c:pt idx="400">
                  <c:v>2016-09-16</c:v>
                </c:pt>
                <c:pt idx="401">
                  <c:v>2016-09-19</c:v>
                </c:pt>
                <c:pt idx="402">
                  <c:v>2016-09-20</c:v>
                </c:pt>
                <c:pt idx="403">
                  <c:v>2016-09-21</c:v>
                </c:pt>
                <c:pt idx="404">
                  <c:v>2016-09-22</c:v>
                </c:pt>
                <c:pt idx="405">
                  <c:v>2016-09-23</c:v>
                </c:pt>
                <c:pt idx="406">
                  <c:v>2016-09-26</c:v>
                </c:pt>
                <c:pt idx="407">
                  <c:v>2016-09-27</c:v>
                </c:pt>
                <c:pt idx="408">
                  <c:v>2016-09-28</c:v>
                </c:pt>
                <c:pt idx="409">
                  <c:v>2016-09-29</c:v>
                </c:pt>
                <c:pt idx="410">
                  <c:v>2016-09-30</c:v>
                </c:pt>
                <c:pt idx="411">
                  <c:v>2016-10-03</c:v>
                </c:pt>
                <c:pt idx="412">
                  <c:v>2016-10-04</c:v>
                </c:pt>
                <c:pt idx="413">
                  <c:v>2016-10-05</c:v>
                </c:pt>
                <c:pt idx="414">
                  <c:v>2016-10-06</c:v>
                </c:pt>
                <c:pt idx="415">
                  <c:v>2016-10-07</c:v>
                </c:pt>
                <c:pt idx="416">
                  <c:v>2016-10-10</c:v>
                </c:pt>
                <c:pt idx="417">
                  <c:v>2016-10-11</c:v>
                </c:pt>
                <c:pt idx="418">
                  <c:v>2016-10-12</c:v>
                </c:pt>
                <c:pt idx="419">
                  <c:v>2016-10-13</c:v>
                </c:pt>
                <c:pt idx="420">
                  <c:v>2016-10-14</c:v>
                </c:pt>
                <c:pt idx="421">
                  <c:v>2016-10-17</c:v>
                </c:pt>
                <c:pt idx="422">
                  <c:v>2016-10-18</c:v>
                </c:pt>
                <c:pt idx="423">
                  <c:v>2016-10-19</c:v>
                </c:pt>
                <c:pt idx="424">
                  <c:v>2016-10-20</c:v>
                </c:pt>
                <c:pt idx="425">
                  <c:v>2016-10-21</c:v>
                </c:pt>
                <c:pt idx="426">
                  <c:v>2016-10-24</c:v>
                </c:pt>
                <c:pt idx="427">
                  <c:v>2016-10-25</c:v>
                </c:pt>
                <c:pt idx="428">
                  <c:v>2016-10-26</c:v>
                </c:pt>
                <c:pt idx="429">
                  <c:v>2016-10-27</c:v>
                </c:pt>
                <c:pt idx="430">
                  <c:v>2016-10-28</c:v>
                </c:pt>
                <c:pt idx="431">
                  <c:v>2016-10-31</c:v>
                </c:pt>
                <c:pt idx="432">
                  <c:v>2016-11-01</c:v>
                </c:pt>
                <c:pt idx="433">
                  <c:v>2016-11-02</c:v>
                </c:pt>
                <c:pt idx="434">
                  <c:v>2016-11-03</c:v>
                </c:pt>
                <c:pt idx="435">
                  <c:v>2016-11-04</c:v>
                </c:pt>
                <c:pt idx="436">
                  <c:v>2016-11-07</c:v>
                </c:pt>
                <c:pt idx="437">
                  <c:v>2016-11-08</c:v>
                </c:pt>
                <c:pt idx="438">
                  <c:v>2016-11-09</c:v>
                </c:pt>
                <c:pt idx="439">
                  <c:v>2016-11-10</c:v>
                </c:pt>
                <c:pt idx="440">
                  <c:v>2016-11-11</c:v>
                </c:pt>
                <c:pt idx="441">
                  <c:v>2016-11-14</c:v>
                </c:pt>
                <c:pt idx="442">
                  <c:v>2016-11-15</c:v>
                </c:pt>
                <c:pt idx="443">
                  <c:v>2016-11-16</c:v>
                </c:pt>
                <c:pt idx="444">
                  <c:v>2016-11-17</c:v>
                </c:pt>
                <c:pt idx="445">
                  <c:v>2016-11-18</c:v>
                </c:pt>
                <c:pt idx="446">
                  <c:v>2016-11-21</c:v>
                </c:pt>
                <c:pt idx="447">
                  <c:v>2016-11-22</c:v>
                </c:pt>
                <c:pt idx="448">
                  <c:v>2016-11-23</c:v>
                </c:pt>
                <c:pt idx="449">
                  <c:v>2016-11-25</c:v>
                </c:pt>
                <c:pt idx="450">
                  <c:v>2016-11-28</c:v>
                </c:pt>
                <c:pt idx="451">
                  <c:v>2016-11-29</c:v>
                </c:pt>
                <c:pt idx="452">
                  <c:v>2016-11-30</c:v>
                </c:pt>
                <c:pt idx="453">
                  <c:v>2016-12-01</c:v>
                </c:pt>
                <c:pt idx="454">
                  <c:v>2016-12-02</c:v>
                </c:pt>
                <c:pt idx="455">
                  <c:v>2016-12-05</c:v>
                </c:pt>
                <c:pt idx="456">
                  <c:v>2016-12-06</c:v>
                </c:pt>
                <c:pt idx="457">
                  <c:v>2016-12-07</c:v>
                </c:pt>
                <c:pt idx="458">
                  <c:v>2016-12-08</c:v>
                </c:pt>
                <c:pt idx="459">
                  <c:v>2016-12-09</c:v>
                </c:pt>
                <c:pt idx="460">
                  <c:v>2016-12-12</c:v>
                </c:pt>
                <c:pt idx="461">
                  <c:v>2016-12-13</c:v>
                </c:pt>
                <c:pt idx="462">
                  <c:v>2016-12-14</c:v>
                </c:pt>
                <c:pt idx="463">
                  <c:v>2016-12-15</c:v>
                </c:pt>
                <c:pt idx="464">
                  <c:v>2016-12-16</c:v>
                </c:pt>
                <c:pt idx="465">
                  <c:v>2016-12-19</c:v>
                </c:pt>
                <c:pt idx="466">
                  <c:v>2016-12-20</c:v>
                </c:pt>
                <c:pt idx="467">
                  <c:v>2016-12-21</c:v>
                </c:pt>
                <c:pt idx="468">
                  <c:v>2016-12-22</c:v>
                </c:pt>
                <c:pt idx="469">
                  <c:v>2016-12-23</c:v>
                </c:pt>
                <c:pt idx="470">
                  <c:v>2016-12-27</c:v>
                </c:pt>
                <c:pt idx="471">
                  <c:v>2016-12-28</c:v>
                </c:pt>
                <c:pt idx="472">
                  <c:v>2016-12-29</c:v>
                </c:pt>
                <c:pt idx="473">
                  <c:v>2016-12-30</c:v>
                </c:pt>
                <c:pt idx="474">
                  <c:v>2017-01-03</c:v>
                </c:pt>
                <c:pt idx="475">
                  <c:v>2017-01-04</c:v>
                </c:pt>
                <c:pt idx="476">
                  <c:v>2017-01-05</c:v>
                </c:pt>
                <c:pt idx="477">
                  <c:v>2017-01-06</c:v>
                </c:pt>
                <c:pt idx="478">
                  <c:v>2017-01-09</c:v>
                </c:pt>
                <c:pt idx="479">
                  <c:v>2017-01-10</c:v>
                </c:pt>
                <c:pt idx="480">
                  <c:v>2017-01-11</c:v>
                </c:pt>
                <c:pt idx="481">
                  <c:v>2017-01-12</c:v>
                </c:pt>
                <c:pt idx="482">
                  <c:v>2017-01-13</c:v>
                </c:pt>
                <c:pt idx="483">
                  <c:v>2017-01-17</c:v>
                </c:pt>
                <c:pt idx="484">
                  <c:v>2017-01-18</c:v>
                </c:pt>
                <c:pt idx="485">
                  <c:v>2017-01-19</c:v>
                </c:pt>
                <c:pt idx="486">
                  <c:v>2017-01-20</c:v>
                </c:pt>
                <c:pt idx="487">
                  <c:v>2017-01-23</c:v>
                </c:pt>
                <c:pt idx="488">
                  <c:v>2017-01-24</c:v>
                </c:pt>
                <c:pt idx="489">
                  <c:v>2017-01-25</c:v>
                </c:pt>
                <c:pt idx="490">
                  <c:v>2017-01-26</c:v>
                </c:pt>
                <c:pt idx="491">
                  <c:v>2017-01-27</c:v>
                </c:pt>
                <c:pt idx="492">
                  <c:v>2017-01-30</c:v>
                </c:pt>
                <c:pt idx="493">
                  <c:v>2017-01-31</c:v>
                </c:pt>
                <c:pt idx="494">
                  <c:v>2017-02-01</c:v>
                </c:pt>
                <c:pt idx="495">
                  <c:v>2017-02-02</c:v>
                </c:pt>
                <c:pt idx="496">
                  <c:v>2017-02-03</c:v>
                </c:pt>
                <c:pt idx="497">
                  <c:v>2017-02-06</c:v>
                </c:pt>
                <c:pt idx="498">
                  <c:v>2017-02-07</c:v>
                </c:pt>
                <c:pt idx="499">
                  <c:v>2017-02-08</c:v>
                </c:pt>
                <c:pt idx="500">
                  <c:v>2017-02-09</c:v>
                </c:pt>
                <c:pt idx="501">
                  <c:v>2017-02-10</c:v>
                </c:pt>
                <c:pt idx="502">
                  <c:v>2017-02-13</c:v>
                </c:pt>
                <c:pt idx="503">
                  <c:v>2017-02-14</c:v>
                </c:pt>
                <c:pt idx="504">
                  <c:v>2017-02-15</c:v>
                </c:pt>
                <c:pt idx="505">
                  <c:v>2017-02-16</c:v>
                </c:pt>
              </c:strCache>
            </c:strRef>
          </c:cat>
          <c:val>
            <c:numRef>
              <c:f>'Chart Data'!$B$2:$B$507</c:f>
              <c:numCache>
                <c:formatCode>$0</c:formatCode>
                <c:ptCount val="506"/>
                <c:pt idx="0">
                  <c:v>127.830002</c:v>
                </c:pt>
                <c:pt idx="1">
                  <c:v>128.720001</c:v>
                </c:pt>
                <c:pt idx="2">
                  <c:v>128.449997</c:v>
                </c:pt>
                <c:pt idx="3">
                  <c:v>129.5</c:v>
                </c:pt>
                <c:pt idx="4">
                  <c:v>133</c:v>
                </c:pt>
                <c:pt idx="5">
                  <c:v>132.169998</c:v>
                </c:pt>
                <c:pt idx="6">
                  <c:v>128.789993</c:v>
                </c:pt>
                <c:pt idx="7">
                  <c:v>130.419998</c:v>
                </c:pt>
                <c:pt idx="8">
                  <c:v>128.460007</c:v>
                </c:pt>
                <c:pt idx="9">
                  <c:v>129.089996</c:v>
                </c:pt>
                <c:pt idx="10">
                  <c:v>129.360001</c:v>
                </c:pt>
                <c:pt idx="11">
                  <c:v>128.539993</c:v>
                </c:pt>
                <c:pt idx="12">
                  <c:v>126.410004</c:v>
                </c:pt>
                <c:pt idx="13">
                  <c:v>126.599998</c:v>
                </c:pt>
                <c:pt idx="14">
                  <c:v>127.139999</c:v>
                </c:pt>
                <c:pt idx="15">
                  <c:v>124.510002</c:v>
                </c:pt>
                <c:pt idx="16">
                  <c:v>122.239998</c:v>
                </c:pt>
                <c:pt idx="17">
                  <c:v>124.449997</c:v>
                </c:pt>
                <c:pt idx="18">
                  <c:v>123.589996</c:v>
                </c:pt>
                <c:pt idx="19">
                  <c:v>124.949997</c:v>
                </c:pt>
                <c:pt idx="20">
                  <c:v>127.040001</c:v>
                </c:pt>
                <c:pt idx="21">
                  <c:v>128.470001</c:v>
                </c:pt>
                <c:pt idx="22">
                  <c:v>127.5</c:v>
                </c:pt>
                <c:pt idx="23">
                  <c:v>125.900002</c:v>
                </c:pt>
                <c:pt idx="24">
                  <c:v>127.209999</c:v>
                </c:pt>
                <c:pt idx="25">
                  <c:v>126.690002</c:v>
                </c:pt>
                <c:pt idx="26">
                  <c:v>123.379997</c:v>
                </c:pt>
                <c:pt idx="27">
                  <c:v>124.239998</c:v>
                </c:pt>
                <c:pt idx="28">
                  <c:v>123.25</c:v>
                </c:pt>
                <c:pt idx="29">
                  <c:v>126.370003</c:v>
                </c:pt>
                <c:pt idx="30">
                  <c:v>124.43</c:v>
                </c:pt>
                <c:pt idx="31">
                  <c:v>124.25</c:v>
                </c:pt>
                <c:pt idx="32">
                  <c:v>125.32</c:v>
                </c:pt>
                <c:pt idx="33">
                  <c:v>127.349998</c:v>
                </c:pt>
                <c:pt idx="34">
                  <c:v>126.010002</c:v>
                </c:pt>
                <c:pt idx="35">
                  <c:v>125.599998</c:v>
                </c:pt>
                <c:pt idx="36">
                  <c:v>126.559998</c:v>
                </c:pt>
                <c:pt idx="37">
                  <c:v>127.099998</c:v>
                </c:pt>
                <c:pt idx="38">
                  <c:v>126.849998</c:v>
                </c:pt>
                <c:pt idx="39">
                  <c:v>126.300003</c:v>
                </c:pt>
                <c:pt idx="40">
                  <c:v>126.779999</c:v>
                </c:pt>
                <c:pt idx="41">
                  <c:v>126.169998</c:v>
                </c:pt>
                <c:pt idx="42">
                  <c:v>124.75</c:v>
                </c:pt>
                <c:pt idx="43">
                  <c:v>127.599998</c:v>
                </c:pt>
                <c:pt idx="44">
                  <c:v>126.910004</c:v>
                </c:pt>
                <c:pt idx="45">
                  <c:v>128.619995</c:v>
                </c:pt>
                <c:pt idx="46">
                  <c:v>129.669998</c:v>
                </c:pt>
                <c:pt idx="47">
                  <c:v>130.279999</c:v>
                </c:pt>
                <c:pt idx="48">
                  <c:v>132.649994</c:v>
                </c:pt>
                <c:pt idx="49">
                  <c:v>130.559998</c:v>
                </c:pt>
                <c:pt idx="50">
                  <c:v>128.639999</c:v>
                </c:pt>
                <c:pt idx="51">
                  <c:v>125.150002</c:v>
                </c:pt>
                <c:pt idx="52">
                  <c:v>128.949997</c:v>
                </c:pt>
                <c:pt idx="53">
                  <c:v>128.699997</c:v>
                </c:pt>
                <c:pt idx="54">
                  <c:v>125.800003</c:v>
                </c:pt>
                <c:pt idx="55">
                  <c:v>125.010002</c:v>
                </c:pt>
                <c:pt idx="56">
                  <c:v>125.260002</c:v>
                </c:pt>
                <c:pt idx="57">
                  <c:v>127.620003</c:v>
                </c:pt>
                <c:pt idx="58">
                  <c:v>126.32</c:v>
                </c:pt>
                <c:pt idx="59">
                  <c:v>125.870003</c:v>
                </c:pt>
                <c:pt idx="60">
                  <c:v>126.010002</c:v>
                </c:pt>
                <c:pt idx="61">
                  <c:v>128.949997</c:v>
                </c:pt>
                <c:pt idx="62">
                  <c:v>128.770004</c:v>
                </c:pt>
                <c:pt idx="63">
                  <c:v>130.190002</c:v>
                </c:pt>
                <c:pt idx="64">
                  <c:v>130.070007</c:v>
                </c:pt>
                <c:pt idx="65">
                  <c:v>130.059998</c:v>
                </c:pt>
                <c:pt idx="66">
                  <c:v>131.389999</c:v>
                </c:pt>
                <c:pt idx="67">
                  <c:v>132.539993</c:v>
                </c:pt>
                <c:pt idx="68">
                  <c:v>129.619995</c:v>
                </c:pt>
                <c:pt idx="69">
                  <c:v>132.039993</c:v>
                </c:pt>
                <c:pt idx="70">
                  <c:v>131.779999</c:v>
                </c:pt>
                <c:pt idx="71">
                  <c:v>130.279999</c:v>
                </c:pt>
                <c:pt idx="72">
                  <c:v>130.539993</c:v>
                </c:pt>
                <c:pt idx="73">
                  <c:v>129.960007</c:v>
                </c:pt>
                <c:pt idx="74">
                  <c:v>130.119995</c:v>
                </c:pt>
                <c:pt idx="75">
                  <c:v>129.360001</c:v>
                </c:pt>
                <c:pt idx="76">
                  <c:v>128.649994</c:v>
                </c:pt>
                <c:pt idx="77">
                  <c:v>127.800003</c:v>
                </c:pt>
                <c:pt idx="78">
                  <c:v>127.419998</c:v>
                </c:pt>
                <c:pt idx="79">
                  <c:v>128.880005</c:v>
                </c:pt>
                <c:pt idx="80">
                  <c:v>128.589996</c:v>
                </c:pt>
                <c:pt idx="81">
                  <c:v>127.169998</c:v>
                </c:pt>
                <c:pt idx="82">
                  <c:v>126.919998</c:v>
                </c:pt>
                <c:pt idx="83">
                  <c:v>127.599998</c:v>
                </c:pt>
                <c:pt idx="84">
                  <c:v>127.300003</c:v>
                </c:pt>
                <c:pt idx="85">
                  <c:v>127.879997</c:v>
                </c:pt>
                <c:pt idx="86">
                  <c:v>126.599998</c:v>
                </c:pt>
                <c:pt idx="87">
                  <c:v>127.610001</c:v>
                </c:pt>
                <c:pt idx="88">
                  <c:v>127.029999</c:v>
                </c:pt>
                <c:pt idx="89">
                  <c:v>128.110001</c:v>
                </c:pt>
                <c:pt idx="90">
                  <c:v>127.5</c:v>
                </c:pt>
                <c:pt idx="91">
                  <c:v>126.75</c:v>
                </c:pt>
                <c:pt idx="92">
                  <c:v>124.529999</c:v>
                </c:pt>
                <c:pt idx="93">
                  <c:v>125.43</c:v>
                </c:pt>
                <c:pt idx="94">
                  <c:v>126.599998</c:v>
                </c:pt>
                <c:pt idx="95">
                  <c:v>126.440002</c:v>
                </c:pt>
                <c:pt idx="96">
                  <c:v>126</c:v>
                </c:pt>
                <c:pt idx="97">
                  <c:v>125.690002</c:v>
                </c:pt>
                <c:pt idx="98">
                  <c:v>122.57</c:v>
                </c:pt>
                <c:pt idx="99">
                  <c:v>120.07</c:v>
                </c:pt>
                <c:pt idx="100">
                  <c:v>123.279999</c:v>
                </c:pt>
                <c:pt idx="101">
                  <c:v>125.660004</c:v>
                </c:pt>
                <c:pt idx="102">
                  <c:v>125.610001</c:v>
                </c:pt>
                <c:pt idx="103">
                  <c:v>126.82</c:v>
                </c:pt>
                <c:pt idx="104">
                  <c:v>128.509995</c:v>
                </c:pt>
                <c:pt idx="105">
                  <c:v>129.619995</c:v>
                </c:pt>
                <c:pt idx="106">
                  <c:v>132.070007</c:v>
                </c:pt>
                <c:pt idx="107">
                  <c:v>130.75</c:v>
                </c:pt>
                <c:pt idx="108">
                  <c:v>125.220001</c:v>
                </c:pt>
                <c:pt idx="109">
                  <c:v>125.160004</c:v>
                </c:pt>
                <c:pt idx="110">
                  <c:v>124.5</c:v>
                </c:pt>
                <c:pt idx="111">
                  <c:v>122.769997</c:v>
                </c:pt>
                <c:pt idx="112">
                  <c:v>123.379997</c:v>
                </c:pt>
                <c:pt idx="113">
                  <c:v>122.989998</c:v>
                </c:pt>
                <c:pt idx="114">
                  <c:v>122.370003</c:v>
                </c:pt>
                <c:pt idx="115">
                  <c:v>121.300003</c:v>
                </c:pt>
                <c:pt idx="116">
                  <c:v>118.440002</c:v>
                </c:pt>
                <c:pt idx="117">
                  <c:v>114.639999</c:v>
                </c:pt>
                <c:pt idx="118">
                  <c:v>115.400002</c:v>
                </c:pt>
                <c:pt idx="119">
                  <c:v>115.129997</c:v>
                </c:pt>
                <c:pt idx="120">
                  <c:v>115.519997</c:v>
                </c:pt>
                <c:pt idx="121">
                  <c:v>119.720001</c:v>
                </c:pt>
                <c:pt idx="122">
                  <c:v>113.489998</c:v>
                </c:pt>
                <c:pt idx="123">
                  <c:v>115.239998</c:v>
                </c:pt>
                <c:pt idx="124">
                  <c:v>115.150002</c:v>
                </c:pt>
                <c:pt idx="125">
                  <c:v>115.959999</c:v>
                </c:pt>
                <c:pt idx="126">
                  <c:v>117.160004</c:v>
                </c:pt>
                <c:pt idx="127">
                  <c:v>116.5</c:v>
                </c:pt>
                <c:pt idx="128">
                  <c:v>115.010002</c:v>
                </c:pt>
                <c:pt idx="129">
                  <c:v>112.650002</c:v>
                </c:pt>
                <c:pt idx="130">
                  <c:v>105.760002</c:v>
                </c:pt>
                <c:pt idx="131">
                  <c:v>103.120003</c:v>
                </c:pt>
                <c:pt idx="132">
                  <c:v>103.739998</c:v>
                </c:pt>
                <c:pt idx="133">
                  <c:v>109.690002</c:v>
                </c:pt>
                <c:pt idx="134">
                  <c:v>112.919998</c:v>
                </c:pt>
                <c:pt idx="135">
                  <c:v>113.290001</c:v>
                </c:pt>
                <c:pt idx="136">
                  <c:v>112.760002</c:v>
                </c:pt>
                <c:pt idx="137">
                  <c:v>107.720001</c:v>
                </c:pt>
                <c:pt idx="138">
                  <c:v>112.339996</c:v>
                </c:pt>
                <c:pt idx="139">
                  <c:v>110.370003</c:v>
                </c:pt>
                <c:pt idx="140">
                  <c:v>109.269997</c:v>
                </c:pt>
                <c:pt idx="141">
                  <c:v>112.309998</c:v>
                </c:pt>
                <c:pt idx="142">
                  <c:v>110.150002</c:v>
                </c:pt>
                <c:pt idx="143">
                  <c:v>112.57</c:v>
                </c:pt>
                <c:pt idx="144">
                  <c:v>114.209999</c:v>
                </c:pt>
                <c:pt idx="145">
                  <c:v>115.309998</c:v>
                </c:pt>
                <c:pt idx="146">
                  <c:v>116.279999</c:v>
                </c:pt>
                <c:pt idx="147">
                  <c:v>116.410004</c:v>
                </c:pt>
                <c:pt idx="148">
                  <c:v>113.919998</c:v>
                </c:pt>
                <c:pt idx="149">
                  <c:v>113.449997</c:v>
                </c:pt>
                <c:pt idx="150">
                  <c:v>115.209999</c:v>
                </c:pt>
                <c:pt idx="151">
                  <c:v>113.400002</c:v>
                </c:pt>
                <c:pt idx="152">
                  <c:v>114.32</c:v>
                </c:pt>
                <c:pt idx="153">
                  <c:v>115</c:v>
                </c:pt>
                <c:pt idx="154">
                  <c:v>114.709999</c:v>
                </c:pt>
                <c:pt idx="155">
                  <c:v>112.440002</c:v>
                </c:pt>
                <c:pt idx="156">
                  <c:v>109.059998</c:v>
                </c:pt>
                <c:pt idx="157">
                  <c:v>110.300003</c:v>
                </c:pt>
                <c:pt idx="158">
                  <c:v>109.580002</c:v>
                </c:pt>
                <c:pt idx="159">
                  <c:v>110.379997</c:v>
                </c:pt>
                <c:pt idx="160">
                  <c:v>110.779999</c:v>
                </c:pt>
                <c:pt idx="161">
                  <c:v>111.309998</c:v>
                </c:pt>
                <c:pt idx="162">
                  <c:v>110.779999</c:v>
                </c:pt>
                <c:pt idx="163">
                  <c:v>109.5</c:v>
                </c:pt>
                <c:pt idx="164">
                  <c:v>112.120003</c:v>
                </c:pt>
                <c:pt idx="165">
                  <c:v>111.599998</c:v>
                </c:pt>
                <c:pt idx="166">
                  <c:v>111.790001</c:v>
                </c:pt>
                <c:pt idx="167">
                  <c:v>110.209999</c:v>
                </c:pt>
                <c:pt idx="168">
                  <c:v>111.860001</c:v>
                </c:pt>
                <c:pt idx="169">
                  <c:v>111.040001</c:v>
                </c:pt>
                <c:pt idx="170">
                  <c:v>111.730003</c:v>
                </c:pt>
                <c:pt idx="171">
                  <c:v>113.769997</c:v>
                </c:pt>
                <c:pt idx="172">
                  <c:v>113.760002</c:v>
                </c:pt>
                <c:pt idx="173">
                  <c:v>115.5</c:v>
                </c:pt>
                <c:pt idx="174">
                  <c:v>119.080002</c:v>
                </c:pt>
                <c:pt idx="175">
                  <c:v>115.279999</c:v>
                </c:pt>
                <c:pt idx="176">
                  <c:v>114.550003</c:v>
                </c:pt>
                <c:pt idx="177">
                  <c:v>119.269997</c:v>
                </c:pt>
                <c:pt idx="178">
                  <c:v>120.529999</c:v>
                </c:pt>
                <c:pt idx="179">
                  <c:v>119.5</c:v>
                </c:pt>
                <c:pt idx="180">
                  <c:v>121.18</c:v>
                </c:pt>
                <c:pt idx="181">
                  <c:v>122.57</c:v>
                </c:pt>
                <c:pt idx="182">
                  <c:v>122</c:v>
                </c:pt>
                <c:pt idx="183">
                  <c:v>120.919998</c:v>
                </c:pt>
                <c:pt idx="184">
                  <c:v>121.059998</c:v>
                </c:pt>
                <c:pt idx="185">
                  <c:v>120.57</c:v>
                </c:pt>
                <c:pt idx="186">
                  <c:v>116.769997</c:v>
                </c:pt>
                <c:pt idx="187">
                  <c:v>116.110001</c:v>
                </c:pt>
                <c:pt idx="188">
                  <c:v>115.720001</c:v>
                </c:pt>
                <c:pt idx="189">
                  <c:v>112.339996</c:v>
                </c:pt>
                <c:pt idx="190">
                  <c:v>114.18</c:v>
                </c:pt>
                <c:pt idx="191">
                  <c:v>113.690002</c:v>
                </c:pt>
                <c:pt idx="192">
                  <c:v>117.290001</c:v>
                </c:pt>
                <c:pt idx="193">
                  <c:v>118.779999</c:v>
                </c:pt>
                <c:pt idx="194">
                  <c:v>119.300003</c:v>
                </c:pt>
                <c:pt idx="195">
                  <c:v>117.75</c:v>
                </c:pt>
                <c:pt idx="196">
                  <c:v>118.879997</c:v>
                </c:pt>
                <c:pt idx="197">
                  <c:v>118.029999</c:v>
                </c:pt>
                <c:pt idx="198">
                  <c:v>117.809998</c:v>
                </c:pt>
                <c:pt idx="199">
                  <c:v>118.300003</c:v>
                </c:pt>
                <c:pt idx="200">
                  <c:v>117.339996</c:v>
                </c:pt>
                <c:pt idx="201">
                  <c:v>116.279999</c:v>
                </c:pt>
                <c:pt idx="202">
                  <c:v>115.199997</c:v>
                </c:pt>
                <c:pt idx="203">
                  <c:v>119.029999</c:v>
                </c:pt>
                <c:pt idx="204">
                  <c:v>118.279999</c:v>
                </c:pt>
                <c:pt idx="205">
                  <c:v>118.230003</c:v>
                </c:pt>
                <c:pt idx="206">
                  <c:v>115.620003</c:v>
                </c:pt>
                <c:pt idx="207">
                  <c:v>116.169998</c:v>
                </c:pt>
                <c:pt idx="208">
                  <c:v>113.18</c:v>
                </c:pt>
                <c:pt idx="209">
                  <c:v>112.480003</c:v>
                </c:pt>
                <c:pt idx="210">
                  <c:v>110.489998</c:v>
                </c:pt>
                <c:pt idx="211">
                  <c:v>111.339996</c:v>
                </c:pt>
                <c:pt idx="212">
                  <c:v>108.980003</c:v>
                </c:pt>
                <c:pt idx="213">
                  <c:v>106.029999</c:v>
                </c:pt>
                <c:pt idx="214">
                  <c:v>107.330002</c:v>
                </c:pt>
                <c:pt idx="215">
                  <c:v>107.230003</c:v>
                </c:pt>
                <c:pt idx="216">
                  <c:v>108.610001</c:v>
                </c:pt>
                <c:pt idx="217">
                  <c:v>108.029999</c:v>
                </c:pt>
                <c:pt idx="218">
                  <c:v>106.82</c:v>
                </c:pt>
                <c:pt idx="219">
                  <c:v>108.739998</c:v>
                </c:pt>
                <c:pt idx="220">
                  <c:v>107.32</c:v>
                </c:pt>
                <c:pt idx="221">
                  <c:v>105.260002</c:v>
                </c:pt>
                <c:pt idx="222">
                  <c:v>105.349998</c:v>
                </c:pt>
                <c:pt idx="223">
                  <c:v>102.709999</c:v>
                </c:pt>
                <c:pt idx="224">
                  <c:v>100.699997</c:v>
                </c:pt>
                <c:pt idx="225">
                  <c:v>96.449997</c:v>
                </c:pt>
                <c:pt idx="226">
                  <c:v>96.959999</c:v>
                </c:pt>
                <c:pt idx="227">
                  <c:v>98.529999</c:v>
                </c:pt>
                <c:pt idx="228">
                  <c:v>99.959999</c:v>
                </c:pt>
                <c:pt idx="229">
                  <c:v>97.389999</c:v>
                </c:pt>
                <c:pt idx="230">
                  <c:v>99.519997</c:v>
                </c:pt>
                <c:pt idx="231">
                  <c:v>97.129997</c:v>
                </c:pt>
                <c:pt idx="232">
                  <c:v>96.660004</c:v>
                </c:pt>
                <c:pt idx="233">
                  <c:v>96.790001</c:v>
                </c:pt>
                <c:pt idx="234">
                  <c:v>96.300003</c:v>
                </c:pt>
                <c:pt idx="235">
                  <c:v>101.419998</c:v>
                </c:pt>
                <c:pt idx="236">
                  <c:v>99.440002</c:v>
                </c:pt>
                <c:pt idx="237">
                  <c:v>99.989998</c:v>
                </c:pt>
                <c:pt idx="238">
                  <c:v>93.419998</c:v>
                </c:pt>
                <c:pt idx="239">
                  <c:v>94.089996</c:v>
                </c:pt>
                <c:pt idx="240">
                  <c:v>97.339996</c:v>
                </c:pt>
                <c:pt idx="241">
                  <c:v>96.43</c:v>
                </c:pt>
                <c:pt idx="242">
                  <c:v>94.480003</c:v>
                </c:pt>
                <c:pt idx="243">
                  <c:v>96.349998</c:v>
                </c:pt>
                <c:pt idx="244">
                  <c:v>96.599998</c:v>
                </c:pt>
                <c:pt idx="245">
                  <c:v>94.019997</c:v>
                </c:pt>
                <c:pt idx="246">
                  <c:v>95.010002</c:v>
                </c:pt>
                <c:pt idx="247">
                  <c:v>94.989998</c:v>
                </c:pt>
                <c:pt idx="248">
                  <c:v>94.269997</c:v>
                </c:pt>
                <c:pt idx="249">
                  <c:v>93.699997</c:v>
                </c:pt>
                <c:pt idx="250">
                  <c:v>93.989998</c:v>
                </c:pt>
                <c:pt idx="251">
                  <c:v>96.639999</c:v>
                </c:pt>
                <c:pt idx="252">
                  <c:v>98.120003</c:v>
                </c:pt>
                <c:pt idx="253">
                  <c:v>96.260002</c:v>
                </c:pt>
                <c:pt idx="254">
                  <c:v>96.040001</c:v>
                </c:pt>
                <c:pt idx="255">
                  <c:v>96.879997</c:v>
                </c:pt>
                <c:pt idx="256">
                  <c:v>94.690002</c:v>
                </c:pt>
                <c:pt idx="257">
                  <c:v>96.099998</c:v>
                </c:pt>
                <c:pt idx="258">
                  <c:v>96.760002</c:v>
                </c:pt>
                <c:pt idx="259">
                  <c:v>96.910004</c:v>
                </c:pt>
                <c:pt idx="260">
                  <c:v>96.690002</c:v>
                </c:pt>
                <c:pt idx="261">
                  <c:v>100.529999</c:v>
                </c:pt>
                <c:pt idx="262">
                  <c:v>100.75</c:v>
                </c:pt>
                <c:pt idx="263">
                  <c:v>101.5</c:v>
                </c:pt>
                <c:pt idx="264">
                  <c:v>103.010002</c:v>
                </c:pt>
                <c:pt idx="265">
                  <c:v>101.870003</c:v>
                </c:pt>
                <c:pt idx="266">
                  <c:v>101.029999</c:v>
                </c:pt>
                <c:pt idx="267">
                  <c:v>101.120003</c:v>
                </c:pt>
                <c:pt idx="268">
                  <c:v>101.169998</c:v>
                </c:pt>
                <c:pt idx="269">
                  <c:v>102.260002</c:v>
                </c:pt>
                <c:pt idx="270">
                  <c:v>102.519997</c:v>
                </c:pt>
                <c:pt idx="271">
                  <c:v>104.580002</c:v>
                </c:pt>
                <c:pt idx="272">
                  <c:v>105.970001</c:v>
                </c:pt>
                <c:pt idx="273">
                  <c:v>105.800003</c:v>
                </c:pt>
                <c:pt idx="274">
                  <c:v>105.919998</c:v>
                </c:pt>
                <c:pt idx="275">
                  <c:v>105.910004</c:v>
                </c:pt>
                <c:pt idx="276">
                  <c:v>106.720001</c:v>
                </c:pt>
                <c:pt idx="277">
                  <c:v>106.129997</c:v>
                </c:pt>
                <c:pt idx="278">
                  <c:v>105.669998</c:v>
                </c:pt>
                <c:pt idx="279">
                  <c:v>105.190002</c:v>
                </c:pt>
                <c:pt idx="280">
                  <c:v>107.68</c:v>
                </c:pt>
                <c:pt idx="281">
                  <c:v>109.559998</c:v>
                </c:pt>
                <c:pt idx="282">
                  <c:v>108.989998</c:v>
                </c:pt>
                <c:pt idx="283">
                  <c:v>109.989998</c:v>
                </c:pt>
                <c:pt idx="284">
                  <c:v>111.120003</c:v>
                </c:pt>
                <c:pt idx="285">
                  <c:v>109.809998</c:v>
                </c:pt>
                <c:pt idx="286">
                  <c:v>110.959999</c:v>
                </c:pt>
                <c:pt idx="287">
                  <c:v>108.540001</c:v>
                </c:pt>
                <c:pt idx="288">
                  <c:v>108.660004</c:v>
                </c:pt>
                <c:pt idx="289">
                  <c:v>109.019997</c:v>
                </c:pt>
                <c:pt idx="290">
                  <c:v>110.440002</c:v>
                </c:pt>
                <c:pt idx="291">
                  <c:v>112.040001</c:v>
                </c:pt>
                <c:pt idx="292">
                  <c:v>112.099998</c:v>
                </c:pt>
                <c:pt idx="293">
                  <c:v>109.849998</c:v>
                </c:pt>
                <c:pt idx="294">
                  <c:v>107.480003</c:v>
                </c:pt>
                <c:pt idx="295">
                  <c:v>106.910004</c:v>
                </c:pt>
                <c:pt idx="296">
                  <c:v>107.129997</c:v>
                </c:pt>
                <c:pt idx="297">
                  <c:v>105.970001</c:v>
                </c:pt>
                <c:pt idx="298">
                  <c:v>105.68</c:v>
                </c:pt>
                <c:pt idx="299">
                  <c:v>105.080002</c:v>
                </c:pt>
                <c:pt idx="300">
                  <c:v>104.349998</c:v>
                </c:pt>
                <c:pt idx="301">
                  <c:v>97.82</c:v>
                </c:pt>
                <c:pt idx="302">
                  <c:v>94.830002</c:v>
                </c:pt>
                <c:pt idx="303">
                  <c:v>93.739998</c:v>
                </c:pt>
                <c:pt idx="304">
                  <c:v>93.639999</c:v>
                </c:pt>
                <c:pt idx="305">
                  <c:v>95.18</c:v>
                </c:pt>
                <c:pt idx="306">
                  <c:v>94.190002</c:v>
                </c:pt>
                <c:pt idx="307">
                  <c:v>93.239998</c:v>
                </c:pt>
                <c:pt idx="308">
                  <c:v>92.720001</c:v>
                </c:pt>
                <c:pt idx="309">
                  <c:v>92.790001</c:v>
                </c:pt>
                <c:pt idx="310">
                  <c:v>93.419998</c:v>
                </c:pt>
                <c:pt idx="311">
                  <c:v>92.510002</c:v>
                </c:pt>
                <c:pt idx="312">
                  <c:v>90.339996</c:v>
                </c:pt>
                <c:pt idx="313">
                  <c:v>90.519997</c:v>
                </c:pt>
                <c:pt idx="314">
                  <c:v>93.879997</c:v>
                </c:pt>
                <c:pt idx="315">
                  <c:v>93.489998</c:v>
                </c:pt>
                <c:pt idx="316">
                  <c:v>94.559998</c:v>
                </c:pt>
                <c:pt idx="317">
                  <c:v>94.199997</c:v>
                </c:pt>
                <c:pt idx="318">
                  <c:v>95.220001</c:v>
                </c:pt>
                <c:pt idx="319">
                  <c:v>96.43</c:v>
                </c:pt>
                <c:pt idx="320">
                  <c:v>97.900002</c:v>
                </c:pt>
                <c:pt idx="321">
                  <c:v>99.620003</c:v>
                </c:pt>
                <c:pt idx="322">
                  <c:v>100.410004</c:v>
                </c:pt>
                <c:pt idx="323">
                  <c:v>100.349998</c:v>
                </c:pt>
                <c:pt idx="324">
                  <c:v>99.860001</c:v>
                </c:pt>
                <c:pt idx="325">
                  <c:v>98.459999</c:v>
                </c:pt>
                <c:pt idx="326">
                  <c:v>97.720001</c:v>
                </c:pt>
                <c:pt idx="327">
                  <c:v>97.919998</c:v>
                </c:pt>
                <c:pt idx="328">
                  <c:v>98.629997</c:v>
                </c:pt>
                <c:pt idx="329">
                  <c:v>99.029999</c:v>
                </c:pt>
                <c:pt idx="330">
                  <c:v>98.940002</c:v>
                </c:pt>
                <c:pt idx="331">
                  <c:v>99.650002</c:v>
                </c:pt>
                <c:pt idx="332">
                  <c:v>98.830002</c:v>
                </c:pt>
                <c:pt idx="333">
                  <c:v>97.339996</c:v>
                </c:pt>
                <c:pt idx="334">
                  <c:v>97.459999</c:v>
                </c:pt>
                <c:pt idx="335">
                  <c:v>97.139999</c:v>
                </c:pt>
                <c:pt idx="336">
                  <c:v>97.550003</c:v>
                </c:pt>
                <c:pt idx="337">
                  <c:v>95.330002</c:v>
                </c:pt>
                <c:pt idx="338">
                  <c:v>95.099998</c:v>
                </c:pt>
                <c:pt idx="339">
                  <c:v>95.910004</c:v>
                </c:pt>
                <c:pt idx="340">
                  <c:v>95.550003</c:v>
                </c:pt>
                <c:pt idx="341">
                  <c:v>96.099998</c:v>
                </c:pt>
                <c:pt idx="342">
                  <c:v>93.400002</c:v>
                </c:pt>
                <c:pt idx="343">
                  <c:v>92.040001</c:v>
                </c:pt>
                <c:pt idx="344">
                  <c:v>93.589996</c:v>
                </c:pt>
                <c:pt idx="345">
                  <c:v>94.400002</c:v>
                </c:pt>
                <c:pt idx="346">
                  <c:v>95.599998</c:v>
                </c:pt>
                <c:pt idx="347">
                  <c:v>95.889999</c:v>
                </c:pt>
                <c:pt idx="348">
                  <c:v>94.989998</c:v>
                </c:pt>
                <c:pt idx="349">
                  <c:v>95.529999</c:v>
                </c:pt>
                <c:pt idx="350">
                  <c:v>95.940002</c:v>
                </c:pt>
                <c:pt idx="351">
                  <c:v>96.68</c:v>
                </c:pt>
                <c:pt idx="352">
                  <c:v>96.980003</c:v>
                </c:pt>
                <c:pt idx="353">
                  <c:v>97.419998</c:v>
                </c:pt>
                <c:pt idx="354">
                  <c:v>96.870003</c:v>
                </c:pt>
                <c:pt idx="355">
                  <c:v>98.790001</c:v>
                </c:pt>
                <c:pt idx="356">
                  <c:v>98.779999</c:v>
                </c:pt>
                <c:pt idx="357">
                  <c:v>99.830002</c:v>
                </c:pt>
                <c:pt idx="358">
                  <c:v>99.870003</c:v>
                </c:pt>
                <c:pt idx="359">
                  <c:v>99.959999</c:v>
                </c:pt>
                <c:pt idx="360">
                  <c:v>99.43</c:v>
                </c:pt>
                <c:pt idx="361">
                  <c:v>98.660004</c:v>
                </c:pt>
                <c:pt idx="362">
                  <c:v>97.339996</c:v>
                </c:pt>
                <c:pt idx="363">
                  <c:v>96.669998</c:v>
                </c:pt>
                <c:pt idx="364">
                  <c:v>102.949997</c:v>
                </c:pt>
                <c:pt idx="365">
                  <c:v>104.339996</c:v>
                </c:pt>
                <c:pt idx="366">
                  <c:v>104.209999</c:v>
                </c:pt>
                <c:pt idx="367">
                  <c:v>106.050003</c:v>
                </c:pt>
                <c:pt idx="368">
                  <c:v>104.480003</c:v>
                </c:pt>
                <c:pt idx="369">
                  <c:v>105.790001</c:v>
                </c:pt>
                <c:pt idx="370">
                  <c:v>105.870003</c:v>
                </c:pt>
                <c:pt idx="371">
                  <c:v>107.480003</c:v>
                </c:pt>
                <c:pt idx="372">
                  <c:v>108.370003</c:v>
                </c:pt>
                <c:pt idx="373">
                  <c:v>108.809998</c:v>
                </c:pt>
                <c:pt idx="374">
                  <c:v>108</c:v>
                </c:pt>
                <c:pt idx="375">
                  <c:v>107.93</c:v>
                </c:pt>
                <c:pt idx="376">
                  <c:v>108.18</c:v>
                </c:pt>
                <c:pt idx="377">
                  <c:v>109.480003</c:v>
                </c:pt>
                <c:pt idx="378">
                  <c:v>109.379997</c:v>
                </c:pt>
                <c:pt idx="379">
                  <c:v>109.220001</c:v>
                </c:pt>
                <c:pt idx="380">
                  <c:v>109.080002</c:v>
                </c:pt>
                <c:pt idx="381">
                  <c:v>109.360001</c:v>
                </c:pt>
                <c:pt idx="382">
                  <c:v>108.510002</c:v>
                </c:pt>
                <c:pt idx="383">
                  <c:v>108.849998</c:v>
                </c:pt>
                <c:pt idx="384">
                  <c:v>108.029999</c:v>
                </c:pt>
                <c:pt idx="385">
                  <c:v>107.57</c:v>
                </c:pt>
                <c:pt idx="386">
                  <c:v>106.940002</c:v>
                </c:pt>
                <c:pt idx="387">
                  <c:v>106.82</c:v>
                </c:pt>
                <c:pt idx="388">
                  <c:v>106</c:v>
                </c:pt>
                <c:pt idx="389">
                  <c:v>106.099998</c:v>
                </c:pt>
                <c:pt idx="390">
                  <c:v>106.730003</c:v>
                </c:pt>
                <c:pt idx="391">
                  <c:v>107.730003</c:v>
                </c:pt>
                <c:pt idx="392">
                  <c:v>107.699997</c:v>
                </c:pt>
                <c:pt idx="393">
                  <c:v>108.360001</c:v>
                </c:pt>
                <c:pt idx="394">
                  <c:v>105.519997</c:v>
                </c:pt>
                <c:pt idx="395">
                  <c:v>103.129997</c:v>
                </c:pt>
                <c:pt idx="396">
                  <c:v>105.440002</c:v>
                </c:pt>
                <c:pt idx="397">
                  <c:v>107.949997</c:v>
                </c:pt>
                <c:pt idx="398">
                  <c:v>111.769997</c:v>
                </c:pt>
                <c:pt idx="399">
                  <c:v>115.57</c:v>
                </c:pt>
                <c:pt idx="400">
                  <c:v>114.919998</c:v>
                </c:pt>
                <c:pt idx="401">
                  <c:v>113.580002</c:v>
                </c:pt>
                <c:pt idx="402">
                  <c:v>113.57</c:v>
                </c:pt>
                <c:pt idx="403">
                  <c:v>113.550003</c:v>
                </c:pt>
                <c:pt idx="404">
                  <c:v>114.620003</c:v>
                </c:pt>
                <c:pt idx="405">
                  <c:v>112.709999</c:v>
                </c:pt>
                <c:pt idx="406">
                  <c:v>112.879997</c:v>
                </c:pt>
                <c:pt idx="407">
                  <c:v>113.089996</c:v>
                </c:pt>
                <c:pt idx="408">
                  <c:v>113.949997</c:v>
                </c:pt>
                <c:pt idx="409">
                  <c:v>112.18</c:v>
                </c:pt>
                <c:pt idx="410">
                  <c:v>113.050003</c:v>
                </c:pt>
                <c:pt idx="411">
                  <c:v>112.519997</c:v>
                </c:pt>
                <c:pt idx="412">
                  <c:v>113</c:v>
                </c:pt>
                <c:pt idx="413">
                  <c:v>113.050003</c:v>
                </c:pt>
                <c:pt idx="414">
                  <c:v>113.889999</c:v>
                </c:pt>
                <c:pt idx="415">
                  <c:v>114.059998</c:v>
                </c:pt>
                <c:pt idx="416">
                  <c:v>116.050003</c:v>
                </c:pt>
                <c:pt idx="417">
                  <c:v>116.300003</c:v>
                </c:pt>
                <c:pt idx="418">
                  <c:v>117.339996</c:v>
                </c:pt>
                <c:pt idx="419">
                  <c:v>116.980003</c:v>
                </c:pt>
                <c:pt idx="420">
                  <c:v>117.629997</c:v>
                </c:pt>
                <c:pt idx="421">
                  <c:v>117.550003</c:v>
                </c:pt>
                <c:pt idx="422">
                  <c:v>117.470001</c:v>
                </c:pt>
                <c:pt idx="423">
                  <c:v>117.120003</c:v>
                </c:pt>
                <c:pt idx="424">
                  <c:v>117.059998</c:v>
                </c:pt>
                <c:pt idx="425">
                  <c:v>116.599998</c:v>
                </c:pt>
                <c:pt idx="426">
                  <c:v>117.650002</c:v>
                </c:pt>
                <c:pt idx="427">
                  <c:v>118.25</c:v>
                </c:pt>
                <c:pt idx="428">
                  <c:v>115.589996</c:v>
                </c:pt>
                <c:pt idx="429">
                  <c:v>114.480003</c:v>
                </c:pt>
                <c:pt idx="430">
                  <c:v>113.720001</c:v>
                </c:pt>
                <c:pt idx="431">
                  <c:v>113.540001</c:v>
                </c:pt>
                <c:pt idx="432">
                  <c:v>111.489998</c:v>
                </c:pt>
                <c:pt idx="433">
                  <c:v>111.589996</c:v>
                </c:pt>
                <c:pt idx="434">
                  <c:v>109.830002</c:v>
                </c:pt>
                <c:pt idx="435">
                  <c:v>108.839996</c:v>
                </c:pt>
                <c:pt idx="436">
                  <c:v>110.410004</c:v>
                </c:pt>
                <c:pt idx="437">
                  <c:v>111.059998</c:v>
                </c:pt>
                <c:pt idx="438">
                  <c:v>110.879997</c:v>
                </c:pt>
                <c:pt idx="439">
                  <c:v>107.790001</c:v>
                </c:pt>
                <c:pt idx="440">
                  <c:v>108.43</c:v>
                </c:pt>
                <c:pt idx="441">
                  <c:v>105.709999</c:v>
                </c:pt>
                <c:pt idx="442">
                  <c:v>107.110001</c:v>
                </c:pt>
                <c:pt idx="443">
                  <c:v>109.989998</c:v>
                </c:pt>
                <c:pt idx="444">
                  <c:v>109.949997</c:v>
                </c:pt>
                <c:pt idx="445">
                  <c:v>110.059998</c:v>
                </c:pt>
                <c:pt idx="446">
                  <c:v>111.730003</c:v>
                </c:pt>
                <c:pt idx="447">
                  <c:v>111.800003</c:v>
                </c:pt>
                <c:pt idx="448">
                  <c:v>111.230003</c:v>
                </c:pt>
                <c:pt idx="449">
                  <c:v>111.790001</c:v>
                </c:pt>
                <c:pt idx="450">
                  <c:v>111.57</c:v>
                </c:pt>
                <c:pt idx="451">
                  <c:v>111.459999</c:v>
                </c:pt>
                <c:pt idx="452">
                  <c:v>110.519997</c:v>
                </c:pt>
                <c:pt idx="453">
                  <c:v>109.489998</c:v>
                </c:pt>
                <c:pt idx="454">
                  <c:v>109.900002</c:v>
                </c:pt>
                <c:pt idx="455">
                  <c:v>109.110001</c:v>
                </c:pt>
                <c:pt idx="456">
                  <c:v>109.949997</c:v>
                </c:pt>
                <c:pt idx="457">
                  <c:v>111.029999</c:v>
                </c:pt>
                <c:pt idx="458">
                  <c:v>112.120003</c:v>
                </c:pt>
                <c:pt idx="459">
                  <c:v>113.949997</c:v>
                </c:pt>
                <c:pt idx="460">
                  <c:v>113.300003</c:v>
                </c:pt>
                <c:pt idx="461">
                  <c:v>115.190002</c:v>
                </c:pt>
                <c:pt idx="462">
                  <c:v>115.190002</c:v>
                </c:pt>
                <c:pt idx="463">
                  <c:v>115.82</c:v>
                </c:pt>
                <c:pt idx="464">
                  <c:v>115.970001</c:v>
                </c:pt>
                <c:pt idx="465">
                  <c:v>116.639999</c:v>
                </c:pt>
                <c:pt idx="466">
                  <c:v>116.949997</c:v>
                </c:pt>
                <c:pt idx="467">
                  <c:v>117.059998</c:v>
                </c:pt>
                <c:pt idx="468">
                  <c:v>116.290001</c:v>
                </c:pt>
                <c:pt idx="469">
                  <c:v>116.519997</c:v>
                </c:pt>
                <c:pt idx="470">
                  <c:v>117.260002</c:v>
                </c:pt>
                <c:pt idx="471">
                  <c:v>116.760002</c:v>
                </c:pt>
                <c:pt idx="472">
                  <c:v>116.730003</c:v>
                </c:pt>
                <c:pt idx="473">
                  <c:v>115.82</c:v>
                </c:pt>
                <c:pt idx="474">
                  <c:v>116.150002</c:v>
                </c:pt>
                <c:pt idx="475">
                  <c:v>116.019997</c:v>
                </c:pt>
                <c:pt idx="476">
                  <c:v>116.610001</c:v>
                </c:pt>
                <c:pt idx="477">
                  <c:v>117.910004</c:v>
                </c:pt>
                <c:pt idx="478">
                  <c:v>118.989998</c:v>
                </c:pt>
                <c:pt idx="479">
                  <c:v>119.110001</c:v>
                </c:pt>
                <c:pt idx="480">
                  <c:v>119.75</c:v>
                </c:pt>
                <c:pt idx="481">
                  <c:v>119.25</c:v>
                </c:pt>
                <c:pt idx="482">
                  <c:v>119.040001</c:v>
                </c:pt>
                <c:pt idx="483">
                  <c:v>120</c:v>
                </c:pt>
                <c:pt idx="484">
                  <c:v>119.989998</c:v>
                </c:pt>
                <c:pt idx="485">
                  <c:v>119.779999</c:v>
                </c:pt>
                <c:pt idx="486">
                  <c:v>120</c:v>
                </c:pt>
                <c:pt idx="487">
                  <c:v>120.080002</c:v>
                </c:pt>
                <c:pt idx="488">
                  <c:v>119.970001</c:v>
                </c:pt>
                <c:pt idx="489">
                  <c:v>121.879997</c:v>
                </c:pt>
                <c:pt idx="490">
                  <c:v>121.940002</c:v>
                </c:pt>
                <c:pt idx="491">
                  <c:v>121.949997</c:v>
                </c:pt>
                <c:pt idx="492">
                  <c:v>121.629997</c:v>
                </c:pt>
                <c:pt idx="493">
                  <c:v>121.349998</c:v>
                </c:pt>
                <c:pt idx="494">
                  <c:v>128.75</c:v>
                </c:pt>
                <c:pt idx="495">
                  <c:v>128.529999</c:v>
                </c:pt>
                <c:pt idx="496">
                  <c:v>129.080002</c:v>
                </c:pt>
                <c:pt idx="497">
                  <c:v>130.289993</c:v>
                </c:pt>
                <c:pt idx="498">
                  <c:v>131.529999</c:v>
                </c:pt>
                <c:pt idx="499">
                  <c:v>132.039993</c:v>
                </c:pt>
                <c:pt idx="500">
                  <c:v>132.419998</c:v>
                </c:pt>
                <c:pt idx="501">
                  <c:v>132.119995</c:v>
                </c:pt>
                <c:pt idx="502">
                  <c:v>133.289993</c:v>
                </c:pt>
                <c:pt idx="503">
                  <c:v>135.020004</c:v>
                </c:pt>
                <c:pt idx="504">
                  <c:v>135.509995</c:v>
                </c:pt>
                <c:pt idx="505">
                  <c:v>135.350006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Trading 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Closing price (USD)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daily return (%)</c:v>
          </c:tx>
          <c:spPr>
            <a:solidFill xmlns:a="http://schemas.openxmlformats.org/drawingml/2006/main">
              <a:srgbClr val="10AFC0"/>
            </a:solidFill>
          </c:spPr>
          <c:invertIfNegative val="0"/>
          <c:cat>
            <c:numRef>
              <c:f>'Chart Data'!$A$2:$A$4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-0.07</c:v>
                </c:pt>
                <c:pt idx="1">
                  <c:v>0.05</c:v>
                </c:pt>
                <c:pt idx="2">
                  <c:v>0.49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Calendar year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Mean daily return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Trading days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1B6FB8"/>
              </a:solidFill>
            </c:spPr>
          </c:marker>
          <c:xVal>
            <c:numLit>
              <c:formatCode>General</c:formatCode>
              <c:ptCount val="505"/>
              <c:pt idx="0">
                <c:v>44.8917</c:v>
              </c:pt>
              <c:pt idx="1">
                <c:v>37.3624</c:v>
              </c:pt>
              <c:pt idx="2">
                <c:v>48.9484</c:v>
              </c:pt>
              <c:pt idx="3">
                <c:v>70.9741</c:v>
              </c:pt>
              <c:pt idx="4">
                <c:v>69.2281</c:v>
              </c:pt>
              <c:pt idx="5">
                <c:v>74.7117</c:v>
              </c:pt>
              <c:pt idx="6">
                <c:v>91.2875</c:v>
              </c:pt>
              <c:pt idx="7">
                <c:v>62.0148</c:v>
              </c:pt>
              <c:pt idx="8">
                <c:v>48.0967</c:v>
              </c:pt>
              <c:pt idx="9">
                <c:v>37.8163</c:v>
              </c:pt>
              <c:pt idx="10">
                <c:v>31.6663</c:v>
              </c:pt>
              <c:pt idx="11">
                <c:v>56.5171</c:v>
              </c:pt>
              <c:pt idx="12">
                <c:v>72.8421</c:v>
              </c:pt>
              <c:pt idx="13">
                <c:v>88.5285</c:v>
              </c:pt>
              <c:pt idx="14">
                <c:v>68.8566</c:v>
              </c:pt>
              <c:pt idx="15">
                <c:v>68.939</c:v>
              </c:pt>
              <c:pt idx="16">
                <c:v>48.3627</c:v>
              </c:pt>
              <c:pt idx="17">
                <c:v>51.8273</c:v>
              </c:pt>
              <c:pt idx="18">
                <c:v>35.8743</c:v>
              </c:pt>
              <c:pt idx="19">
                <c:v>51.0231</c:v>
              </c:pt>
              <c:pt idx="20">
                <c:v>65.2709</c:v>
              </c:pt>
              <c:pt idx="21">
                <c:v>45.8095</c:v>
              </c:pt>
              <c:pt idx="22">
                <c:v>68.6951</c:v>
              </c:pt>
              <c:pt idx="23">
                <c:v>37.7097</c:v>
              </c:pt>
              <c:pt idx="24">
                <c:v>32.8423</c:v>
              </c:pt>
              <c:pt idx="25">
                <c:v>51.6552</c:v>
              </c:pt>
              <c:pt idx="26">
                <c:v>47.5729</c:v>
              </c:pt>
              <c:pt idx="27">
                <c:v>39.5462</c:v>
              </c:pt>
              <c:pt idx="28">
                <c:v>47.0997</c:v>
              </c:pt>
              <c:pt idx="29">
                <c:v>42.0906</c:v>
              </c:pt>
              <c:pt idx="30">
                <c:v>40.6214</c:v>
              </c:pt>
              <c:pt idx="31">
                <c:v>32.2201</c:v>
              </c:pt>
              <c:pt idx="32">
                <c:v>37.194</c:v>
              </c:pt>
              <c:pt idx="33">
                <c:v>35.0123</c:v>
              </c:pt>
              <c:pt idx="34">
                <c:v>37.3292</c:v>
              </c:pt>
              <c:pt idx="35">
                <c:v>32.484</c:v>
              </c:pt>
              <c:pt idx="36">
                <c:v>40.188</c:v>
              </c:pt>
              <c:pt idx="37">
                <c:v>36.3651</c:v>
              </c:pt>
              <c:pt idx="38">
                <c:v>25.5246</c:v>
              </c:pt>
              <c:pt idx="39">
                <c:v>28.9704</c:v>
              </c:pt>
              <c:pt idx="40">
                <c:v>28.369</c:v>
              </c:pt>
              <c:pt idx="41">
                <c:v>51.957</c:v>
              </c:pt>
              <c:pt idx="42">
                <c:v>47.0543</c:v>
              </c:pt>
              <c:pt idx="43">
                <c:v>32.4351</c:v>
              </c:pt>
              <c:pt idx="44">
                <c:v>37.6545</c:v>
              </c:pt>
              <c:pt idx="45">
                <c:v>45.7709</c:v>
              </c:pt>
              <c:pt idx="46">
                <c:v>44.5259</c:v>
              </c:pt>
              <c:pt idx="47">
                <c:v>96.9542</c:v>
              </c:pt>
              <c:pt idx="48">
                <c:v>118.924</c:v>
              </c:pt>
              <c:pt idx="49">
                <c:v>63.3861</c:v>
              </c:pt>
              <c:pt idx="50">
                <c:v>83.1954</c:v>
              </c:pt>
              <c:pt idx="51">
                <c:v>58.5126</c:v>
              </c:pt>
              <c:pt idx="52">
                <c:v>50.9883</c:v>
              </c:pt>
              <c:pt idx="53">
                <c:v>49.2714</c:v>
              </c:pt>
              <c:pt idx="54">
                <c:v>72.141</c:v>
              </c:pt>
              <c:pt idx="55">
                <c:v>43.9409</c:v>
              </c:pt>
              <c:pt idx="56">
                <c:v>55.5504</c:v>
              </c:pt>
              <c:pt idx="57">
                <c:v>42.0358</c:v>
              </c:pt>
              <c:pt idx="58">
                <c:v>48.16</c:v>
              </c:pt>
              <c:pt idx="59">
                <c:v>34.6942</c:v>
              </c:pt>
              <c:pt idx="60">
                <c:v>45.2035</c:v>
              </c:pt>
              <c:pt idx="61">
                <c:v>38.208</c:v>
              </c:pt>
              <c:pt idx="62">
                <c:v>50.8829</c:v>
              </c:pt>
              <c:pt idx="63">
                <c:v>44.6332</c:v>
              </c:pt>
              <c:pt idx="64">
                <c:v>36.4549</c:v>
              </c:pt>
              <c:pt idx="65">
                <c:v>39.7304</c:v>
              </c:pt>
              <c:pt idx="66">
                <c:v>45.596</c:v>
              </c:pt>
              <c:pt idx="67">
                <c:v>70.6976</c:v>
              </c:pt>
              <c:pt idx="68">
                <c:v>45.8332</c:v>
              </c:pt>
              <c:pt idx="69">
                <c:v>30.7333</c:v>
              </c:pt>
              <c:pt idx="70">
                <c:v>50.8845</c:v>
              </c:pt>
              <c:pt idx="71">
                <c:v>32.1128</c:v>
              </c:pt>
              <c:pt idx="72">
                <c:v>33.6676</c:v>
              </c:pt>
              <c:pt idx="73">
                <c:v>30.8894</c:v>
              </c:pt>
              <c:pt idx="74">
                <c:v>38.4501</c:v>
              </c:pt>
              <c:pt idx="75">
                <c:v>35.6268</c:v>
              </c:pt>
              <c:pt idx="76">
                <c:v>52.6748</c:v>
              </c:pt>
              <c:pt idx="77">
                <c:v>56.0754</c:v>
              </c:pt>
              <c:pt idx="78">
                <c:v>39.0873</c:v>
              </c:pt>
              <c:pt idx="79">
                <c:v>35.3909</c:v>
              </c:pt>
              <c:pt idx="80">
                <c:v>36.8862</c:v>
              </c:pt>
              <c:pt idx="81">
                <c:v>43.9889</c:v>
              </c:pt>
              <c:pt idx="82">
                <c:v>31.4941</c:v>
              </c:pt>
              <c:pt idx="83">
                <c:v>32.9181</c:v>
              </c:pt>
              <c:pt idx="84">
                <c:v>35.4072</c:v>
              </c:pt>
              <c:pt idx="85">
                <c:v>54.7169</c:v>
              </c:pt>
              <c:pt idx="86">
                <c:v>34.0393</c:v>
              </c:pt>
              <c:pt idx="87">
                <c:v>30.2689</c:v>
              </c:pt>
              <c:pt idx="88">
                <c:v>55.2809</c:v>
              </c:pt>
              <c:pt idx="89">
                <c:v>31.9381</c:v>
              </c:pt>
              <c:pt idx="90">
                <c:v>44.0668</c:v>
              </c:pt>
              <c:pt idx="91">
                <c:v>49.1614</c:v>
              </c:pt>
              <c:pt idx="92">
                <c:v>44.3707</c:v>
              </c:pt>
              <c:pt idx="93">
                <c:v>30.2388</c:v>
              </c:pt>
              <c:pt idx="94">
                <c:v>27.211</c:v>
              </c:pt>
              <c:pt idx="95">
                <c:v>28.0604</c:v>
              </c:pt>
              <c:pt idx="96">
                <c:v>46.9468</c:v>
              </c:pt>
              <c:pt idx="97">
                <c:v>60.7616</c:v>
              </c:pt>
              <c:pt idx="98">
                <c:v>77.8216</c:v>
              </c:pt>
              <c:pt idx="99">
                <c:v>61.3545</c:v>
              </c:pt>
              <c:pt idx="100">
                <c:v>41.4405</c:v>
              </c:pt>
              <c:pt idx="101">
                <c:v>31.7681</c:v>
              </c:pt>
              <c:pt idx="102">
                <c:v>33.6492</c:v>
              </c:pt>
              <c:pt idx="103">
                <c:v>36.2224</c:v>
              </c:pt>
              <c:pt idx="104">
                <c:v>46.1647</c:v>
              </c:pt>
              <c:pt idx="105">
                <c:v>58.9002</c:v>
              </c:pt>
              <c:pt idx="106">
                <c:v>76.7564</c:v>
              </c:pt>
              <c:pt idx="107">
                <c:v>115.4506</c:v>
              </c:pt>
              <c:pt idx="108">
                <c:v>50.9995</c:v>
              </c:pt>
              <c:pt idx="109">
                <c:v>42.1623</c:v>
              </c:pt>
              <c:pt idx="110">
                <c:v>44.4555</c:v>
              </c:pt>
              <c:pt idx="111">
                <c:v>33.6181</c:v>
              </c:pt>
              <c:pt idx="112">
                <c:v>37.0117</c:v>
              </c:pt>
              <c:pt idx="113">
                <c:v>33.6283</c:v>
              </c:pt>
              <c:pt idx="114">
                <c:v>42.885</c:v>
              </c:pt>
              <c:pt idx="115">
                <c:v>69.976</c:v>
              </c:pt>
              <c:pt idx="116">
                <c:v>124.1386</c:v>
              </c:pt>
              <c:pt idx="117">
                <c:v>99.3126</c:v>
              </c:pt>
              <c:pt idx="118">
                <c:v>52.903</c:v>
              </c:pt>
              <c:pt idx="119">
                <c:v>38.6704</c:v>
              </c:pt>
              <c:pt idx="120">
                <c:v>54.9516</c:v>
              </c:pt>
              <c:pt idx="121">
                <c:v>97.0828</c:v>
              </c:pt>
              <c:pt idx="122">
                <c:v>101.2175</c:v>
              </c:pt>
              <c:pt idx="123">
                <c:v>48.5358</c:v>
              </c:pt>
              <c:pt idx="124">
                <c:v>42.9295</c:v>
              </c:pt>
              <c:pt idx="125">
                <c:v>40.8847</c:v>
              </c:pt>
              <c:pt idx="126">
                <c:v>34.5607</c:v>
              </c:pt>
              <c:pt idx="127">
                <c:v>47.4457</c:v>
              </c:pt>
              <c:pt idx="128">
                <c:v>68.5016</c:v>
              </c:pt>
              <c:pt idx="129">
                <c:v>128.2755</c:v>
              </c:pt>
              <c:pt idx="130">
                <c:v>162.2063</c:v>
              </c:pt>
              <c:pt idx="131">
                <c:v>103.6016</c:v>
              </c:pt>
              <c:pt idx="132">
                <c:v>96.7746</c:v>
              </c:pt>
              <c:pt idx="133">
                <c:v>84.6161</c:v>
              </c:pt>
              <c:pt idx="134">
                <c:v>53.1644</c:v>
              </c:pt>
              <c:pt idx="135">
                <c:v>56.2293</c:v>
              </c:pt>
              <c:pt idx="136">
                <c:v>76.8459</c:v>
              </c:pt>
              <c:pt idx="137">
                <c:v>61.8888</c:v>
              </c:pt>
              <c:pt idx="138">
                <c:v>53.2339</c:v>
              </c:pt>
              <c:pt idx="139">
                <c:v>49.9963</c:v>
              </c:pt>
              <c:pt idx="140">
                <c:v>54.8436</c:v>
              </c:pt>
              <c:pt idx="141">
                <c:v>85.0108</c:v>
              </c:pt>
              <c:pt idx="142">
                <c:v>62.8928</c:v>
              </c:pt>
              <c:pt idx="143">
                <c:v>49.9155</c:v>
              </c:pt>
              <c:pt idx="144">
                <c:v>58.3634</c:v>
              </c:pt>
              <c:pt idx="145">
                <c:v>43.3412</c:v>
              </c:pt>
              <c:pt idx="146">
                <c:v>37.1735</c:v>
              </c:pt>
              <c:pt idx="147">
                <c:v>64.1126</c:v>
              </c:pt>
              <c:pt idx="148">
                <c:v>74.2853</c:v>
              </c:pt>
              <c:pt idx="149">
                <c:v>50.222</c:v>
              </c:pt>
              <c:pt idx="150">
                <c:v>50.3462</c:v>
              </c:pt>
              <c:pt idx="151">
                <c:v>35.7567</c:v>
              </c:pt>
              <c:pt idx="152">
                <c:v>50.2195</c:v>
              </c:pt>
              <c:pt idx="153">
                <c:v>56.1519</c:v>
              </c:pt>
              <c:pt idx="154">
                <c:v>52.109</c:v>
              </c:pt>
              <c:pt idx="155">
                <c:v>73.3654</c:v>
              </c:pt>
              <c:pt idx="156">
                <c:v>66.473</c:v>
              </c:pt>
              <c:pt idx="157">
                <c:v>63.9291</c:v>
              </c:pt>
              <c:pt idx="158">
                <c:v>58.0198</c:v>
              </c:pt>
              <c:pt idx="159">
                <c:v>52.0647</c:v>
              </c:pt>
              <c:pt idx="160">
                <c:v>48.1968</c:v>
              </c:pt>
              <c:pt idx="161">
                <c:v>46.7656</c:v>
              </c:pt>
              <c:pt idx="162">
                <c:v>61.9796</c:v>
              </c:pt>
              <c:pt idx="163">
                <c:v>52.7661</c:v>
              </c:pt>
              <c:pt idx="164">
                <c:v>30.4672</c:v>
              </c:pt>
              <c:pt idx="165">
                <c:v>33.0493</c:v>
              </c:pt>
              <c:pt idx="166">
                <c:v>44.4624</c:v>
              </c:pt>
              <c:pt idx="167">
                <c:v>37.6735</c:v>
              </c:pt>
              <c:pt idx="168">
                <c:v>39.2326</c:v>
              </c:pt>
              <c:pt idx="169">
                <c:v>29.7592</c:v>
              </c:pt>
              <c:pt idx="170">
                <c:v>48.7788</c:v>
              </c:pt>
              <c:pt idx="171">
                <c:v>41.7952</c:v>
              </c:pt>
              <c:pt idx="172">
                <c:v>41.6541</c:v>
              </c:pt>
              <c:pt idx="173">
                <c:v>59.3669</c:v>
              </c:pt>
              <c:pt idx="174">
                <c:v>66.3338</c:v>
              </c:pt>
              <c:pt idx="175">
                <c:v>69.8844</c:v>
              </c:pt>
              <c:pt idx="176">
                <c:v>85.5514</c:v>
              </c:pt>
              <c:pt idx="177">
                <c:v>51.2273</c:v>
              </c:pt>
              <c:pt idx="178">
                <c:v>49.3653</c:v>
              </c:pt>
              <c:pt idx="179">
                <c:v>32.2033</c:v>
              </c:pt>
              <c:pt idx="180">
                <c:v>45.519</c:v>
              </c:pt>
              <c:pt idx="181">
                <c:v>44.8861</c:v>
              </c:pt>
              <c:pt idx="182">
                <c:v>39.5527</c:v>
              </c:pt>
              <c:pt idx="183">
                <c:v>33.0423</c:v>
              </c:pt>
              <c:pt idx="184">
                <c:v>33.8714</c:v>
              </c:pt>
              <c:pt idx="185">
                <c:v>59.1279</c:v>
              </c:pt>
              <c:pt idx="186">
                <c:v>45.218</c:v>
              </c:pt>
              <c:pt idx="187">
                <c:v>32.5256</c:v>
              </c:pt>
              <c:pt idx="188">
                <c:v>45.8124</c:v>
              </c:pt>
              <c:pt idx="189">
                <c:v>38.1067</c:v>
              </c:pt>
              <c:pt idx="190">
                <c:v>27.6169</c:v>
              </c:pt>
              <c:pt idx="191">
                <c:v>46.6747</c:v>
              </c:pt>
              <c:pt idx="192">
                <c:v>43.2958</c:v>
              </c:pt>
              <c:pt idx="193">
                <c:v>34.2871</c:v>
              </c:pt>
              <c:pt idx="194">
                <c:v>32.4825</c:v>
              </c:pt>
              <c:pt idx="195">
                <c:v>42.8032</c:v>
              </c:pt>
              <c:pt idx="196">
                <c:v>21.3883</c:v>
              </c:pt>
              <c:pt idx="197">
                <c:v>13.0464</c:v>
              </c:pt>
              <c:pt idx="198">
                <c:v>39.1803</c:v>
              </c:pt>
              <c:pt idx="199">
                <c:v>34.8524</c:v>
              </c:pt>
              <c:pt idx="200">
                <c:v>33.3866</c:v>
              </c:pt>
              <c:pt idx="201">
                <c:v>41.5695</c:v>
              </c:pt>
              <c:pt idx="202">
                <c:v>57.777</c:v>
              </c:pt>
              <c:pt idx="203">
                <c:v>32.0842</c:v>
              </c:pt>
              <c:pt idx="204">
                <c:v>34.3095</c:v>
              </c:pt>
              <c:pt idx="205">
                <c:v>46.3614</c:v>
              </c:pt>
              <c:pt idx="206">
                <c:v>29.1042</c:v>
              </c:pt>
              <c:pt idx="207">
                <c:v>46.8862</c:v>
              </c:pt>
              <c:pt idx="208">
                <c:v>64.3187</c:v>
              </c:pt>
              <c:pt idx="209">
                <c:v>53.3231</c:v>
              </c:pt>
              <c:pt idx="210">
                <c:v>56.2385</c:v>
              </c:pt>
              <c:pt idx="211">
                <c:v>44.7728</c:v>
              </c:pt>
              <c:pt idx="212">
                <c:v>96.4533</c:v>
              </c:pt>
              <c:pt idx="213">
                <c:v>47.5906</c:v>
              </c:pt>
              <c:pt idx="214">
                <c:v>32.7894</c:v>
              </c:pt>
              <c:pt idx="215">
                <c:v>32.6574</c:v>
              </c:pt>
              <c:pt idx="216">
                <c:v>13.5704</c:v>
              </c:pt>
              <c:pt idx="217">
                <c:v>26.7042</c:v>
              </c:pt>
              <c:pt idx="218">
                <c:v>30.9312</c:v>
              </c:pt>
              <c:pt idx="219">
                <c:v>25.2138</c:v>
              </c:pt>
              <c:pt idx="220">
                <c:v>40.6353</c:v>
              </c:pt>
              <c:pt idx="221">
                <c:v>67.6494</c:v>
              </c:pt>
              <c:pt idx="222">
                <c:v>55.791</c:v>
              </c:pt>
              <c:pt idx="223">
                <c:v>68.4574</c:v>
              </c:pt>
              <c:pt idx="224">
                <c:v>81.0944</c:v>
              </c:pt>
              <c:pt idx="225">
                <c:v>70.798</c:v>
              </c:pt>
              <c:pt idx="226">
                <c:v>49.7394</c:v>
              </c:pt>
              <c:pt idx="227">
                <c:v>49.1542</c:v>
              </c:pt>
              <c:pt idx="228">
                <c:v>62.4396</c:v>
              </c:pt>
              <c:pt idx="229">
                <c:v>63.1701</c:v>
              </c:pt>
              <c:pt idx="230">
                <c:v>79.01</c:v>
              </c:pt>
              <c:pt idx="231">
                <c:v>53.0877</c:v>
              </c:pt>
              <c:pt idx="232">
                <c:v>72.3344</c:v>
              </c:pt>
              <c:pt idx="233">
                <c:v>52.1615</c:v>
              </c:pt>
              <c:pt idx="234">
                <c:v>65.8005</c:v>
              </c:pt>
              <c:pt idx="235">
                <c:v>51.7945</c:v>
              </c:pt>
              <c:pt idx="236">
                <c:v>75.077</c:v>
              </c:pt>
              <c:pt idx="237">
                <c:v>133.3697</c:v>
              </c:pt>
              <c:pt idx="238">
                <c:v>55.6788</c:v>
              </c:pt>
              <c:pt idx="239">
                <c:v>64.4165</c:v>
              </c:pt>
              <c:pt idx="240">
                <c:v>40.9435</c:v>
              </c:pt>
              <c:pt idx="241">
                <c:v>37.3572</c:v>
              </c:pt>
              <c:pt idx="242">
                <c:v>45.9643</c:v>
              </c:pt>
              <c:pt idx="243">
                <c:v>46.4717</c:v>
              </c:pt>
              <c:pt idx="244">
                <c:v>46.4181</c:v>
              </c:pt>
              <c:pt idx="245">
                <c:v>54.0214</c:v>
              </c:pt>
              <c:pt idx="246">
                <c:v>44.3312</c:v>
              </c:pt>
              <c:pt idx="247">
                <c:v>42.3436</c:v>
              </c:pt>
              <c:pt idx="248">
                <c:v>50.0747</c:v>
              </c:pt>
              <c:pt idx="249">
                <c:v>40.3514</c:v>
              </c:pt>
              <c:pt idx="250">
                <c:v>49.0579</c:v>
              </c:pt>
              <c:pt idx="251">
                <c:v>44.8632</c:v>
              </c:pt>
              <c:pt idx="252">
                <c:v>39.021</c:v>
              </c:pt>
              <c:pt idx="253">
                <c:v>35.3742</c:v>
              </c:pt>
              <c:pt idx="254">
                <c:v>34.2808</c:v>
              </c:pt>
              <c:pt idx="255">
                <c:v>31.9426</c:v>
              </c:pt>
              <c:pt idx="256">
                <c:v>36.2557</c:v>
              </c:pt>
              <c:pt idx="257">
                <c:v>27.5827</c:v>
              </c:pt>
              <c:pt idx="258">
                <c:v>28.9911</c:v>
              </c:pt>
              <c:pt idx="259">
                <c:v>35.2163</c:v>
              </c:pt>
              <c:pt idx="260">
                <c:v>50.4071</c:v>
              </c:pt>
              <c:pt idx="261">
                <c:v>33.1696</c:v>
              </c:pt>
              <c:pt idx="262">
                <c:v>36.9557</c:v>
              </c:pt>
              <c:pt idx="263">
                <c:v>46.0551</c:v>
              </c:pt>
              <c:pt idx="264">
                <c:v>35.8289</c:v>
              </c:pt>
              <c:pt idx="265">
                <c:v>31.5619</c:v>
              </c:pt>
              <c:pt idx="266">
                <c:v>27.2017</c:v>
              </c:pt>
              <c:pt idx="267">
                <c:v>33.5136</c:v>
              </c:pt>
              <c:pt idx="268">
                <c:v>27.4082</c:v>
              </c:pt>
              <c:pt idx="269">
                <c:v>25.0761</c:v>
              </c:pt>
              <c:pt idx="270">
                <c:v>40.0677</c:v>
              </c:pt>
              <c:pt idx="271">
                <c:v>38.3035</c:v>
              </c:pt>
              <c:pt idx="272">
                <c:v>34.4207</c:v>
              </c:pt>
              <c:pt idx="273">
                <c:v>44.2052</c:v>
              </c:pt>
              <c:pt idx="274">
                <c:v>35.5027</c:v>
              </c:pt>
              <c:pt idx="275">
                <c:v>32.4444</c:v>
              </c:pt>
              <c:pt idx="276">
                <c:v>25.7035</c:v>
              </c:pt>
              <c:pt idx="277">
                <c:v>26.133</c:v>
              </c:pt>
              <c:pt idx="278">
                <c:v>19.4114</c:v>
              </c:pt>
              <c:pt idx="279">
                <c:v>31.1901</c:v>
              </c:pt>
              <c:pt idx="280">
                <c:v>45.6011</c:v>
              </c:pt>
              <c:pt idx="281">
                <c:v>25.8884</c:v>
              </c:pt>
              <c:pt idx="282">
                <c:v>25.874</c:v>
              </c:pt>
              <c:pt idx="283">
                <c:v>37.3562</c:v>
              </c:pt>
              <c:pt idx="284">
                <c:v>26.5787</c:v>
              </c:pt>
              <c:pt idx="285">
                <c:v>26.4041</c:v>
              </c:pt>
              <c:pt idx="286">
                <c:v>31.8019</c:v>
              </c:pt>
              <c:pt idx="287">
                <c:v>23.5817</c:v>
              </c:pt>
              <c:pt idx="288">
                <c:v>29.4075</c:v>
              </c:pt>
              <c:pt idx="289">
                <c:v>27.2323</c:v>
              </c:pt>
              <c:pt idx="290">
                <c:v>33.2573</c:v>
              </c:pt>
              <c:pt idx="291">
                <c:v>25.4739</c:v>
              </c:pt>
              <c:pt idx="292">
                <c:v>46.939</c:v>
              </c:pt>
              <c:pt idx="293">
                <c:v>60.834</c:v>
              </c:pt>
              <c:pt idx="294">
                <c:v>32.3849</c:v>
              </c:pt>
              <c:pt idx="295">
                <c:v>30.611</c:v>
              </c:pt>
              <c:pt idx="296">
                <c:v>31.5525</c:v>
              </c:pt>
              <c:pt idx="297">
                <c:v>33.6831</c:v>
              </c:pt>
              <c:pt idx="298">
                <c:v>28.0316</c:v>
              </c:pt>
              <c:pt idx="299">
                <c:v>56.0162</c:v>
              </c:pt>
              <c:pt idx="300">
                <c:v>114.6021</c:v>
              </c:pt>
              <c:pt idx="301">
                <c:v>82.2427</c:v>
              </c:pt>
              <c:pt idx="302">
                <c:v>68.5315</c:v>
              </c:pt>
              <c:pt idx="303">
                <c:v>48.1601</c:v>
              </c:pt>
              <c:pt idx="304">
                <c:v>56.8313</c:v>
              </c:pt>
              <c:pt idx="305">
                <c:v>41.0255</c:v>
              </c:pt>
              <c:pt idx="306">
                <c:v>35.8905</c:v>
              </c:pt>
              <c:pt idx="307">
                <c:v>43.4582</c:v>
              </c:pt>
              <c:pt idx="308">
                <c:v>32.9364</c:v>
              </c:pt>
              <c:pt idx="309">
                <c:v>33.6868</c:v>
              </c:pt>
              <c:pt idx="310">
                <c:v>28.7191</c:v>
              </c:pt>
              <c:pt idx="311">
                <c:v>76.3147</c:v>
              </c:pt>
              <c:pt idx="312">
                <c:v>44.3928</c:v>
              </c:pt>
              <c:pt idx="313">
                <c:v>61.2598</c:v>
              </c:pt>
              <c:pt idx="314">
                <c:v>46.9169</c:v>
              </c:pt>
              <c:pt idx="315">
                <c:v>42.0624</c:v>
              </c:pt>
              <c:pt idx="316">
                <c:v>30.4421</c:v>
              </c:pt>
              <c:pt idx="317">
                <c:v>32.026</c:v>
              </c:pt>
              <c:pt idx="318">
                <c:v>38.0186</c:v>
              </c:pt>
              <c:pt idx="319">
                <c:v>35.1402</c:v>
              </c:pt>
              <c:pt idx="320">
                <c:v>38.1688</c:v>
              </c:pt>
              <c:pt idx="321">
                <c:v>56.3312</c:v>
              </c:pt>
              <c:pt idx="322">
                <c:v>36.2295</c:v>
              </c:pt>
              <c:pt idx="323">
                <c:v>42.3072</c:v>
              </c:pt>
              <c:pt idx="324">
                <c:v>29.1733</c:v>
              </c:pt>
              <c:pt idx="325">
                <c:v>40.1916</c:v>
              </c:pt>
              <c:pt idx="326">
                <c:v>28.0629</c:v>
              </c:pt>
              <c:pt idx="327">
                <c:v>23.2925</c:v>
              </c:pt>
              <c:pt idx="328">
                <c:v>22.4095</c:v>
              </c:pt>
              <c:pt idx="329">
                <c:v>20.8481</c:v>
              </c:pt>
              <c:pt idx="330">
                <c:v>26.6014</c:v>
              </c:pt>
              <c:pt idx="331">
                <c:v>31.7129</c:v>
              </c:pt>
              <c:pt idx="332">
                <c:v>38.0205</c:v>
              </c:pt>
              <c:pt idx="333">
                <c:v>31.9319</c:v>
              </c:pt>
              <c:pt idx="334">
                <c:v>29.4452</c:v>
              </c:pt>
              <c:pt idx="335">
                <c:v>31.3268</c:v>
              </c:pt>
              <c:pt idx="336">
                <c:v>61.0082</c:v>
              </c:pt>
              <c:pt idx="337">
                <c:v>34.4119</c:v>
              </c:pt>
              <c:pt idx="338">
                <c:v>35.5464</c:v>
              </c:pt>
              <c:pt idx="339">
                <c:v>29.2191</c:v>
              </c:pt>
              <c:pt idx="340">
                <c:v>32.2402</c:v>
              </c:pt>
              <c:pt idx="341">
                <c:v>75.3114</c:v>
              </c:pt>
              <c:pt idx="342">
                <c:v>45.4896</c:v>
              </c:pt>
              <c:pt idx="343">
                <c:v>40.4449</c:v>
              </c:pt>
              <c:pt idx="344">
                <c:v>36.531</c:v>
              </c:pt>
              <c:pt idx="345">
                <c:v>35.8364</c:v>
              </c:pt>
              <c:pt idx="346">
                <c:v>26.0265</c:v>
              </c:pt>
              <c:pt idx="347">
                <c:v>27.7052</c:v>
              </c:pt>
              <c:pt idx="348">
                <c:v>30.9491</c:v>
              </c:pt>
              <c:pt idx="349">
                <c:v>25.1396</c:v>
              </c:pt>
              <c:pt idx="350">
                <c:v>28.9121</c:v>
              </c:pt>
              <c:pt idx="351">
                <c:v>23.7949</c:v>
              </c:pt>
              <c:pt idx="352">
                <c:v>24.1675</c:v>
              </c:pt>
              <c:pt idx="353">
                <c:v>25.8922</c:v>
              </c:pt>
              <c:pt idx="354">
                <c:v>38.919</c:v>
              </c:pt>
              <c:pt idx="355">
                <c:v>30.137</c:v>
              </c:pt>
              <c:pt idx="356">
                <c:v>36.4939</c:v>
              </c:pt>
              <c:pt idx="357">
                <c:v>23.7799</c:v>
              </c:pt>
              <c:pt idx="358">
                <c:v>26.276</c:v>
              </c:pt>
              <c:pt idx="359">
                <c:v>32.702</c:v>
              </c:pt>
              <c:pt idx="360">
                <c:v>28.3137</c:v>
              </c:pt>
              <c:pt idx="361">
                <c:v>40.3829</c:v>
              </c:pt>
              <c:pt idx="362">
                <c:v>56.2398</c:v>
              </c:pt>
              <c:pt idx="363">
                <c:v>92.3448</c:v>
              </c:pt>
              <c:pt idx="364">
                <c:v>39.8698</c:v>
              </c:pt>
              <c:pt idx="365">
                <c:v>27.7337</c:v>
              </c:pt>
              <c:pt idx="366">
                <c:v>38.1679</c:v>
              </c:pt>
              <c:pt idx="367">
                <c:v>33.8166</c:v>
              </c:pt>
              <c:pt idx="368">
                <c:v>30.2026</c:v>
              </c:pt>
              <c:pt idx="369">
                <c:v>27.4087</c:v>
              </c:pt>
              <c:pt idx="370">
                <c:v>40.5534</c:v>
              </c:pt>
              <c:pt idx="371">
                <c:v>28.0372</c:v>
              </c:pt>
              <c:pt idx="372">
                <c:v>26.3152</c:v>
              </c:pt>
              <c:pt idx="373">
                <c:v>24.0085</c:v>
              </c:pt>
              <c:pt idx="374">
                <c:v>27.4845</c:v>
              </c:pt>
              <c:pt idx="375">
                <c:v>18.6604</c:v>
              </c:pt>
              <c:pt idx="376">
                <c:v>25.8682</c:v>
              </c:pt>
              <c:pt idx="377">
                <c:v>33.7944</c:v>
              </c:pt>
              <c:pt idx="378">
                <c:v>25.356</c:v>
              </c:pt>
              <c:pt idx="379">
                <c:v>21.9847</c:v>
              </c:pt>
              <c:pt idx="380">
                <c:v>25.3681</c:v>
              </c:pt>
              <c:pt idx="381">
                <c:v>25.8202</c:v>
              </c:pt>
              <c:pt idx="382">
                <c:v>21.2577</c:v>
              </c:pt>
              <c:pt idx="383">
                <c:v>23.6751</c:v>
              </c:pt>
              <c:pt idx="384">
                <c:v>25.0862</c:v>
              </c:pt>
              <c:pt idx="385">
                <c:v>27.7663</c:v>
              </c:pt>
              <c:pt idx="386">
                <c:v>24.9703</c:v>
              </c:pt>
              <c:pt idx="387">
                <c:v>24.8639</c:v>
              </c:pt>
              <c:pt idx="388">
                <c:v>29.6624</c:v>
              </c:pt>
              <c:pt idx="389">
                <c:v>26.7015</c:v>
              </c:pt>
              <c:pt idx="390">
                <c:v>26.8025</c:v>
              </c:pt>
              <c:pt idx="391">
                <c:v>26.8804</c:v>
              </c:pt>
              <c:pt idx="392">
                <c:v>42.3643</c:v>
              </c:pt>
              <c:pt idx="393">
                <c:v>53.002</c:v>
              </c:pt>
              <c:pt idx="394">
                <c:v>46.557</c:v>
              </c:pt>
              <c:pt idx="395">
                <c:v>45.2928</c:v>
              </c:pt>
              <c:pt idx="396">
                <c:v>62.1762</c:v>
              </c:pt>
              <c:pt idx="397">
                <c:v>110.8887</c:v>
              </c:pt>
              <c:pt idx="398">
                <c:v>89.9836</c:v>
              </c:pt>
              <c:pt idx="399">
                <c:v>79.8869</c:v>
              </c:pt>
              <c:pt idx="400">
                <c:v>47.023</c:v>
              </c:pt>
              <c:pt idx="401">
                <c:v>34.5143</c:v>
              </c:pt>
              <c:pt idx="402">
                <c:v>36.0032</c:v>
              </c:pt>
              <c:pt idx="403">
                <c:v>31.074</c:v>
              </c:pt>
              <c:pt idx="404">
                <c:v>52.4812</c:v>
              </c:pt>
              <c:pt idx="405">
                <c:v>29.8694</c:v>
              </c:pt>
              <c:pt idx="406">
                <c:v>24.6074</c:v>
              </c:pt>
              <c:pt idx="407">
                <c:v>29.6411</c:v>
              </c:pt>
              <c:pt idx="408">
                <c:v>35.887</c:v>
              </c:pt>
              <c:pt idx="409">
                <c:v>36.3791</c:v>
              </c:pt>
              <c:pt idx="410">
                <c:v>21.7018</c:v>
              </c:pt>
              <c:pt idx="411">
                <c:v>29.7368</c:v>
              </c:pt>
              <c:pt idx="412">
                <c:v>21.4531</c:v>
              </c:pt>
              <c:pt idx="413">
                <c:v>28.7793</c:v>
              </c:pt>
              <c:pt idx="414">
                <c:v>24.3584</c:v>
              </c:pt>
              <c:pt idx="415">
                <c:v>36.236</c:v>
              </c:pt>
              <c:pt idx="416">
                <c:v>64.041</c:v>
              </c:pt>
              <c:pt idx="417">
                <c:v>37.5868</c:v>
              </c:pt>
              <c:pt idx="418">
                <c:v>35.1924</c:v>
              </c:pt>
              <c:pt idx="419">
                <c:v>35.6522</c:v>
              </c:pt>
              <c:pt idx="420">
                <c:v>23.6249</c:v>
              </c:pt>
              <c:pt idx="421">
                <c:v>24.5535</c:v>
              </c:pt>
              <c:pt idx="422">
                <c:v>20.0346</c:v>
              </c:pt>
              <c:pt idx="423">
                <c:v>24.1258</c:v>
              </c:pt>
              <c:pt idx="424">
                <c:v>23.1927</c:v>
              </c:pt>
              <c:pt idx="425">
                <c:v>23.5387</c:v>
              </c:pt>
              <c:pt idx="426">
                <c:v>48.129</c:v>
              </c:pt>
              <c:pt idx="427">
                <c:v>66.1342</c:v>
              </c:pt>
              <c:pt idx="428">
                <c:v>34.562</c:v>
              </c:pt>
              <c:pt idx="429">
                <c:v>37.8617</c:v>
              </c:pt>
              <c:pt idx="430">
                <c:v>26.4194</c:v>
              </c:pt>
              <c:pt idx="431">
                <c:v>43.8258</c:v>
              </c:pt>
              <c:pt idx="432">
                <c:v>28.3317</c:v>
              </c:pt>
              <c:pt idx="433">
                <c:v>26.9326</c:v>
              </c:pt>
              <c:pt idx="434">
                <c:v>30.837</c:v>
              </c:pt>
              <c:pt idx="435">
                <c:v>32.56</c:v>
              </c:pt>
              <c:pt idx="436">
                <c:v>24.0545</c:v>
              </c:pt>
              <c:pt idx="437">
                <c:v>59.1764</c:v>
              </c:pt>
              <c:pt idx="438">
                <c:v>57.1345</c:v>
              </c:pt>
              <c:pt idx="439">
                <c:v>34.1439</c:v>
              </c:pt>
              <c:pt idx="440">
                <c:v>51.1755</c:v>
              </c:pt>
              <c:pt idx="441">
                <c:v>32.2645</c:v>
              </c:pt>
              <c:pt idx="442">
                <c:v>58.8405</c:v>
              </c:pt>
              <c:pt idx="443">
                <c:v>27.632</c:v>
              </c:pt>
              <c:pt idx="444">
                <c:v>28.4289</c:v>
              </c:pt>
              <c:pt idx="445">
                <c:v>29.2646</c:v>
              </c:pt>
              <c:pt idx="446">
                <c:v>25.9655</c:v>
              </c:pt>
              <c:pt idx="447">
                <c:v>27.4264</c:v>
              </c:pt>
              <c:pt idx="448">
                <c:v>11.4759</c:v>
              </c:pt>
              <c:pt idx="449">
                <c:v>27.194</c:v>
              </c:pt>
              <c:pt idx="450">
                <c:v>28.5288</c:v>
              </c:pt>
              <c:pt idx="451">
                <c:v>36.1623</c:v>
              </c:pt>
              <c:pt idx="452">
                <c:v>37.0869</c:v>
              </c:pt>
              <c:pt idx="453">
                <c:v>26.528</c:v>
              </c:pt>
              <c:pt idx="454">
                <c:v>34.3245</c:v>
              </c:pt>
              <c:pt idx="455">
                <c:v>26.1955</c:v>
              </c:pt>
              <c:pt idx="456">
                <c:v>29.9987</c:v>
              </c:pt>
              <c:pt idx="457">
                <c:v>27.0683</c:v>
              </c:pt>
              <c:pt idx="458">
                <c:v>34.4026</c:v>
              </c:pt>
              <c:pt idx="459">
                <c:v>26.3744</c:v>
              </c:pt>
              <c:pt idx="460">
                <c:v>43.7338</c:v>
              </c:pt>
              <c:pt idx="461">
                <c:v>34.0318</c:v>
              </c:pt>
              <c:pt idx="462">
                <c:v>46.5245</c:v>
              </c:pt>
              <c:pt idx="463">
                <c:v>44.3511</c:v>
              </c:pt>
              <c:pt idx="464">
                <c:v>27.7794</c:v>
              </c:pt>
              <c:pt idx="465">
                <c:v>21.425</c:v>
              </c:pt>
              <c:pt idx="466">
                <c:v>23.7832</c:v>
              </c:pt>
              <c:pt idx="467">
                <c:v>26.0859</c:v>
              </c:pt>
              <c:pt idx="468">
                <c:v>14.2495</c:v>
              </c:pt>
              <c:pt idx="469">
                <c:v>18.2969</c:v>
              </c:pt>
              <c:pt idx="470">
                <c:v>20.9059</c:v>
              </c:pt>
              <c:pt idx="471">
                <c:v>15.0395</c:v>
              </c:pt>
              <c:pt idx="472">
                <c:v>30.5863</c:v>
              </c:pt>
              <c:pt idx="473">
                <c:v>28.7819</c:v>
              </c:pt>
              <c:pt idx="474">
                <c:v>21.1181</c:v>
              </c:pt>
              <c:pt idx="475">
                <c:v>22.1936</c:v>
              </c:pt>
              <c:pt idx="476">
                <c:v>31.7519</c:v>
              </c:pt>
              <c:pt idx="477">
                <c:v>33.3876</c:v>
              </c:pt>
              <c:pt idx="478">
                <c:v>24.4621</c:v>
              </c:pt>
              <c:pt idx="479">
                <c:v>27.5886</c:v>
              </c:pt>
              <c:pt idx="480">
                <c:v>27.0862</c:v>
              </c:pt>
              <c:pt idx="481">
                <c:v>26.1119</c:v>
              </c:pt>
              <c:pt idx="482">
                <c:v>34.4398</c:v>
              </c:pt>
              <c:pt idx="483">
                <c:v>23.713</c:v>
              </c:pt>
              <c:pt idx="484">
                <c:v>25.5973</c:v>
              </c:pt>
              <c:pt idx="485">
                <c:v>32.5979</c:v>
              </c:pt>
              <c:pt idx="486">
                <c:v>22.0502</c:v>
              </c:pt>
              <c:pt idx="487">
                <c:v>23.211</c:v>
              </c:pt>
              <c:pt idx="488">
                <c:v>32.3776</c:v>
              </c:pt>
              <c:pt idx="489">
                <c:v>26.3376</c:v>
              </c:pt>
              <c:pt idx="490">
                <c:v>20.5629</c:v>
              </c:pt>
              <c:pt idx="491">
                <c:v>30.3775</c:v>
              </c:pt>
              <c:pt idx="492">
                <c:v>49.201</c:v>
              </c:pt>
              <c:pt idx="493">
                <c:v>111.985</c:v>
              </c:pt>
              <c:pt idx="494">
                <c:v>33.7104</c:v>
              </c:pt>
              <c:pt idx="495">
                <c:v>24.5073</c:v>
              </c:pt>
              <c:pt idx="496">
                <c:v>26.8459</c:v>
              </c:pt>
              <c:pt idx="497">
                <c:v>38.1838</c:v>
              </c:pt>
              <c:pt idx="498">
                <c:v>23.0041</c:v>
              </c:pt>
              <c:pt idx="499">
                <c:v>28.3499</c:v>
              </c:pt>
              <c:pt idx="500">
                <c:v>20.0655</c:v>
              </c:pt>
              <c:pt idx="501">
                <c:v>23.0354</c:v>
              </c:pt>
              <c:pt idx="502">
                <c:v>32.8155</c:v>
              </c:pt>
              <c:pt idx="503">
                <c:v>35.5016</c:v>
              </c:pt>
              <c:pt idx="504">
                <c:v>22.118</c:v>
              </c:pt>
            </c:numLit>
          </c:xVal>
          <c:yVal>
            <c:numLit>
              <c:formatCode>0.0</c:formatCode>
              <c:ptCount val="505"/>
              <c:pt idx="0">
                <c:v>0.6962363968358476</c:v>
              </c:pt>
              <c:pt idx="1">
                <c:v>-0.20976071931509965</c:v>
              </c:pt>
              <c:pt idx="2">
                <c:v>0.8174410467288729</c:v>
              </c:pt>
              <c:pt idx="3">
                <c:v>2.7027027027026973</c:v>
              </c:pt>
              <c:pt idx="4">
                <c:v>-0.6240616541353439</c:v>
              </c:pt>
              <c:pt idx="5">
                <c:v>-2.557316373720442</c:v>
              </c:pt>
              <c:pt idx="6">
                <c:v>1.265630164293885</c:v>
              </c:pt>
              <c:pt idx="7">
                <c:v>-1.5028301104559105</c:v>
              </c:pt>
              <c:pt idx="8">
                <c:v>0.4904164453299664</c:v>
              </c:pt>
              <c:pt idx="9">
                <c:v>0.2091602822576588</c:v>
              </c:pt>
              <c:pt idx="10">
                <c:v>-0.6338960989958564</c:v>
              </c:pt>
              <c:pt idx="11">
                <c:v>-1.6570632612373126</c:v>
              </c:pt>
              <c:pt idx="12">
                <c:v>0.15029981329641728</c:v>
              </c:pt>
              <c:pt idx="13">
                <c:v>0.4265410809880077</c:v>
              </c:pt>
              <c:pt idx="14">
                <c:v>-2.06858346758364</c:v>
              </c:pt>
              <c:pt idx="15">
                <c:v>-1.8231499185101585</c:v>
              </c:pt>
              <c:pt idx="16">
                <c:v>1.8079180596845212</c:v>
              </c:pt>
              <c:pt idx="17">
                <c:v>-0.6910413987394448</c:v>
              </c:pt>
              <c:pt idx="18">
                <c:v>1.1004134994874404</c:v>
              </c:pt>
              <c:pt idx="19">
                <c:v>1.6726723090677575</c:v>
              </c:pt>
              <c:pt idx="20">
                <c:v>1.1256297140614713</c:v>
              </c:pt>
              <c:pt idx="21">
                <c:v>-0.7550408596945446</c:v>
              </c:pt>
              <c:pt idx="22">
                <c:v>-1.2549003921568658</c:v>
              </c:pt>
              <c:pt idx="23">
                <c:v>1.0405059405797168</c:v>
              </c:pt>
              <c:pt idx="24">
                <c:v>-0.4087705401208175</c:v>
              </c:pt>
              <c:pt idx="25">
                <c:v>-2.612680517599175</c:v>
              </c:pt>
              <c:pt idx="26">
                <c:v>0.6970343823237357</c:v>
              </c:pt>
              <c:pt idx="27">
                <c:v>-0.7968432195242015</c:v>
              </c:pt>
              <c:pt idx="28">
                <c:v>2.5314425963488763</c:v>
              </c:pt>
              <c:pt idx="29">
                <c:v>-1.5351768251520848</c:v>
              </c:pt>
              <c:pt idx="30">
                <c:v>-0.1446596479948603</c:v>
              </c:pt>
              <c:pt idx="31">
                <c:v>0.8611670020120643</c:v>
              </c:pt>
              <c:pt idx="32">
                <c:v>1.6198515799553226</c:v>
              </c:pt>
              <c:pt idx="33">
                <c:v>-1.0522151716091943</c:v>
              </c:pt>
              <c:pt idx="34">
                <c:v>-0.32537417148839065</c:v>
              </c:pt>
              <c:pt idx="35">
                <c:v>0.764331222361947</c:v>
              </c:pt>
              <c:pt idx="36">
                <c:v>0.4266751015593373</c:v>
              </c:pt>
              <c:pt idx="37">
                <c:v>-0.1966955184373842</c:v>
              </c:pt>
              <c:pt idx="38">
                <c:v>-0.43357903718689306</c:v>
              </c:pt>
              <c:pt idx="39">
                <c:v>0.38004432984850567</c:v>
              </c:pt>
              <c:pt idx="40">
                <c:v>-0.4811492386902372</c:v>
              </c:pt>
              <c:pt idx="41">
                <c:v>-1.1254640742722422</c:v>
              </c:pt>
              <c:pt idx="42">
                <c:v>2.2845675350701367</c:v>
              </c:pt>
              <c:pt idx="43">
                <c:v>-0.5407476573784931</c:v>
              </c:pt>
              <c:pt idx="44">
                <c:v>1.3474044173853894</c:v>
              </c:pt>
              <c:pt idx="45">
                <c:v>0.816360628843138</c:v>
              </c:pt>
              <c:pt idx="46">
                <c:v>0.4704257032532855</c:v>
              </c:pt>
              <c:pt idx="47">
                <c:v>1.819154911108023</c:v>
              </c:pt>
              <c:pt idx="48">
                <c:v>-1.5755718767691662</c:v>
              </c:pt>
              <c:pt idx="49">
                <c:v>-1.4705874918901407</c:v>
              </c:pt>
              <c:pt idx="50">
                <c:v>-2.712995201438073</c:v>
              </c:pt>
              <c:pt idx="51">
                <c:v>3.0363523286240035</c:v>
              </c:pt>
              <c:pt idx="52">
                <c:v>-0.19387359892687472</c:v>
              </c:pt>
              <c:pt idx="53">
                <c:v>-2.2532976438220054</c:v>
              </c:pt>
              <c:pt idx="54">
                <c:v>-0.6279817020354184</c:v>
              </c:pt>
              <c:pt idx="55">
                <c:v>0.19998399808041079</c:v>
              </c:pt>
              <c:pt idx="56">
                <c:v>1.8840818795452297</c:v>
              </c:pt>
              <c:pt idx="57">
                <c:v>-1.0186514413418446</c:v>
              </c:pt>
              <c:pt idx="58">
                <c:v>-0.3562357504749758</c:v>
              </c:pt>
              <c:pt idx="59">
                <c:v>0.11122507083756172</c:v>
              </c:pt>
              <c:pt idx="60">
                <c:v>2.3331441578740675</c:v>
              </c:pt>
              <c:pt idx="61">
                <c:v>-0.13958356276657646</c:v>
              </c:pt>
              <c:pt idx="62">
                <c:v>1.1027397343250867</c:v>
              </c:pt>
              <c:pt idx="63">
                <c:v>-0.09216913599862098</c:v>
              </c:pt>
              <c:pt idx="64">
                <c:v>-0.007695086846570831</c:v>
              </c:pt>
              <c:pt idx="65">
                <c:v>1.0226057361618413</c:v>
              </c:pt>
              <c:pt idx="66">
                <c:v>0.8752523089676112</c:v>
              </c:pt>
              <c:pt idx="67">
                <c:v>-2.20310710292555</c:v>
              </c:pt>
              <c:pt idx="68">
                <c:v>1.8669943630224894</c:v>
              </c:pt>
              <c:pt idx="69">
                <c:v>-0.19690549362570975</c:v>
              </c:pt>
              <c:pt idx="70">
                <c:v>-1.138260746230546</c:v>
              </c:pt>
              <c:pt idx="71">
                <c:v>0.19956555265248088</c:v>
              </c:pt>
              <c:pt idx="72">
                <c:v>-0.444297557147888</c:v>
              </c:pt>
              <c:pt idx="73">
                <c:v>0.12310556431409658</c:v>
              </c:pt>
              <c:pt idx="74">
                <c:v>-0.5840716486347652</c:v>
              </c:pt>
              <c:pt idx="75">
                <c:v>-0.5488613130112951</c:v>
              </c:pt>
              <c:pt idx="76">
                <c:v>-0.6607003806000877</c:v>
              </c:pt>
              <c:pt idx="77">
                <c:v>-0.2973434984974155</c:v>
              </c:pt>
              <c:pt idx="78">
                <c:v>1.145822494833193</c:v>
              </c:pt>
              <c:pt idx="79">
                <c:v>-0.22502249282190245</c:v>
              </c:pt>
              <c:pt idx="80">
                <c:v>-1.104283415639895</c:v>
              </c:pt>
              <c:pt idx="81">
                <c:v>-0.19658724851123743</c:v>
              </c:pt>
              <c:pt idx="82">
                <c:v>0.535770572577543</c:v>
              </c:pt>
              <c:pt idx="83">
                <c:v>-0.2351058030580777</c:v>
              </c:pt>
              <c:pt idx="84">
                <c:v>0.45561192956138363</c:v>
              </c:pt>
              <c:pt idx="85">
                <c:v>-1.0009376212293808</c:v>
              </c:pt>
              <c:pt idx="86">
                <c:v>0.7977906919082178</c:v>
              </c:pt>
              <c:pt idx="87">
                <c:v>-0.45451139836601984</c:v>
              </c:pt>
              <c:pt idx="88">
                <c:v>0.850194448950603</c:v>
              </c:pt>
              <c:pt idx="89">
                <c:v>-0.4761540826153099</c:v>
              </c:pt>
              <c:pt idx="90">
                <c:v>-0.588235294117645</c:v>
              </c:pt>
              <c:pt idx="91">
                <c:v>-1.751480078895462</c:v>
              </c:pt>
              <c:pt idx="92">
                <c:v>0.7227182263126908</c:v>
              </c:pt>
              <c:pt idx="93">
                <c:v>0.9327896037630401</c:v>
              </c:pt>
              <c:pt idx="94">
                <c:v>-0.12637914891593383</c:v>
              </c:pt>
              <c:pt idx="95">
                <c:v>-0.34799271831711387</c:v>
              </c:pt>
              <c:pt idx="96">
                <c:v>-0.24603015873014833</c:v>
              </c:pt>
              <c:pt idx="97">
                <c:v>-2.4822992683220857</c:v>
              </c:pt>
              <c:pt idx="98">
                <c:v>-2.039650811781024</c:v>
              </c:pt>
              <c:pt idx="99">
                <c:v>2.673439660198218</c:v>
              </c:pt>
              <c:pt idx="100">
                <c:v>1.9305686399299749</c:v>
              </c:pt>
              <c:pt idx="101">
                <c:v>-0.0397922954069041</c:v>
              </c:pt>
              <c:pt idx="102">
                <c:v>0.9632982966061743</c:v>
              </c:pt>
              <c:pt idx="103">
                <c:v>1.3325934395205907</c:v>
              </c:pt>
              <c:pt idx="104">
                <c:v>0.863746045589675</c:v>
              </c:pt>
              <c:pt idx="105">
                <c:v>1.8901497411722756</c:v>
              </c:pt>
              <c:pt idx="106">
                <c:v>-0.9994752252871497</c:v>
              </c:pt>
              <c:pt idx="107">
                <c:v>-4.229444741873811</c:v>
              </c:pt>
              <c:pt idx="108">
                <c:v>-0.04791327225751596</c:v>
              </c:pt>
              <c:pt idx="109">
                <c:v>-0.5273282030256232</c:v>
              </c:pt>
              <c:pt idx="110">
                <c:v>-1.3895606425702756</c:v>
              </c:pt>
              <c:pt idx="111">
                <c:v>0.49686406687783347</c:v>
              </c:pt>
              <c:pt idx="112">
                <c:v>-0.316095809274497</c:v>
              </c:pt>
              <c:pt idx="113">
                <c:v>-0.5041019677063496</c:v>
              </c:pt>
              <c:pt idx="114">
                <c:v>-0.8743972981679171</c:v>
              </c:pt>
              <c:pt idx="115">
                <c:v>-2.3577913679029283</c:v>
              </c:pt>
              <c:pt idx="116">
                <c:v>-3.2083780275518725</c:v>
              </c:pt>
              <c:pt idx="117">
                <c:v>0.6629474935707202</c:v>
              </c:pt>
              <c:pt idx="118">
                <c:v>-0.23397313286007693</c:v>
              </c:pt>
              <c:pt idx="119">
                <c:v>0.3387475116498173</c:v>
              </c:pt>
              <c:pt idx="120">
                <c:v>3.635737629044433</c:v>
              </c:pt>
              <c:pt idx="121">
                <c:v>-5.203811349784404</c:v>
              </c:pt>
              <c:pt idx="122">
                <c:v>1.5419861052424988</c:v>
              </c:pt>
              <c:pt idx="123">
                <c:v>-0.0780944130179484</c:v>
              </c:pt>
              <c:pt idx="124">
                <c:v>0.7034276907784909</c:v>
              </c:pt>
              <c:pt idx="125">
                <c:v>1.034843920617834</c:v>
              </c:pt>
              <c:pt idx="126">
                <c:v>-0.5633355901899728</c:v>
              </c:pt>
              <c:pt idx="127">
                <c:v>-1.2789682403433478</c:v>
              </c:pt>
              <c:pt idx="128">
                <c:v>-2.051995442970256</c:v>
              </c:pt>
              <c:pt idx="129">
                <c:v>-6.116289283332632</c:v>
              </c:pt>
              <c:pt idx="130">
                <c:v>-2.496216858997413</c:v>
              </c:pt>
              <c:pt idx="131">
                <c:v>0.6012364060928199</c:v>
              </c:pt>
              <c:pt idx="132">
                <c:v>5.7354965439656125</c:v>
              </c:pt>
              <c:pt idx="133">
                <c:v>2.9446585295896055</c:v>
              </c:pt>
              <c:pt idx="134">
                <c:v>0.32766826651908776</c:v>
              </c:pt>
              <c:pt idx="135">
                <c:v>-0.4678250466252587</c:v>
              </c:pt>
              <c:pt idx="136">
                <c:v>-4.469670903340361</c:v>
              </c:pt>
              <c:pt idx="137">
                <c:v>4.288892459256477</c:v>
              </c:pt>
              <c:pt idx="138">
                <c:v>-1.7535989586469292</c:v>
              </c:pt>
              <c:pt idx="139">
                <c:v>-0.9966530489266989</c:v>
              </c:pt>
              <c:pt idx="140">
                <c:v>2.782100378386576</c:v>
              </c:pt>
              <c:pt idx="141">
                <c:v>-1.9232446251134183</c:v>
              </c:pt>
              <c:pt idx="142">
                <c:v>2.1970022297412184</c:v>
              </c:pt>
              <c:pt idx="143">
                <c:v>1.4568703917562376</c:v>
              </c:pt>
              <c:pt idx="144">
                <c:v>0.9631372118302783</c:v>
              </c:pt>
              <c:pt idx="145">
                <c:v>0.8412115313712887</c:v>
              </c:pt>
              <c:pt idx="146">
                <c:v>0.11180340653424992</c:v>
              </c:pt>
              <c:pt idx="147">
                <c:v>-2.138996576273633</c:v>
              </c:pt>
              <c:pt idx="148">
                <c:v>-0.41257110977127587</c:v>
              </c:pt>
              <c:pt idx="149">
                <c:v>1.5513460084093156</c:v>
              </c:pt>
              <c:pt idx="150">
                <c:v>-1.571041589888389</c:v>
              </c:pt>
              <c:pt idx="151">
                <c:v>0.8112856999773266</c:v>
              </c:pt>
              <c:pt idx="152">
                <c:v>0.5948215535339418</c:v>
              </c:pt>
              <c:pt idx="153">
                <c:v>-0.25217478260869397</c:v>
              </c:pt>
              <c:pt idx="154">
                <c:v>-1.9789007233798284</c:v>
              </c:pt>
              <c:pt idx="155">
                <c:v>-3.0060511738518203</c:v>
              </c:pt>
              <c:pt idx="156">
                <c:v>1.1369934189802589</c:v>
              </c:pt>
              <c:pt idx="157">
                <c:v>-0.6527660747207897</c:v>
              </c:pt>
              <c:pt idx="158">
                <c:v>0.7300556537679359</c:v>
              </c:pt>
              <c:pt idx="159">
                <c:v>0.3623863117155235</c:v>
              </c:pt>
              <c:pt idx="160">
                <c:v>0.478424810240341</c:v>
              </c:pt>
              <c:pt idx="161">
                <c:v>-0.47614680578826896</c:v>
              </c:pt>
              <c:pt idx="162">
                <c:v>-1.1554423285380255</c:v>
              </c:pt>
              <c:pt idx="163">
                <c:v>2.3926968036529717</c:v>
              </c:pt>
              <c:pt idx="164">
                <c:v>-0.46379324481465867</c:v>
              </c:pt>
              <c:pt idx="165">
                <c:v>0.1702535872805333</c:v>
              </c:pt>
              <c:pt idx="166">
                <c:v>-1.4133661202847758</c:v>
              </c:pt>
              <c:pt idx="167">
                <c:v>1.4971436484633394</c:v>
              </c:pt>
              <c:pt idx="168">
                <c:v>-0.7330591745658865</c:v>
              </c:pt>
              <c:pt idx="169">
                <c:v>0.6213994900810427</c:v>
              </c:pt>
              <c:pt idx="170">
                <c:v>1.8258247070842781</c:v>
              </c:pt>
              <c:pt idx="171">
                <c:v>-0.008785268755873155</c:v>
              </c:pt>
              <c:pt idx="172">
                <c:v>1.5295340800011603</c:v>
              </c:pt>
              <c:pt idx="173">
                <c:v>3.0995688311688196</c:v>
              </c:pt>
              <c:pt idx="174">
                <c:v>-3.191134477810964</c:v>
              </c:pt>
              <c:pt idx="175">
                <c:v>-0.6332373406769398</c:v>
              </c:pt>
              <c:pt idx="176">
                <c:v>4.120466064064621</c:v>
              </c:pt>
              <c:pt idx="177">
                <c:v>1.0564282985602746</c:v>
              </c:pt>
              <c:pt idx="178">
                <c:v>-0.854558208367695</c:v>
              </c:pt>
              <c:pt idx="179">
                <c:v>1.4058577405857697</c:v>
              </c:pt>
              <c:pt idx="180">
                <c:v>1.1470539693018589</c:v>
              </c:pt>
              <c:pt idx="181">
                <c:v>-0.4650403850860685</c:v>
              </c:pt>
              <c:pt idx="182">
                <c:v>-0.8852475409836025</c:v>
              </c:pt>
              <c:pt idx="183">
                <c:v>0.11577902937112139</c:v>
              </c:pt>
              <c:pt idx="184">
                <c:v>-0.40475632586743915</c:v>
              </c:pt>
              <c:pt idx="185">
                <c:v>-3.151698598324615</c:v>
              </c:pt>
              <c:pt idx="186">
                <c:v>-0.5652102568778905</c:v>
              </c:pt>
              <c:pt idx="187">
                <c:v>-0.3358883788141531</c:v>
              </c:pt>
              <c:pt idx="188">
                <c:v>-2.920847710673624</c:v>
              </c:pt>
              <c:pt idx="189">
                <c:v>1.6378886109271518</c:v>
              </c:pt>
              <c:pt idx="190">
                <c:v>-0.42914520931861544</c:v>
              </c:pt>
              <c:pt idx="191">
                <c:v>3.1665044741577164</c:v>
              </c:pt>
              <c:pt idx="192">
                <c:v>1.2703538130245162</c:v>
              </c:pt>
              <c:pt idx="193">
                <c:v>0.43778750999989846</c:v>
              </c:pt>
              <c:pt idx="194">
                <c:v>-1.2992480813265428</c:v>
              </c:pt>
              <c:pt idx="195">
                <c:v>0.9596577494692227</c:v>
              </c:pt>
              <c:pt idx="196">
                <c:v>-0.7150050651498541</c:v>
              </c:pt>
              <c:pt idx="197">
                <c:v>-0.18639413866301524</c:v>
              </c:pt>
              <c:pt idx="198">
                <c:v>0.41592819651861124</c:v>
              </c:pt>
              <c:pt idx="199">
                <c:v>-0.8115020926922623</c:v>
              </c:pt>
              <c:pt idx="200">
                <c:v>-0.9033552378849508</c:v>
              </c:pt>
              <c:pt idx="201">
                <c:v>-0.9287942976332508</c:v>
              </c:pt>
              <c:pt idx="202">
                <c:v>3.3246546004684463</c:v>
              </c:pt>
              <c:pt idx="203">
                <c:v>-0.6300932590951325</c:v>
              </c:pt>
              <c:pt idx="204">
                <c:v>-0.042269192105770514</c:v>
              </c:pt>
              <c:pt idx="205">
                <c:v>-2.2075614765906804</c:v>
              </c:pt>
              <c:pt idx="206">
                <c:v>0.4756919094700329</c:v>
              </c:pt>
              <c:pt idx="207">
                <c:v>-2.573812560451283</c:v>
              </c:pt>
              <c:pt idx="208">
                <c:v>-0.6184811804205825</c:v>
              </c:pt>
              <c:pt idx="209">
                <c:v>-1.7692078119876942</c:v>
              </c:pt>
              <c:pt idx="210">
                <c:v>0.7692985929821372</c:v>
              </c:pt>
              <c:pt idx="211">
                <c:v>-2.1196273439779922</c:v>
              </c:pt>
              <c:pt idx="212">
                <c:v>-2.7069222965611317</c:v>
              </c:pt>
              <c:pt idx="213">
                <c:v>1.2260709348870025</c:v>
              </c:pt>
              <c:pt idx="214">
                <c:v>-0.09316966191801335</c:v>
              </c:pt>
              <c:pt idx="215">
                <c:v>1.2869513768455354</c:v>
              </c:pt>
              <c:pt idx="216">
                <c:v>-0.5340226449311869</c:v>
              </c:pt>
              <c:pt idx="217">
                <c:v>-1.1200583275021714</c:v>
              </c:pt>
              <c:pt idx="218">
                <c:v>1.7974143418835409</c:v>
              </c:pt>
              <c:pt idx="219">
                <c:v>-1.3058653909484241</c:v>
              </c:pt>
              <c:pt idx="220">
                <c:v>-1.9194912411479637</c:v>
              </c:pt>
              <c:pt idx="221">
                <c:v>0.08549876333843187</c:v>
              </c:pt>
              <c:pt idx="222">
                <c:v>-2.505931703956943</c:v>
              </c:pt>
              <c:pt idx="223">
                <c:v>-1.9569681818417672</c:v>
              </c:pt>
              <c:pt idx="224">
                <c:v>-4.220456928116889</c:v>
              </c:pt>
              <c:pt idx="225">
                <c:v>0.5287734741971972</c:v>
              </c:pt>
              <c:pt idx="226">
                <c:v>1.619224439142175</c:v>
              </c:pt>
              <c:pt idx="227">
                <c:v>1.4513346336276767</c:v>
              </c:pt>
              <c:pt idx="228">
                <c:v>-2.57102843708511</c:v>
              </c:pt>
              <c:pt idx="229">
                <c:v>2.1870808315749057</c:v>
              </c:pt>
              <c:pt idx="230">
                <c:v>-2.401527403583026</c:v>
              </c:pt>
              <c:pt idx="231">
                <c:v>-0.483880381464441</c:v>
              </c:pt>
              <c:pt idx="232">
                <c:v>0.13448892470562246</c:v>
              </c:pt>
              <c:pt idx="233">
                <c:v>-0.506248574168322</c:v>
              </c:pt>
              <c:pt idx="234">
                <c:v>5.316713230008929</c:v>
              </c:pt>
              <c:pt idx="235">
                <c:v>-1.9522737517703392</c:v>
              </c:pt>
              <c:pt idx="236">
                <c:v>0.5530933114824332</c:v>
              </c:pt>
              <c:pt idx="237">
                <c:v>-6.570657197132846</c:v>
              </c:pt>
              <c:pt idx="238">
                <c:v>0.7171890541038062</c:v>
              </c:pt>
              <c:pt idx="239">
                <c:v>3.4541398003673063</c:v>
              </c:pt>
              <c:pt idx="240">
                <c:v>-0.9348634039393122</c:v>
              </c:pt>
              <c:pt idx="241">
                <c:v>-2.0221891527533065</c:v>
              </c:pt>
              <c:pt idx="242">
                <c:v>1.9792495137833654</c:v>
              </c:pt>
              <c:pt idx="243">
                <c:v>0.25947068519918126</c:v>
              </c:pt>
              <c:pt idx="244">
                <c:v>-2.6708085439090756</c:v>
              </c:pt>
              <c:pt idx="245">
                <c:v>1.0529728053490617</c:v>
              </c:pt>
              <c:pt idx="246">
                <c:v>-0.021054625385652503</c:v>
              </c:pt>
              <c:pt idx="247">
                <c:v>-0.7579755923355136</c:v>
              </c:pt>
              <c:pt idx="248">
                <c:v>-0.6046462481589021</c:v>
              </c:pt>
              <c:pt idx="249">
                <c:v>0.30949947629135277</c:v>
              </c:pt>
              <c:pt idx="250">
                <c:v>2.81945000147783</c:v>
              </c:pt>
              <c:pt idx="251">
                <c:v>1.5314611085623042</c:v>
              </c:pt>
              <c:pt idx="252">
                <c:v>-1.8956389554941167</c:v>
              </c:pt>
              <c:pt idx="253">
                <c:v>-0.22854871746210703</c:v>
              </c:pt>
              <c:pt idx="254">
                <c:v>0.8746313944749007</c:v>
              </c:pt>
              <c:pt idx="255">
                <c:v>-2.2605233978279293</c:v>
              </c:pt>
              <c:pt idx="256">
                <c:v>1.489065339759943</c:v>
              </c:pt>
              <c:pt idx="257">
                <c:v>0.6867887759997693</c:v>
              </c:pt>
              <c:pt idx="258">
                <c:v>0.15502480043354527</c:v>
              </c:pt>
              <c:pt idx="259">
                <c:v>-0.2270168103594261</c:v>
              </c:pt>
              <c:pt idx="260">
                <c:v>3.971451981146923</c:v>
              </c:pt>
              <c:pt idx="261">
                <c:v>0.21884114412453748</c:v>
              </c:pt>
              <c:pt idx="262">
                <c:v>0.7444168734491274</c:v>
              </c:pt>
              <c:pt idx="263">
                <c:v>1.4876866995073845</c:v>
              </c:pt>
              <c:pt idx="264">
                <c:v>-1.1066876787362845</c:v>
              </c:pt>
              <c:pt idx="265">
                <c:v>-0.8245842497913713</c:v>
              </c:pt>
              <c:pt idx="266">
                <c:v>0.08908641085900726</c:v>
              </c:pt>
              <c:pt idx="267">
                <c:v>0.04944125644459341</c:v>
              </c:pt>
              <c:pt idx="268">
                <c:v>1.0773984595709774</c:v>
              </c:pt>
              <c:pt idx="269">
                <c:v>0.25424896823296184</c:v>
              </c:pt>
              <c:pt idx="270">
                <c:v>2.009368962427871</c:v>
              </c:pt>
              <c:pt idx="271">
                <c:v>1.3291250462970972</c:v>
              </c:pt>
              <c:pt idx="272">
                <c:v>-0.16042087231837865</c:v>
              </c:pt>
              <c:pt idx="273">
                <c:v>0.11341682098062744</c:v>
              </c:pt>
              <c:pt idx="274">
                <c:v>-0.009435423138892673</c:v>
              </c:pt>
              <c:pt idx="275">
                <c:v>0.7647974406647995</c:v>
              </c:pt>
              <c:pt idx="276">
                <c:v>-0.5528523186576706</c:v>
              </c:pt>
              <c:pt idx="277">
                <c:v>-0.433429768211524</c:v>
              </c:pt>
              <c:pt idx="278">
                <c:v>-0.4542405688320317</c:v>
              </c:pt>
              <c:pt idx="279">
                <c:v>2.3671432195618847</c:v>
              </c:pt>
              <c:pt idx="280">
                <c:v>1.7459119613669971</c:v>
              </c:pt>
              <c:pt idx="281">
                <c:v>-0.5202628791577735</c:v>
              </c:pt>
              <c:pt idx="282">
                <c:v>0.9175153852191142</c:v>
              </c:pt>
              <c:pt idx="283">
                <c:v>1.0273706887420797</c:v>
              </c:pt>
              <c:pt idx="284">
                <c:v>-1.1789101553570047</c:v>
              </c:pt>
              <c:pt idx="285">
                <c:v>1.0472643847967422</c:v>
              </c:pt>
              <c:pt idx="286">
                <c:v>-2.1809643311189952</c:v>
              </c:pt>
              <c:pt idx="287">
                <c:v>0.11056108245290908</c:v>
              </c:pt>
              <c:pt idx="288">
                <c:v>0.33130221493458123</c:v>
              </c:pt>
              <c:pt idx="289">
                <c:v>1.3025179224688488</c:v>
              </c:pt>
              <c:pt idx="290">
                <c:v>1.4487495210295132</c:v>
              </c:pt>
              <c:pt idx="291">
                <c:v>0.05354962465593527</c:v>
              </c:pt>
              <c:pt idx="292">
                <c:v>-2.0071365210907466</c:v>
              </c:pt>
              <c:pt idx="293">
                <c:v>-2.1574829705504395</c:v>
              </c:pt>
              <c:pt idx="294">
                <c:v>-0.5303302792055153</c:v>
              </c:pt>
              <c:pt idx="295">
                <c:v>0.20577400782813005</c:v>
              </c:pt>
              <c:pt idx="296">
                <c:v>-1.0827928987994007</c:v>
              </c:pt>
              <c:pt idx="297">
                <c:v>-0.2736632983517562</c:v>
              </c:pt>
              <c:pt idx="298">
                <c:v>-0.5677498107494405</c:v>
              </c:pt>
              <c:pt idx="299">
                <c:v>-0.6947125867013182</c:v>
              </c:pt>
              <c:pt idx="300">
                <c:v>-6.257784499430475</c:v>
              </c:pt>
              <c:pt idx="301">
                <c:v>-3.056632590472297</c:v>
              </c:pt>
              <c:pt idx="302">
                <c:v>-1.1494294811888683</c:v>
              </c:pt>
              <c:pt idx="303">
                <c:v>-0.10667698115376378</c:v>
              </c:pt>
              <c:pt idx="304">
                <c:v>1.6445974118389328</c:v>
              </c:pt>
              <c:pt idx="305">
                <c:v>-1.0401323807522567</c:v>
              </c:pt>
              <c:pt idx="306">
                <c:v>-1.0086038643464579</c:v>
              </c:pt>
              <c:pt idx="307">
                <c:v>-0.5576973521599693</c:v>
              </c:pt>
              <c:pt idx="308">
                <c:v>0.07549611652830635</c:v>
              </c:pt>
              <c:pt idx="309">
                <c:v>0.6789492329027924</c:v>
              </c:pt>
              <c:pt idx="310">
                <c:v>-0.9740912218816455</c:v>
              </c:pt>
              <c:pt idx="311">
                <c:v>-2.345698792655959</c:v>
              </c:pt>
              <c:pt idx="312">
                <c:v>0.19924840377456565</c:v>
              </c:pt>
              <c:pt idx="313">
                <c:v>3.711886998847347</c:v>
              </c:pt>
              <c:pt idx="314">
                <c:v>-0.41542289354781214</c:v>
              </c:pt>
              <c:pt idx="315">
                <c:v>1.1445074584342185</c:v>
              </c:pt>
              <c:pt idx="316">
                <c:v>-0.3807117254803649</c:v>
              </c:pt>
              <c:pt idx="317">
                <c:v>1.0828068285394954</c:v>
              </c:pt>
              <c:pt idx="318">
                <c:v>1.2707403773289272</c:v>
              </c:pt>
              <c:pt idx="319">
                <c:v>1.5244239344602173</c:v>
              </c:pt>
              <c:pt idx="320">
                <c:v>1.7568957761614712</c:v>
              </c:pt>
              <c:pt idx="321">
                <c:v>0.7930144310475562</c:v>
              </c:pt>
              <c:pt idx="322">
                <c:v>-0.059760977601397425</c:v>
              </c:pt>
              <c:pt idx="323">
                <c:v>-0.48828800175960696</c:v>
              </c:pt>
              <c:pt idx="324">
                <c:v>-1.401964736611605</c:v>
              </c:pt>
              <c:pt idx="325">
                <c:v>-0.7515722196990926</c:v>
              </c:pt>
              <c:pt idx="326">
                <c:v>0.20466332168787016</c:v>
              </c:pt>
              <c:pt idx="327">
                <c:v>0.7250806929142151</c:v>
              </c:pt>
              <c:pt idx="328">
                <c:v>0.4055581589442747</c:v>
              </c:pt>
              <c:pt idx="329">
                <c:v>-0.09087852257778639</c:v>
              </c:pt>
              <c:pt idx="330">
                <c:v>0.7176066157750682</c:v>
              </c:pt>
              <c:pt idx="331">
                <c:v>-0.8228800637655853</c:v>
              </c:pt>
              <c:pt idx="332">
                <c:v>-1.507645421276016</c:v>
              </c:pt>
              <c:pt idx="333">
                <c:v>0.12328231449689753</c:v>
              </c:pt>
              <c:pt idx="334">
                <c:v>-0.32833983509480413</c:v>
              </c:pt>
              <c:pt idx="335">
                <c:v>0.4220753595025162</c:v>
              </c:pt>
              <c:pt idx="336">
                <c:v>-2.2757569776804765</c:v>
              </c:pt>
              <c:pt idx="337">
                <c:v>-0.24127136806311178</c:v>
              </c:pt>
              <c:pt idx="338">
                <c:v>0.8517413428336784</c:v>
              </c:pt>
              <c:pt idx="339">
                <c:v>-0.3753529193888827</c:v>
              </c:pt>
              <c:pt idx="340">
                <c:v>0.5756096103942454</c:v>
              </c:pt>
              <c:pt idx="341">
                <c:v>-2.809569257223088</c:v>
              </c:pt>
              <c:pt idx="342">
                <c:v>-1.4561038232097645</c:v>
              </c:pt>
              <c:pt idx="343">
                <c:v>1.6840449621464026</c:v>
              </c:pt>
              <c:pt idx="344">
                <c:v>0.8654835288164797</c:v>
              </c:pt>
              <c:pt idx="345">
                <c:v>1.2711821764580078</c:v>
              </c:pt>
              <c:pt idx="346">
                <c:v>0.3033483327060438</c:v>
              </c:pt>
              <c:pt idx="347">
                <c:v>-0.9385765036873162</c:v>
              </c:pt>
              <c:pt idx="348">
                <c:v>0.5684819574372391</c:v>
              </c:pt>
              <c:pt idx="349">
                <c:v>0.4291876942236872</c:v>
              </c:pt>
              <c:pt idx="350">
                <c:v>0.771313304746446</c:v>
              </c:pt>
              <c:pt idx="351">
                <c:v>0.3103051303268378</c:v>
              </c:pt>
              <c:pt idx="352">
                <c:v>0.45369662444743053</c:v>
              </c:pt>
              <c:pt idx="353">
                <c:v>-0.5645606767514133</c:v>
              </c:pt>
              <c:pt idx="354">
                <c:v>1.9820356565902086</c:v>
              </c:pt>
              <c:pt idx="355">
                <c:v>-0.010124506426512081</c:v>
              </c:pt>
              <c:pt idx="356">
                <c:v>1.0629712600017216</c:v>
              </c:pt>
              <c:pt idx="357">
                <c:v>0.04006911669700575</c:v>
              </c:pt>
              <c:pt idx="358">
                <c:v>0.09011314438429618</c:v>
              </c:pt>
              <c:pt idx="359">
                <c:v>-0.5302110897379975</c:v>
              </c:pt>
              <c:pt idx="360">
                <c:v>-0.7744101377853863</c:v>
              </c:pt>
              <c:pt idx="361">
                <c:v>-1.3379362928061522</c:v>
              </c:pt>
              <c:pt idx="362">
                <c:v>-0.6883069935609942</c:v>
              </c:pt>
              <c:pt idx="363">
                <c:v>6.496326812792508</c:v>
              </c:pt>
              <c:pt idx="364">
                <c:v>1.350169053428929</c:v>
              </c:pt>
              <c:pt idx="365">
                <c:v>-0.1245898073448326</c:v>
              </c:pt>
              <c:pt idx="366">
                <c:v>1.7656693385056155</c:v>
              </c:pt>
              <c:pt idx="367">
                <c:v>-1.48043371578217</c:v>
              </c:pt>
              <c:pt idx="368">
                <c:v>1.2538265336764942</c:v>
              </c:pt>
              <c:pt idx="369">
                <c:v>0.07562340414382085</c:v>
              </c:pt>
              <c:pt idx="370">
                <c:v>1.5207329313100981</c:v>
              </c:pt>
              <c:pt idx="371">
                <c:v>0.8280610114981046</c:v>
              </c:pt>
              <c:pt idx="372">
                <c:v>0.4060118001473212</c:v>
              </c:pt>
              <c:pt idx="373">
                <c:v>-0.7444150490656165</c:v>
              </c:pt>
              <c:pt idx="374">
                <c:v>-0.06481481481480644</c:v>
              </c:pt>
              <c:pt idx="375">
                <c:v>0.2316316130825502</c:v>
              </c:pt>
              <c:pt idx="376">
                <c:v>1.2017036420780114</c:v>
              </c:pt>
              <c:pt idx="377">
                <c:v>-0.09134636212970726</c:v>
              </c:pt>
              <c:pt idx="378">
                <c:v>-0.14627537428073545</c:v>
              </c:pt>
              <c:pt idx="379">
                <c:v>-0.1281807349553188</c:v>
              </c:pt>
              <c:pt idx="380">
                <c:v>0.2566914144354282</c:v>
              </c:pt>
              <c:pt idx="381">
                <c:v>-0.7772485298349618</c:v>
              </c:pt>
              <c:pt idx="382">
                <c:v>0.3133314844100621</c:v>
              </c:pt>
              <c:pt idx="383">
                <c:v>-0.7533293661613039</c:v>
              </c:pt>
              <c:pt idx="384">
                <c:v>-0.4258067242970287</c:v>
              </c:pt>
              <c:pt idx="385">
                <c:v>-0.5856632890210878</c:v>
              </c:pt>
              <c:pt idx="386">
                <c:v>-0.11221432369153961</c:v>
              </c:pt>
              <c:pt idx="387">
                <c:v>-0.7676465081445372</c:v>
              </c:pt>
              <c:pt idx="388">
                <c:v>0.09433773584905936</c:v>
              </c:pt>
              <c:pt idx="389">
                <c:v>0.5937841770741636</c:v>
              </c:pt>
              <c:pt idx="390">
                <c:v>0.9369436633483552</c:v>
              </c:pt>
              <c:pt idx="391">
                <c:v>-0.0278529649720749</c:v>
              </c:pt>
              <c:pt idx="392">
                <c:v>0.6128171015640893</c:v>
              </c:pt>
              <c:pt idx="393">
                <c:v>-2.6208969857798303</c:v>
              </c:pt>
              <c:pt idx="394">
                <c:v>-2.264973529140646</c:v>
              </c:pt>
              <c:pt idx="395">
                <c:v>2.239896312612144</c:v>
              </c:pt>
              <c:pt idx="396">
                <c:v>2.3804959715383767</c:v>
              </c:pt>
              <c:pt idx="397">
                <c:v>3.5386754109868246</c:v>
              </c:pt>
              <c:pt idx="398">
                <c:v>3.3998417303348294</c:v>
              </c:pt>
              <c:pt idx="399">
                <c:v>-0.5624314268408592</c:v>
              </c:pt>
              <c:pt idx="400">
                <c:v>-1.166025081204769</c:v>
              </c:pt>
              <c:pt idx="401">
                <c:v>-0.00880612768434652</c:v>
              </c:pt>
              <c:pt idx="402">
                <c:v>-0.01760764286342642</c:v>
              </c:pt>
              <c:pt idx="403">
                <c:v>0.9423161353857346</c:v>
              </c:pt>
              <c:pt idx="404">
                <c:v>-1.6663792968143576</c:v>
              </c:pt>
              <c:pt idx="405">
                <c:v>0.1508277894670229</c:v>
              </c:pt>
              <c:pt idx="406">
                <c:v>0.18603738977773787</c:v>
              </c:pt>
              <c:pt idx="407">
                <c:v>0.7604571849131547</c:v>
              </c:pt>
              <c:pt idx="408">
                <c:v>-1.553310264676877</c:v>
              </c:pt>
              <c:pt idx="409">
                <c:v>0.7755419860937751</c:v>
              </c:pt>
              <c:pt idx="410">
                <c:v>-0.46882440153496185</c:v>
              </c:pt>
              <c:pt idx="411">
                <c:v>0.4265935058636705</c:v>
              </c:pt>
              <c:pt idx="412">
                <c:v>0.044250442477888896</c:v>
              </c:pt>
              <c:pt idx="413">
                <c:v>0.7430304977523949</c:v>
              </c:pt>
              <c:pt idx="414">
                <c:v>0.14926595969149137</c:v>
              </c:pt>
              <c:pt idx="415">
                <c:v>1.7447001884043578</c:v>
              </c:pt>
              <c:pt idx="416">
                <c:v>0.21542438047157386</c:v>
              </c:pt>
              <c:pt idx="417">
                <c:v>0.8942329949896966</c:v>
              </c:pt>
              <c:pt idx="418">
                <c:v>-0.30679479484557737</c:v>
              </c:pt>
              <c:pt idx="419">
                <c:v>0.5556453952219487</c:v>
              </c:pt>
              <c:pt idx="420">
                <c:v>-0.06800476242466713</c:v>
              </c:pt>
              <c:pt idx="421">
                <c:v>-0.06805784598746811</c:v>
              </c:pt>
              <c:pt idx="422">
                <c:v>-0.2979467072618869</c:v>
              </c:pt>
              <c:pt idx="423">
                <c:v>-0.05123377601006229</c:v>
              </c:pt>
              <c:pt idx="424">
                <c:v>-0.39296088147890984</c:v>
              </c:pt>
              <c:pt idx="425">
                <c:v>0.9005180257378731</c:v>
              </c:pt>
              <c:pt idx="426">
                <c:v>0.5099855416917043</c:v>
              </c:pt>
              <c:pt idx="427">
                <c:v>-2.2494748414376375</c:v>
              </c:pt>
              <c:pt idx="428">
                <c:v>-0.9602846599285342</c:v>
              </c:pt>
              <c:pt idx="429">
                <c:v>-0.66387314822135</c:v>
              </c:pt>
              <c:pt idx="430">
                <c:v>-0.15828350194966312</c:v>
              </c:pt>
              <c:pt idx="431">
                <c:v>-1.8055337167030672</c:v>
              </c:pt>
              <c:pt idx="432">
                <c:v>0.08969235069857806</c:v>
              </c:pt>
              <c:pt idx="433">
                <c:v>-1.5771969379764217</c:v>
              </c:pt>
              <c:pt idx="434">
                <c:v>-0.9013985085787324</c:v>
              </c:pt>
              <c:pt idx="435">
                <c:v>1.4424917839945595</c:v>
              </c:pt>
              <c:pt idx="436">
                <c:v>0.5887093347084704</c:v>
              </c:pt>
              <c:pt idx="437">
                <c:v>-0.1620754576278527</c:v>
              </c:pt>
              <c:pt idx="438">
                <c:v>-2.7867930046931777</c:v>
              </c:pt>
              <c:pt idx="439">
                <c:v>0.5937461676060352</c:v>
              </c:pt>
              <c:pt idx="440">
                <c:v>-2.5085317716499245</c:v>
              </c:pt>
              <c:pt idx="441">
                <c:v>1.324379919821972</c:v>
              </c:pt>
              <c:pt idx="442">
                <c:v>2.688821746906722</c:v>
              </c:pt>
              <c:pt idx="443">
                <c:v>-0.03636785228416928</c:v>
              </c:pt>
              <c:pt idx="444">
                <c:v>0.10004638745009231</c:v>
              </c:pt>
              <c:pt idx="445">
                <c:v>1.5173587410023393</c:v>
              </c:pt>
              <c:pt idx="446">
                <c:v>0.06265103205984612</c:v>
              </c:pt>
              <c:pt idx="447">
                <c:v>-0.5098389845302642</c:v>
              </c:pt>
              <c:pt idx="448">
                <c:v>0.5034594847579177</c:v>
              </c:pt>
              <c:pt idx="449">
                <c:v>-0.19679845964042375</c:v>
              </c:pt>
              <c:pt idx="450">
                <c:v>-0.09859370798601663</c:v>
              </c:pt>
              <c:pt idx="451">
                <c:v>-0.8433536770442562</c:v>
              </c:pt>
              <c:pt idx="452">
                <c:v>-0.9319571371323887</c:v>
              </c:pt>
              <c:pt idx="453">
                <c:v>0.37446708145889573</c:v>
              </c:pt>
              <c:pt idx="454">
                <c:v>-0.7188362016590344</c:v>
              </c:pt>
              <c:pt idx="455">
                <c:v>0.7698616004961911</c:v>
              </c:pt>
              <c:pt idx="456">
                <c:v>0.9822665115670759</c:v>
              </c:pt>
              <c:pt idx="457">
                <c:v>0.9817202646286605</c:v>
              </c:pt>
              <c:pt idx="458">
                <c:v>1.632174412267906</c:v>
              </c:pt>
              <c:pt idx="459">
                <c:v>-0.5704203748245762</c:v>
              </c:pt>
              <c:pt idx="460">
                <c:v>1.6681367607730868</c:v>
              </c:pt>
              <c:pt idx="461">
                <c:v>0</c:v>
              </c:pt>
              <c:pt idx="462">
                <c:v>0.5469207301515455</c:v>
              </c:pt>
              <c:pt idx="463">
                <c:v>0.1295121740632066</c:v>
              </c:pt>
              <c:pt idx="464">
                <c:v>0.5777338917156705</c:v>
              </c:pt>
              <c:pt idx="465">
                <c:v>0.2657733218944802</c:v>
              </c:pt>
              <c:pt idx="466">
                <c:v>0.09405814691898495</c:v>
              </c:pt>
              <c:pt idx="467">
                <c:v>-0.6577797822959086</c:v>
              </c:pt>
              <c:pt idx="468">
                <c:v>0.19777796717019847</c:v>
              </c:pt>
              <c:pt idx="469">
                <c:v>0.6350884131931522</c:v>
              </c:pt>
              <c:pt idx="470">
                <c:v>-0.4264028581544843</c:v>
              </c:pt>
              <c:pt idx="471">
                <c:v>-0.025692873831917318</c:v>
              </c:pt>
              <c:pt idx="472">
                <c:v>-0.77957935116304</c:v>
              </c:pt>
              <c:pt idx="473">
                <c:v>0.2849266102572967</c:v>
              </c:pt>
              <c:pt idx="474">
                <c:v>-0.11192853875283681</c:v>
              </c:pt>
              <c:pt idx="475">
                <c:v>0.508536472380694</c:v>
              </c:pt>
              <c:pt idx="476">
                <c:v>1.1148297649015593</c:v>
              </c:pt>
              <c:pt idx="477">
                <c:v>0.9159477256908577</c:v>
              </c:pt>
              <c:pt idx="478">
                <c:v>0.10085133373982647</c:v>
              </c:pt>
              <c:pt idx="479">
                <c:v>0.5373176010635694</c:v>
              </c:pt>
              <c:pt idx="480">
                <c:v>-0.41753653444676075</c:v>
              </c:pt>
              <c:pt idx="481">
                <c:v>-0.17609979035638768</c:v>
              </c:pt>
              <c:pt idx="482">
                <c:v>0.8064507660748399</c:v>
              </c:pt>
              <c:pt idx="483">
                <c:v>-0.008335000000003756</c:v>
              </c:pt>
              <c:pt idx="484">
                <c:v>-0.17501375406306918</c:v>
              </c:pt>
              <c:pt idx="485">
                <c:v>0.18367089817723503</c:v>
              </c:pt>
              <c:pt idx="486">
                <c:v>0.06666833333333066</c:v>
              </c:pt>
              <c:pt idx="487">
                <c:v>-0.09160642752154002</c:v>
              </c:pt>
              <c:pt idx="488">
                <c:v>1.592061335400019</c:v>
              </c:pt>
              <c:pt idx="489">
                <c:v>0.04923285319740067</c:v>
              </c:pt>
              <c:pt idx="490">
                <c:v>0.008196653957726063</c:v>
              </c:pt>
              <c:pt idx="491">
                <c:v>-0.26240263048140644</c:v>
              </c:pt>
              <c:pt idx="492">
                <c:v>-0.23020554707404717</c:v>
              </c:pt>
              <c:pt idx="493">
                <c:v>6.098065201451419</c:v>
              </c:pt>
              <c:pt idx="494">
                <c:v>-0.17087456310679316</c:v>
              </c:pt>
              <c:pt idx="495">
                <c:v>0.42791799912798023</c:v>
              </c:pt>
              <c:pt idx="496">
                <c:v>0.9373961738860181</c:v>
              </c:pt>
              <c:pt idx="497">
                <c:v>0.951727735529162</c:v>
              </c:pt>
              <c:pt idx="498">
                <c:v>0.3877396821085677</c:v>
              </c:pt>
              <c:pt idx="499">
                <c:v>0.2877953802981281</c:v>
              </c:pt>
              <c:pt idx="500">
                <c:v>-0.22655414932116757</c:v>
              </c:pt>
              <c:pt idx="501">
                <c:v>0.885557102844281</c:v>
              </c:pt>
              <c:pt idx="502">
                <c:v>1.2979301454385972</c:v>
              </c:pt>
              <c:pt idx="503">
                <c:v>0.36290252220700925</c:v>
              </c:pt>
              <c:pt idx="504">
                <c:v>-0.11806435385079972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Daily simple return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Trading volume (million shares)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7b4315c4b40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7F4D89-8071-416E-885F-9964210F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426"/>
              </a:gs>
              <a:gs pos="100000">
                <a:srgbClr val="061426">
                  <a:alpha val="80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F74009-A6D7-432A-9F58-3CE41D6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7C5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AB9481-138C-4B22-97E7-827BCAC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FINANCE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6AE3E9-8870-4234-AE14-2163343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D7E9F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D7E9F6"/>
                </a:solidFill>
                <a:latin typeface="Aptos"/>
                <a:ea typeface="Aptos"/>
                <a:cs typeface="Aptos"/>
              </a:rPr>
              <a:t>Lecture 1  |  Python Foundations 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2C0540-0DB5-4301-B459-97CA0DB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9C4D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C4DB"/>
                </a:solidFill>
                <a:latin typeface="Aptos"/>
                <a:ea typeface="Aptos"/>
                <a:cs typeface="Aptos"/>
              </a:rPr>
              <a:t>From a blank notebook to a first financial data analysis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19F7B42-E672-42C8-A239-88AA61C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7C5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EEDB926-7A2E-4D0C-909D-AB84496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 Ferdinantos Kottas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457CC0-027C-4B23-91F0-24B0905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C4D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C4DB"/>
                </a:solidFill>
                <a:latin typeface="Aptos"/>
                <a:ea typeface="Aptos"/>
                <a:cs typeface="Aptos"/>
              </a:rPr>
              <a:t>NKUA MPhil Economics  |  Academic Year 2026–2027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5BE034-FFD8-4737-92B0-ABB8E28B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|  Week 01  |  NKUA MPhil Economics  |  2026–2027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99E291A-E921-4CF2-9F8F-7CC9A126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4901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D9AFBD-B68C-4EAC-9D46-B1D8A20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C89EB0-77B4-4091-8F76-61B4C58D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E85F6C-3F97-4BEC-BB89-55F4E35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4FF82F-D746-45ED-A76D-C80CCE6B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LECTURE 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E7AB02-1412-41D7-B434-C3E7F2F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Course orientation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A6E6A4-A920-4D1C-B1AC-D177A23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A short map of the 13-week journey before the official Week 1 material begins.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EA183C9-D0D5-4120-AB1F-24125A4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FA9385-83F4-4BBB-BE46-50E08A9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B204915-71C9-4092-97B5-662B1DF5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193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F8DFC4-8851-48F7-84B7-C95828D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9F8898-73EB-475B-9C4F-C23253C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LECTURE 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6C699C-04B3-4B8D-8023-1110F654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this course is designed to produce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1772C2-58B9-42FB-AAFE-29884FD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connects programming, statistics, machine learning, and financial decisions.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2A898D-8BB8-4EA9-B69F-7CD84651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E933A7-5E2E-489B-A663-2AA6BA1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F1313B-23CF-4700-B002-1A8DEAA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1E61890-5B81-4FC9-91EC-6EA36F84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THE END POINT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38B0C4-9DC5-40BB-9ED8-101EAD6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workflow that can move from raw financial data to a validated, interpretable decision.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356C27-8FD8-458E-A444-15DC12A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45C05D-8609-4F59-965F-D732D18A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THE THROUGHLINE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488394-B4DB-4F93-B061-7840A8FD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Credit-risk examples anchor the course. Fraud, forecasting, asset pricing, and portfolio applications show how the workflow transfers.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ACE412-73BC-4CC8-AC50-D484CA08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D49A53B-7AAF-422C-B5AD-06903668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week adds a method, a diagnostic, and a financial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05200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6D9F7AF-C80D-4F32-B063-ACA6C9C8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9FF37A-360A-41DA-97E4-85FE6161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5600F4-F6D8-4442-AC34-B1FCCB0C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the course is assessed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DCDC7B-6FA5-404B-8DCF-8C42CC2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official syllabus assigns 20% to weekly exercises, 40% to the capstone, and 40% to the exam. A 10% bonus exercise is available.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15FE7CE-2B7B-4A00-8DDB-C7F04FB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142290-B055-40D2-B005-8737599F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FED1A9-CC26-4C48-80C9-71C6DBD9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331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F5D7BF0-AD96-4C19-953C-75AB50D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E407865-209D-495F-AE54-6514FF8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324100"/>
            <a:ext cx="128919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2BBFB7-BCA6-4751-AB73-F4E596D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476500"/>
            <a:ext cx="10224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AE4335-A556-4EA8-A2EE-B143077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2324100"/>
            <a:ext cx="648282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42E43D5-B232-4D7D-A0AF-1A88A34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2476500"/>
            <a:ext cx="6216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submitted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9E1B04A-EAA8-4A07-A140-22AEBC5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D570E75-233F-4FBD-ACC3-49D6C3E4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Weekly exercises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A5CDDC-58E4-4925-AB7F-0600C52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80035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6CF1DE1-A854-4A67-8121-6514456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96227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0988F81-C827-4DF6-AE3D-937F053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280035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B858C32-05EB-40F3-B18F-33813009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296227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DataCamp Python practice plus the weekly Colab notebook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6B898C5-4C9E-4121-BD73-263E8D2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D8ADBDA-2AA8-4B44-95A6-0B25D014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B0C6EA0-B0BF-4F2F-8394-42B491E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31470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27E7907-5BBF-4835-BF30-0E17481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47662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9E373C7-415D-4D1F-98C3-AF373E1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331470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8C9728F-C351-48AA-83DF-1F6C46DF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347662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Notebook, technical report, supporting code, and 10-minute presentation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D0CFA46-8155-4514-AF23-73C2D98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5B7ACA7-5409-4B29-9274-73FAFC9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Final exam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FC6D7E6-656F-4219-BF97-39EF31D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82905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6265875-7F8E-4559-81BE-AD825BBF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99097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4687310-903B-40E8-838E-42813861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382905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03698F1-3174-4F67-B7C2-2714006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399097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Conceptual, mathematical, and applied understanding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54B752E-A704-42AC-8A15-214C7B1C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03114F8-1180-4CCE-AD30-40CE811C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Excellence bonus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7E8D97A-58F6-4FB9-A578-6CA7D32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4343400"/>
            <a:ext cx="128919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10BE77F-939F-45F7-8B53-F99C6B56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4505325"/>
            <a:ext cx="10224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+10%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6A4B81-C8FA-46F1-AFA2-BA749CD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727" y="4343400"/>
            <a:ext cx="648282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91283B2-52CA-4DEE-8319-ADC0943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077" y="4505325"/>
            <a:ext cx="62161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Best assignments, project or presentation, or top DataCamp performance</a:t>
            </a:r>
          </a:p>
        </p:txBody>
      </p:sp>
    </p:spTree>
    <p:extLst>
      <p:ext uri="{BB962C8B-B14F-4D97-AF65-F5344CB8AC3E}">
        <p14:creationId xmlns:p14="http://schemas.microsoft.com/office/powerpoint/2010/main" val="985579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CB06FC-1DC9-4A20-A8F5-AF4B5A6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C046C9-D685-4DA5-B314-6354B0D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8D51B5-9DEA-4D76-9CA6-14C3642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bonus rewards exceptional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6C9EC2-E5E4-4FAF-BC3F-C4ACF93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bonus is not another compulsory assessment component.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02B4B33-F049-4054-8EFB-19D28690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66C533-5ED3-46C7-BEE8-16C6868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286E942-04C0-44BB-9D06-F14DEF44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2FD54-BA11-479C-B3D1-297B1A24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HOW IT MAY BE EARNED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27EC1DD-1AA7-44E3-B748-2A90FDB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Exceptional weekly assignments, the strongest capstone or presentation, or outstanding DataCamp performance may receive the bonus.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C58519-FBA2-4674-9424-C924DF56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CE2233-A73E-447B-9F6D-3D6674F4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MAXIMUM TOTAL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E2D2A7-618B-449F-8038-A15E6B3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regular assessment totals 100%. The excellence bonus can increase the final total to 110%.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E2AB434-5632-4E25-8D08-30573D2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807C506-BA1C-49E7-AB80-642B1E52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bonus recognises quality, consistency, and clear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764918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B2F559E-329B-4BC9-893A-E7CE81D0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73121BA-EC2D-4215-B102-6EBBC752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WEEKLY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791FF7-9B4D-43BC-9712-F0FCC08D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Two small submissions keep the work continuous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47D040-DBB9-4595-A621-192E20B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weekly rhythm is designed to make the next lecture easier, not to create a single high-stakes deadline.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4DAA98-2194-4666-9CB2-88541D2D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BE5EBF7-B4F6-41EB-B61E-0EF03ED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573B44E-44E9-4E1A-92C5-0EF572D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DAD0009-040E-440A-8DC8-6A5372C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DATACAMP PRACTICE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BB1901-C9FF-4064-A2F5-C93F5D3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Complete the assigned Python exercises during the week. These tasks reinforce syntax, control flow, collections, and data manipulation.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9005B8-20D6-4B9A-BD8C-3A7221B3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E32DE6-B354-465B-A8AA-0105AD36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COLAB ASSIGNMENT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E669775-3A61-49CB-AA1E-DA81639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Submit the weekly notebook one day before the next course meeting. It should run from a clean session and include a short interpretation.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F1F869-70C7-433D-A3F2-0F1CA964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B09D55F-A55C-4C1E-A4EE-7E815253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deadline is part of the workflow: submit before the next class so feedback can inform the next topic.</a:t>
            </a:r>
          </a:p>
        </p:txBody>
      </p:sp>
    </p:spTree>
    <p:extLst>
      <p:ext uri="{BB962C8B-B14F-4D97-AF65-F5344CB8AC3E}">
        <p14:creationId xmlns:p14="http://schemas.microsoft.com/office/powerpoint/2010/main" val="820012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679601D5-2AF4-4925-B509-BE8316D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B782AF-C552-4566-91FF-0EA1D18B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600D7C-B5D5-458E-807C-5CA82A0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40% project grade measures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C1C11F-D5CE-43C7-A000-395A3375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project grade reflects the complete research workflow, not only the final score of the model.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5E905C-5F96-47D5-8274-DB8F86DF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31C914-008B-45AE-9841-CA7E726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FB5992C-E5D2-47FB-A803-705E2955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331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EE2A6EB-6C11-4783-84D3-2110079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B0F493-4F2B-4508-A388-3715B59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324100"/>
            <a:ext cx="156545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E650289-FCF3-4A73-9A50-97674733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476500"/>
            <a:ext cx="129875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Indicative share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9B66324-E019-4055-8919-0BC60058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2324100"/>
            <a:ext cx="62065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AA7CB12-9217-422F-B6A3-85F7DFB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2476500"/>
            <a:ext cx="593986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0FA16B3-C50E-4131-B413-3B43259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50903F-6D3F-408F-A0A2-3F4AE546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Question and data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9A1F97-62F9-496C-B682-7CF1BC83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280035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1B70C21-CF3F-423F-82B1-F48D420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296227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34C24D7-E38A-4B58-B292-84A97CE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280035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AF24CC0-2231-4117-BFFD-009F7B9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296227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Clear target, source, observation unit, time period, and limitations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A2E941-884E-495D-BCC7-460229E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1387B84-9189-41FF-9A43-29453CC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Modelling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7DA814D-41AE-4653-A229-D47D3302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31470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B4A89EC-2B58-4D15-AAE2-BC751AF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47662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C59810D-1D94-455E-B4EB-C76755D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331470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5F0300A-2B28-4958-A438-4F9397BB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347662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Baseline, supervised models, reproducible code, and justified choices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06FD176-E765-4909-A939-B8713218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6B052E6-EC95-4872-9F1B-56C8AB3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Validation and metrics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771A953-D0EE-4BD1-B03E-F9B43F1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382905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E78CCE4-E82F-42D5-B233-9A75B5FB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399097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930CC06-96B8-4586-86BE-C2C0289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382905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B4EC0EC-ACE7-46BC-90F6-23F597E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399097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Out-of-sample design, ML metrics, and financial metrics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0AD0280-4FD8-489F-BC7F-0FD4FED3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DD8A8F0-3F59-4367-A87D-46A02B0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4CC6C9B-7F24-4E14-B673-A6C7928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434340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8777F45-59A8-4125-9C3E-312B3BC9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450532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210E55E-8309-4575-8311-5C1EDF7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434340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8A2DF7B-429C-40F7-9A9C-57354FAD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450532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the results mean for the financial decision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73AC6A29-EFD8-4945-971C-3D1CAA82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64BF2B9-B240-4698-8095-CF878E67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CF329A7-27FF-42AE-9887-312FF25B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530" y="4857750"/>
            <a:ext cx="156545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75C36CF0-4BD2-48EC-A1B8-F43BD168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80" y="5019675"/>
            <a:ext cx="12987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9C99A1F1-6C01-4298-8CB3-C0701D03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84" y="4857750"/>
            <a:ext cx="620656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F870AB80-76B0-4FFC-8179-B3BEA3CF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334" y="5019675"/>
            <a:ext cx="59398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Professional presentation and ability to defend the analysis</a:t>
            </a:r>
          </a:p>
        </p:txBody>
      </p:sp>
    </p:spTree>
    <p:extLst>
      <p:ext uri="{BB962C8B-B14F-4D97-AF65-F5344CB8AC3E}">
        <p14:creationId xmlns:p14="http://schemas.microsoft.com/office/powerpoint/2010/main" val="1627066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CF1F58F-97EB-4510-B4D8-6F15537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A23AA6-921A-4175-A231-BF6AE5E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168BA18-6607-4161-A4FB-F8AD7CD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use is allowed with responsibility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82DC14-D4D3-40F7-AB26-0378214B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AI can support learning, but the submitted analysis must remain understandable, reproducible, and defensible.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D8244F-8584-4355-B2B9-B1E02E30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FAF6781-6BEC-48EB-AB63-84C7C8B5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FEB6A9-2C14-4C58-81BD-A1FB91D8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8B57505-D9CA-4922-B8A6-59C86C2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PERMITTED USE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0E6CDE-073D-4927-A8EC-0F47BFD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AI to explain a concept, suggest debugging steps, improve documentation, or help compare modelling choices.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232208D-DD1D-43CB-A3E0-2F490F8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92F83E-1110-4F9D-A019-38BACB68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REQUIRED STANDARD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7BECE8-0E9E-4D4D-B662-7F2E707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Check every generated claim and code cell. Disclose material AI assistance. Do not submit fabricated data, citations, or results.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19FC21-718F-4AD3-BF52-93138ED1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34A8E1B-C468-4F55-A93D-F8BFD85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must be able to explain every submitted line of code and every reported result.</a:t>
            </a:r>
          </a:p>
        </p:txBody>
      </p:sp>
    </p:spTree>
    <p:extLst>
      <p:ext uri="{BB962C8B-B14F-4D97-AF65-F5344CB8AC3E}">
        <p14:creationId xmlns:p14="http://schemas.microsoft.com/office/powerpoint/2010/main" val="348381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F4B8B6D-AAA0-40A6-83CD-54E9E0C1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56105E-F24A-4E5F-8158-F67DB8F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61F6C7-B661-4D94-A356-38413E7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project, four supervised-learning routes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F6A277-6053-454A-88B6-F7E2E67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Choose a financial question that can be expressed as a supervised prediction problem and supported by data.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9047217-CC7B-4D06-9A1B-DC2B3B1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AA68CF-6A58-4647-A4AF-85D9C40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F2427C-E0C4-4C79-8D46-2C8E79C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EBC5CFB-564F-4523-B08D-31466BA9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POSSIBLE TOPICS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26FE9D4-9DD2-4588-A543-F1AF0B3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Credit-risk default prediction, fraud-risk classification, stock-return or direction prediction, or portfolio decisions supported by return or risk forecasts.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F1C3B1-1A53-4730-AFE9-CE1FD416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57C7C4C-D507-47F2-AD91-6FA8E261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DATA OPTIONS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F048635-5DD1-419D-AFC3-A2C164B0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public dataset from Yahoo Finance, Kaggle, or another approved source. Record the source, time period, variables, target, and access date.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C786AA-7F43-4436-BE91-37C2DB7D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A654BC6-0F69-4981-A598-4285B91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may be completed individually or by a team of two.</a:t>
            </a:r>
          </a:p>
        </p:txBody>
      </p:sp>
    </p:spTree>
    <p:extLst>
      <p:ext uri="{BB962C8B-B14F-4D97-AF65-F5344CB8AC3E}">
        <p14:creationId xmlns:p14="http://schemas.microsoft.com/office/powerpoint/2010/main" val="300330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A44B29E-693F-4F60-B59A-467AC7A4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BA938-E147-4E7B-A4D8-3267643E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3517FA0-3005-402B-B698-F8A9521B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can start immediately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79FFBE-9345-4204-9CEE-D919BBB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final week is reserved for completion, unresolved material, and project presentations.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F54038-40DB-4D34-AE50-80DEC9C4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348BA75-E998-4E79-B884-B5C6626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DC1205-6927-4A02-95BC-23060533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737CD0-9F72-4361-B027-F178860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E5BFAED-54A3-4AE1-A7BA-28DA5DB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195AD2C-9765-4AE0-BE27-112F6EB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AB78E6-E9B7-44A8-BC45-1F4FD837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1E93EEE-907A-40C3-88D4-54CDC96A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71017E3-CCDA-4094-89A5-30CD50D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Question and data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AC8F162-6A44-4026-ABC3-0C85EBE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5DE47B-E9A0-4594-8434-BB40426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predict whether a borrower defaults next month.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2A5E1C7-FA22-4F92-8FDA-814BA92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0F83E68-3C64-4E5A-B4BD-56A9F9B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A635E1F-D2FE-4E8E-8178-46376F43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560A74B-3A8E-4119-872A-B19EF55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0098BF8-3718-46AA-BC27-3A0391A3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DDD2913-5277-4149-9B73-AFA1EDB5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48FB643-2802-4684-BFA5-F9651A7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First supervised model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D249931-B2F9-4309-8478-92A3E6E7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3397470-7B80-40F5-B01A-CA2A0639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start with logistic regression and a documented target.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9A29E37-9239-49C1-A820-9BBAF5E3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5445F17-950A-485A-AB62-E9911420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CE81D89-D37D-461C-AEF0-F023B68C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6217FC6-479D-41DE-994F-CC97804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0C10FBC-3DF5-4A3E-9F2D-336FC72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683AE005-64D9-499C-8EFB-709CC250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D2FEFA-6128-471E-8719-B8E43085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Validate and compare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1C8D19A5-3539-44BA-A187-99BCD8CF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FFEF027-85C3-40D3-9E7F-E5D6E650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compare models using ROC-AUC, recall, calibration, and cost.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BE2129B-EABC-4D3A-A56A-C22A018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38EF606E-5E29-4DAD-B066-CAFE3BC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63F32CD0-2003-4D86-9E28-E4073A17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62C3E0C-49A1-41EB-9645-FA7785CF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2C42DD6B-2F7F-4D1A-BD47-4DBC609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21E06D3-3AA0-4008-9FAB-186BCF7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DD7ABDB-63F6-49D7-95E3-0CF070B8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 and conclusions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B1437E26-92D7-4935-8BD9-E5EF5156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7E62C9A-95B8-4B38-88E5-D6E1924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submit the notebook, results table, limitations, and presentation.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8DA4401-FB84-4DE7-876C-E746938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DC38AE1-EAD8-4EE4-AC9A-0736EC2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A short project proposal can be discussed at any point. Do not wait until Week 12 to discover a data problem.</a:t>
            </a:r>
          </a:p>
        </p:txBody>
      </p:sp>
    </p:spTree>
    <p:extLst>
      <p:ext uri="{BB962C8B-B14F-4D97-AF65-F5344CB8AC3E}">
        <p14:creationId xmlns:p14="http://schemas.microsoft.com/office/powerpoint/2010/main" val="692680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6A3BD7-1B8B-4177-A0BA-E01DAC21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624B97-3873-4A74-B365-AD399197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MATHEMATICS ROADMAP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10A385-90A8-4A44-999D-A268916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mathematics will support each modelling decision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A13929-9155-451B-8D80-8F34F5F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Every formula will be followed by symbol definitions, a numerical interpretation, and a financial use case.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0CFB49-04A5-49E4-8B78-0F2D5696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402003-4806-49D8-89BA-1B54294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286525C-C697-4AA8-ACE7-3AB62F80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B39D03-1500-4133-AF32-2AD77F8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EARLY FOUNDATION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285D9E-48F7-4021-AE72-7DDD2EAC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Means, medians, variance, standardisation, returns, and correlation describe the data before modelling.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D63D1B5-E67D-4EC8-B868-3120C4DF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B315FCD-FFCE-4D5A-BE16-8A8E769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LATER MODELS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6B5BD06-6BAC-4C6C-8FB4-DEA3D52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Logistic likelihood, regularisation, tree impurity, boosting updates, SVM margins, calibration, and neural-network layers explain how models learn.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C0DC59-9BAC-4D51-9DB2-16D17E27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AFD04B-B078-4CFA-810D-67A8A4BC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equation is only the starting point. The interpretation explains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578299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28C90135-5629-4997-B68C-00751D7F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159576-AFBA-4B4A-8D6E-42F5D637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13-WEEK ROADMAP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84CDBA7-B6CF-447B-BC88-0DAEB91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Weeks 1–6: foundations, preprocessing, and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449C37-B187-4770-93CB-863F201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early weeks follow the syllabus from Python foundations to a reliable classification evaluation toolkit.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819661-46A8-46C7-8CD3-6AFAD8F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6C02F8-9F19-4AE2-A923-32D1478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B34416E-D1F9-4886-A015-CA1EF396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38128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29790F-ED7A-46B7-920B-17BBDE8F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14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4C8EE2-9DE3-4C27-A4F9-BDCAEC8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324100"/>
            <a:ext cx="423593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89C6928-85A0-4808-99B7-3F65E498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476500"/>
            <a:ext cx="396923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96CFCC7-1EEE-4463-BFA8-A9FEDD05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2324100"/>
            <a:ext cx="5469882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73AF3F-24D4-4F4B-B80E-CFA65D9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2476500"/>
            <a:ext cx="520318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output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F8B8C85-39A2-4C66-A26C-D8424F4C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CFE114-D0E4-4015-883F-C7B2FDC0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4C789B0-E662-404B-98BB-382EE2A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80035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4F4824A-1E5E-41C3-8E6C-D6E5E0E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96227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10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Python Foundations I: Colab, syntax, functions, files, descriptive statistics, visualisation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AFCE16-30EF-4B31-BF32-D4987F0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280035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5CF24C8-982A-46E6-8B59-2A1B8CF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296227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Notebook with basic programming and financial-data analysis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72E81BF-1089-4539-B3A7-1A5CD8D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98F204D-C813-48F0-9788-C534A46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55215ED-112A-476A-A7F4-E57BC34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31470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277B605-186B-4D78-BE53-29E2C76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47662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16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Python Foundations II: NumPy, Pandas, joins, grouping, missing values, correlations, EDA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ED54833-BBD5-4D4A-B54B-2974D4F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331470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F78ED5-D117-4103-8439-861672CB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347662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Credit-risk EDA and documented data-quality findings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3E02B57-825E-48F3-B43B-9920C7B3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D02CBD7-C9E6-4564-9387-6361E04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E674FC7-815E-4CD8-AFFE-1A725AE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82905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4E3B57E-A9EB-4395-BD94-7B27E9D6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99097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1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 cleaning and preprocessing: duplicates, outliers, scaling, encoding, pipelines, ColumnTransformer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51D53B2-E7B7-4F34-890D-0C1DACE5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382905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F6793DC-2AF8-4941-A447-2833A30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399097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Reproducible preprocessing pipeline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8FDA0A1-645F-45F0-8E93-A3AF707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30A2E89-4EAD-484B-8325-B6A2AB84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8049CE2-092C-4973-9C52-798D58EA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34340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2B6679D-74EB-4B8C-A50F-051A583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450532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12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Feature engineering: ratios, interactions, nonlinear transforms, selection, leakage prevention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21E3CA7-EF7F-4A48-8A82-2CB249F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434340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C14FC57-FCAE-41D3-9EEF-5F5FACB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450532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Six to ten defensible predictive variables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C730207-A18B-41CA-8BFC-F2D44B3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14F5ADF-9816-4652-86B7-A315972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13DF44C-06C3-47CF-98F9-92BFAF2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85775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1BA4520-B8B9-493A-8A92-5C6E487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01967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93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Logistic regression for credit risk: imbalance, class weights, L1/L2/Elastic Net, calibration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CEA9EDA-FAF2-4E6C-BB19-597BC20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485775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624B469-D526-4B0F-ABB1-557283E1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501967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Regularised Probability of Default baseline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ED281E9-B15F-4191-9A38-4A0180B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D0842F3-A21A-44C7-BB02-F104A4E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90DCD2FB-18A0-45B8-9D9A-96B4410A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5372100"/>
            <a:ext cx="423593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B1D0C063-1E64-4488-B5A5-5444CB93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534025"/>
            <a:ext cx="396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96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 evaluation: confusion matrix, ROC/PR, KS, Gini, log-loss, Brier, lift, gains, calibration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E65C76C-A341-48A1-844C-82481443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8" y="5372100"/>
            <a:ext cx="546988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92202440-75E9-4827-8C1A-1F3A851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018" y="5534025"/>
            <a:ext cx="5203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Reusable evaluation toolkit</a:t>
            </a:r>
          </a:p>
        </p:txBody>
      </p:sp>
    </p:spTree>
    <p:extLst>
      <p:ext uri="{BB962C8B-B14F-4D97-AF65-F5344CB8AC3E}">
        <p14:creationId xmlns:p14="http://schemas.microsoft.com/office/powerpoint/2010/main" val="84563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04D99009-C894-4753-A734-5ACDB41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140535-A406-4B66-A7CC-53EBE9B2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13-WEEK ROADMAP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4720DD-489D-4B50-A920-3401023A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Weeks 7–13: supervised models and the capstone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F9F2F9-ACB8-4394-AEED-85B3BA0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later weeks follow the syllabus sequence. Unsupervised learning is outside this course structure.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79E216D-6104-4E07-9118-5BC77A3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EA7401-1C44-49EF-A482-FE0B602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FBFBF5A-F414-448A-8E2B-8EAC779C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38128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DCD3A0B-EE67-4A87-9693-DA9CE580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14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CD35E23-E656-46C0-8355-C1309F4E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324100"/>
            <a:ext cx="33150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2D7863C-7D9A-4819-A38A-4158788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476500"/>
            <a:ext cx="3048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CAE5E3-3CC6-4B92-9502-B50062A3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2324100"/>
            <a:ext cx="639073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620AAF-9C48-44E4-A01F-6133179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2476500"/>
            <a:ext cx="612403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output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DF057F-F51A-4074-8906-8A763706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37905F-BD21-4143-B079-8AC7B859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9E4145-3C85-4EF4-99EB-75F5E102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28003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A5D9B73-90B9-49C7-B339-5D059D7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29622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Decision trees and random forests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BD2DB20-F867-46A1-B750-3E1D1E4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28003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8E3B3D7-E0D8-4EE0-BB6F-457800F7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29622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Nonlinear benchmark and feature importance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4A0E5BE-A1C4-4B3A-B218-52D153A8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5458094-4FB1-4808-B26E-FEDDC095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3BFB6BA-835B-4C63-873F-AF70AE6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3147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6CB25C6-B37A-4FF4-9B85-7F5E1A3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4766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 validation and generalisation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3F486AE-EF0D-44E8-8345-201FE4CE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331470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A395669-25DD-4697-955C-9A179A9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347662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Cross-validation, learning curves, and leakage control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DF4ADBE-1DB7-433B-AA8A-3F3E3AAC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0D34E5B-3524-4CCD-9258-2395C1F0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1A10367-B2EB-4D54-996B-4A041564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38290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6E1B7E7-8237-451D-B524-97D1E4E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39909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Gradient boosting methods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B3C3BE8-DCCB-4CED-B021-FE375ADD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38290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A6EA221-C993-4665-BDFD-4EF2F24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39909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Boosted model with tuned hyperparameters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D26063-8775-4760-AA13-E37EBB0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C253E0D-4BCE-4E38-BE5C-BB4607A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31AA1E9-2E90-4C99-A732-32AF966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3434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907C5C-1D8E-4819-A447-7990CC7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45053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Alternative machine-learning algorithms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2277A0A-B6BD-47E2-BC22-D8C52F3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434340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439C121-529B-4596-A9BC-74D5563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450532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SVM, kNN, and Naive Bayes comparison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1378BC9-78D4-4537-8A66-84818CE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052C476-2023-4247-9FC5-81E49CA2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101298F-85F5-4A7E-AA19-0EE4B7A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48577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465A9B6-E1D4-4E28-9DF8-4676619B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0196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Calibration and explainable AI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9F94D09-080B-47F3-91D4-75A8CF11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48577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9AEA63CB-7889-4DF6-89D6-804ACEB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50196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Reliable probabilities and SHAP explanations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1DF45E9-7BA8-4D6A-A3B2-3FE5442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85F70710-C2A8-4A01-A583-7DC14CEE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CFDBA3CC-648B-4765-BFBB-50F72F97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537210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5079374-BDF4-4170-8BF5-BA1F3ECB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553402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Introduction to neural networks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30F4A180-9966-43D5-800C-427C7FC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537210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CD1B7DA4-2167-41DF-9F1C-BF727E0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553402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MLP model and comparison with traditional models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32DACA45-899F-4CBB-ACD4-3EF13E0F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28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9D337A58-B24B-4004-9FA7-B2136580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1145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0FD40110-CE3D-4AC2-8C95-BBA3EBBC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733" y="5886450"/>
            <a:ext cx="33150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ED809F37-A10B-4D1B-A963-9F0C98D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83" y="6048375"/>
            <a:ext cx="30483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28E62E8F-2A17-4FDF-B5BD-822B8CC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13" y="5886450"/>
            <a:ext cx="639073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AD66F793-FA5E-4F1A-998B-56BB984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63" y="6048375"/>
            <a:ext cx="612403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Complete solution, report, code,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9073252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0E46402-063B-48C7-AAFF-34D5D85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15BE20-436A-467E-84CE-F20231B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WEEKLY RHYTHM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EB8B2F-DE9E-4776-890C-43D52DA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each week will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4107F3-5972-4C72-956C-24FD6C4E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rhythm makes the material easier to study and apply.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2CF74B-22B1-4793-94A6-4EAB19E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D7A885-D197-4048-BCBF-CD98AA4C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289E2B-F61B-4174-9A4C-4CE141C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462D1-1727-4F5A-BB03-15F944E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EC23DB3-2B93-405F-A149-BECCB76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357DE80-4CB0-4314-978A-F5FD72B5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9E062CE-79DB-4CE5-9976-E4AEA9A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C792DE92-3415-4DFE-8905-5490E78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B3C2861-C45E-4F81-9CAF-D40715D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Theory and notation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DD8A887-BC82-47CC-B998-C57E0F5D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D527A96-5BB7-4E55-8027-5D02A210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define precision before looking at a precision score.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C84BFC0-AA8F-4546-839D-6B28FF5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9907DE-291F-4BE0-B3FC-2178458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8CB14F1-2F94-4C72-BA07-5E54E600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232F5E4-1603-4D87-8DFC-0E3B708D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8C0EBBA-78A3-4E4D-9E6E-361FAAE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48816900-01A7-49E1-B368-2CB5743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AD5A3D-5913-49DD-ADEC-28062ADE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Runnable Colab cells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2BBD55F-8E74-48AC-804D-84172F1C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D4B1E4D-C3D5-4601-B00F-A9E68E1A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44CEEC-FA60-4CCF-A01C-2D0BF1C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5ADE173-9422-44A2-B615-61154FDE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17E4B393-9DCB-4A5F-84F3-20D22E5E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A4CB8EB-81FC-4AC7-B048-5A6347A9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71ED47F-AAA8-42E4-AC83-F2743CA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DE7A2987-2154-4EEC-B849-25373F1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49C267-BAE5-4336-BF6D-D7ED6AEC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Modify the example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376F8AE-E623-423D-B1FD-A3F2F5C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6A2C24D-DF83-47BC-A8AA-C36DEDD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change one parameter and explain how the output changes.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FEB8FB4-6B30-4F39-BCE5-5A2F22C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D11F995-56C0-4F53-89B5-1C5DD98A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8BCE294B-47CD-44D2-AB7B-AAEAE9C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B5CE8416-5520-406F-9EB8-EE0373BD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0808E94-53E7-4F3E-816C-9CCB12E5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Exercise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E2594F9D-9028-4B4E-9EAD-AFBA958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588D491-A71F-49C2-A45B-697E57D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Submit a small artefact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40464A9B-071C-4D94-919B-43BC249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9EEDF7B5-73EF-4D1C-B944-51A6C1F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submit a clean Colab one day before the next class.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A8AECA1-6A1C-4E53-BC2D-5C02A868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F1250823-BF82-4BE1-A2FE-B4E26AB3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Keep the notebook from each week. Later lectures will extend earlier work.</a:t>
            </a:r>
          </a:p>
        </p:txBody>
      </p:sp>
    </p:spTree>
    <p:extLst>
      <p:ext uri="{BB962C8B-B14F-4D97-AF65-F5344CB8AC3E}">
        <p14:creationId xmlns:p14="http://schemas.microsoft.com/office/powerpoint/2010/main" val="1071715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978E24A-1834-484D-B216-DF73B29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D1876E-3DF7-4815-A7E0-BA6F1A4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WORKING IN COLAB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6D5A4F-5B96-4083-A0BD-732041F5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code is meant to be run, inspected, and changed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5DDDF5-31FE-446D-AB0A-F53A8A0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slides show the minimum code needed to make the analytical idea concrete.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0A296A2-E1FE-4D37-93D9-58C5722F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76946E-0FC1-4A7B-A7A3-EE1BF109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1EBF636-D609-44D4-AB5F-CD6CC7F9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F89701-EE9E-42EF-92C2-2676FD9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IN COLAB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D3C914-1EC8-446A-B502-BF3889F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 each cell from top to bottom. Read the output before changing the next cell.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A6EFD3-B4C5-44D2-84E7-CCDA8B8B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CD06CA1-4A18-49B6-A951-4240F9C5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WHEN STUDYING AT HOME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DAD1729-8D5C-4358-ADA7-ADFE479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Change one input, rerun the cell, and explain how the output changes. That is where the method becomes understanding.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22958C7-3314-4EE0-9720-036DE22C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AB91DC8-2F5A-4543-A7B7-9954657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copied output is not evidence until the calculation has been rerun.</a:t>
            </a:r>
          </a:p>
        </p:txBody>
      </p:sp>
    </p:spTree>
    <p:extLst>
      <p:ext uri="{BB962C8B-B14F-4D97-AF65-F5344CB8AC3E}">
        <p14:creationId xmlns:p14="http://schemas.microsoft.com/office/powerpoint/2010/main" val="17229391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212D373-C613-4332-951E-1D11306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01E08-5780-4ECA-8630-CC54AF65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AND EVIDENCE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659086-51CF-4218-AEC6-7661EE08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Open data, explicit sources, visible assumptions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DE5EDA-1F43-49B2-AC95-30C2948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examples will use public data that can be downloaded directly from Colab.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4D72633-68BD-4E0E-AC69-C52377C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3CDDFD-BB32-4EBB-AC52-C8CC20DA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B609E8-93ED-4E5F-A3D6-92FFF254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30FF54-FF88-4447-A389-62E65FB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RULE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385677-50C0-42DA-8C9A-C7B3910E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dataset will have a source URL, a row definition, a time period, and a clear variable description.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824B7-FA73-4BB5-99A2-31E0525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7EE118-B6A4-4958-9BA6-6BFB0D56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EVIDENCE RULE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6B2F89A-79E2-4242-A1A4-C87D8C1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result should be traceable from source to code to output. If a definition changes, the interpretation must change with it.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D98C164-5D06-4B41-81D2-AF15B00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141B4C4-06A7-47B5-87C4-A2FF4EA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dataset in this lecture is a public Apple price and volume CSV.</a:t>
            </a:r>
          </a:p>
        </p:txBody>
      </p:sp>
    </p:spTree>
    <p:extLst>
      <p:ext uri="{BB962C8B-B14F-4D97-AF65-F5344CB8AC3E}">
        <p14:creationId xmlns:p14="http://schemas.microsoft.com/office/powerpoint/2010/main" val="15406656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D1136E04-7114-4E61-B9AC-B1CB4AA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0CCFD3-7254-4618-9319-DD31B38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BEFORE WEEK 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5018FC-F64B-4147-BD49-A17AC4C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to expect from the material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BF0AE5-157E-4996-A0E0-DA8D6AD7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You will see the same structure repeatedly across the course.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4A51EB-5994-46C1-A41A-EF09C0C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490EF37-C519-49A2-8283-BE9880B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634745-87D9-4E85-AA2F-CCA851B5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E18D72-4E5B-4A68-A036-8A0AAE4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7E6296-6BC9-4EBA-BC6C-B6BB5039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027644-7D0E-434E-B610-29D1B72A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C980F47-CC08-480B-A6AC-9DC7ACA3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B5A5983-5201-477A-9247-EF235076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FF654B7-C50B-47E1-BC31-A82E1096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D0F1932-C4AB-4B51-9889-BFBAF84C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F336B82-87B1-4DDD-A762-87C75BEC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identify the target, predictors, row unit, and source.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45A60C-0E9D-4B19-B04B-6B372D07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1209AC6-6AF8-4EBC-8A7B-8B96E6C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76684992-CC96-4053-A99A-A22E53CD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5D247DC-152D-47F1-ABA7-22B3A24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8FF727A-D10E-4BF6-AE31-B0ED8E9F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93CE7BD-7EBD-4CA0-A96E-221D112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1B57630-A61F-43DE-8C03-F59DAECB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Execute the code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B9F7140-FC57-42E6-A8B6-8900B283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C431B87-40F1-4ED0-86B2-F0B3E881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execute every cell from a fresh Colab runtime.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D159529-778C-43BA-ACCB-08E5264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0392105-2B3A-4759-AEDC-5277496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BFCD12EB-0D8B-414F-9752-3506CC3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1D11E46-40D7-4BED-BE62-671C1FA8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C69D37C-5FD3-42B2-A163-B15BBAC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53DBE874-39DC-4C2E-BD3C-F3BD4ADC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57BA679-4FBA-4F67-B1B2-A385EAF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Inspect the output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079DA06-D33B-4295-9B97-0277ED1D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48BBA95-7D2C-4D6A-AEA7-0DEF133B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inspect shape, types, missingness, and plausible values.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653C00D-A867-4C11-A992-14EE5EBD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E532209-3840-4F22-8771-DBDA15C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D24D6D0-EF8B-4CCF-8745-6D8D3C5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3BCE412-B955-48A6-A756-BBEB4CF9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BFE1D9E-6B3C-45B6-842C-E613CE1E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2FB08B95-B895-4BE6-BFAF-7CF560F9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900974A-0164-4751-8703-62199FFE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Connect to finance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DDB4658-C40B-4905-A637-8ABA3579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3B3A35A-E612-4BF8-955B-7D971F82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state what the result means for a financial decision.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9243813-5299-4FBE-A1D2-B3B0315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72F7729-43FB-4E18-B85F-049F4786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Week 1 now starts with the official Python foundations material.</a:t>
            </a:r>
          </a:p>
        </p:txBody>
      </p:sp>
    </p:spTree>
    <p:extLst>
      <p:ext uri="{BB962C8B-B14F-4D97-AF65-F5344CB8AC3E}">
        <p14:creationId xmlns:p14="http://schemas.microsoft.com/office/powerpoint/2010/main" val="14991197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6D0761-E970-4D71-99F0-58594FF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382315-453B-46A9-B967-EEB4232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LECTURE FOCUS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19784E-F931-4402-BD56-33A0A27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lecture builds the analytical foundation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65F94A-0ABC-444E-A9B8-44B3D6A4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work begins with Python, data structure, and a disciplined way to inspect financial information.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3476FA-A6E4-4BD4-945A-7B8E80FD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C445BB-9C36-4881-84B1-92A2D431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E5274D-53E8-45E3-86C1-EDD76EF9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39C2C0-D429-4D3E-8422-1802D92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THIS LECTURE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1DFF15-FF54-4ACD-AAE0-A0051195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 a clean notebook that moves from setup to a first financial-data analysis.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5F59C4-EF43-44E8-BBB2-E7E8787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67BBA7-A788-4815-B1FA-3F87C51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BY THE END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F2DCAF8-BAE0-4E68-9F27-3C1C0135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You can read a dataset, calculate transparent summaries, and produce labelled visual evidence.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1D756E-8AAC-4CBA-A5B0-E51C5C0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647AD81-B594-4763-A752-83BD0D2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model comes later. The first control is understanding the data.</a:t>
            </a:r>
          </a:p>
        </p:txBody>
      </p:sp>
    </p:spTree>
    <p:extLst>
      <p:ext uri="{BB962C8B-B14F-4D97-AF65-F5344CB8AC3E}">
        <p14:creationId xmlns:p14="http://schemas.microsoft.com/office/powerpoint/2010/main" val="10134265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C4EA6954-8D0D-4E47-BEAF-674A152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46BFB0-D7CD-4CE6-89A7-DEC539E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COURSE WORKFLOW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D7E0457-013A-40A6-A362-F9ED36B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 financial question to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F0C3C6-9F1B-4AC4-BB8F-66155538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13-week course adds one layer at a time to the same workflow.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C068EA-4160-4AEB-A9B6-10AFD095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4A94FF-6AB4-4D7D-9765-B49954E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654A8C3-65E8-4B7E-A7BC-DCFCF4DD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072A0B-1725-4894-A4BF-4B5D51D0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26EFF6E-7DA2-40BA-9695-7421723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4665A9-53C9-43EA-B560-418736E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0737AC-4790-45FF-BFED-C61E6290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2B9F008-4475-4C9D-8A8F-7C811BD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6200281-FA8F-443F-916B-1621FD2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Define the decision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89A79E-3573-4B34-A392-240D8BCC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297473-27A8-4F50-9B15-1E0BE50C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should a lender flag this application for review?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5F0D55-7069-47FA-9C65-9629D5B5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BB3131D-4366-46DD-BD07-577AA7A9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D7D633F7-5297-4BBE-AD8A-9BCB0DDE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6F0ABF-667F-41CE-9E58-146ACE2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ECAEFA4-197C-4BEB-8E20-ABC7A885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C3396732-7AA2-48BF-BA80-12DB840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92E4F37-120E-4F4C-8C3B-B64CFB2B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Inspect the observations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F54C5D2-85D2-4F32-A281-55B1EDE0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1867130-56AE-4772-8E21-72B280B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use borrower characteristics and a next-month default flag.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589F1AA-5B01-4888-9CED-3A7220AE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C307639-9038-48DB-B0A8-56826AC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CFB322F-7D60-443A-BCAA-A55C04FA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29694A1-CEBA-4F18-9FA1-D724F23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CF68F35-D5DB-4AAC-A37D-61D3B08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18462765-22AB-4DFD-BE80-F046379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96C744A-BCCC-49EA-B718-C2117DD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Estimate and validate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C2D8274-FDD4-405F-B5E4-89113517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B761426-4554-4479-A53D-B392779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estimate, validate, and compare supervised models.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5AE3BDA-BB8C-4C0E-B892-7DD5E92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6241BE8-1328-447E-A3E5-BB30A0C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16A8A0AB-812F-48BF-B509-88D119BD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438FD35-587F-463C-A034-B5440715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5E59580-45DE-48B6-B416-C7B656E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0A8EAC63-EC3B-4FEB-BAB5-26822E7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B5263B21-753E-47D4-ADF6-F229F1AC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Interpret and monitor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B15D1B32-C4C7-4AAD-B170-C6B5DB3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EF375A3-89B6-4E93-8488-CF93F71A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choose a review threshold that reflects the cost of errors.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11CD4C8F-9E29-4C36-AF71-A0C325A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67EEFDE-F9AE-40C4-A310-91CCB0D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Week 1 focuses on the first two steps: question and data.</a:t>
            </a:r>
          </a:p>
        </p:txBody>
      </p:sp>
    </p:spTree>
    <p:extLst>
      <p:ext uri="{BB962C8B-B14F-4D97-AF65-F5344CB8AC3E}">
        <p14:creationId xmlns:p14="http://schemas.microsoft.com/office/powerpoint/2010/main" val="650341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885948A8-8FDA-49E0-AA90-6B0ED1F6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1DF0A4-8808-4F70-ABE0-A9D6C90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 1 OUTCOMES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5557F4-5EFA-47BA-A581-E910E13A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you should be able to do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A1FAF7-C74D-4F5B-AF73-BB00D86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lecture stays close to the workflow you will use in later weeks.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B134D8-F37A-4FDC-A967-94788D4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42FA29-F864-4175-9E8B-F8771EB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8EB8A3-B4FD-4EEA-89AC-57AFD98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43996F-AA37-49B8-AB30-7FE857C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CA9CD4D-3B52-4AE7-99D9-C6FE9C9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16BAFD-48E5-4EA0-ACCA-34FE079A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66A7112-B6E4-4AAF-9982-EC1DF626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6265464-2136-4D48-81A8-6EB02D7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FED069-BC67-4DDE-93F2-002DA9B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Open a clean notebook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A29A1C1-AC9B-497E-A1A4-F495C7CE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83254C-5F86-4EE3-BC89-E41BBF7B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execute every cell from a fresh Colab runtime.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077BE28-1640-411A-8468-FDD7842D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1D09F2C-C7D2-44DE-8DED-5D61CE73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8976D6A-0433-4DF1-9B66-DC258ED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84972F8-E085-4A33-BB96-CB9A585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B49D275-BB88-46B0-923D-DE97B4C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9D586F9-5ACC-42DD-86FD-EDBD98D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BFC41CF-94FC-4CFA-8720-B9B6B91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core Python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E765E9E-33EA-4DB7-A9FC-8DD37CAA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4C40060-F991-441B-8539-7D9E93BD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6C3EB21-00FA-438C-AB53-C9BAE9B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19D6408-9617-47F0-8F52-6666C2B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3C5AA36-486C-448A-B351-F5AE0AB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EB9C16A-E4DC-4D07-BA3E-4B92C4C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7DF5A77-E78A-49E5-8758-0E43C68A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F6F36A25-C7F2-458F-9237-4EF53DBD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F51E786-6B79-4207-9598-7A36AE10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Read financial data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47D2C05-AD23-4BFB-9D13-026A88AC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09ECC45-3911-4D14-A730-963933F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read financial data.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AB0BDD8-5853-4E2D-B695-D124DA6A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F7931FB1-EB09-4DD1-A3D4-63EE804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001BD6CF-C100-4D73-8ED2-55F5D11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31F0818-77B2-4354-9B42-A7EC1CD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B2A41E2-F744-426F-86BB-40A8AA5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9DEB3174-2F3E-4ACA-87EF-A3FEB2B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EA0DFB16-E508-4538-9A35-F9057CC3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Describe what you see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B6000E5-92C9-4667-BD40-E9623B9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984DF62-1EF2-4B6B-A76B-BA7F4E57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state what the result means for a financial decision.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FBAE5D1-0FA8-4FA2-8EF0-D5C47E30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BABE817-6E7F-4534-A447-A11B966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The deliverable is a short notebook with code, output, and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424901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2274F8F-8EE5-44DC-9046-0F8C3E26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83196C-FDDE-43F1-A034-4145E25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EA380-14CC-4E73-93E5-0523321B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B7EC02E-AB8B-42D5-980F-4D858A00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BFDE6-3C80-4186-8C07-4D09F176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workflow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C123F6-C4D9-4C46-8C18-0EC3BAFE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Reproducibility starts before the first line of Python.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9C3736-B547-43EF-8782-00F9782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8DCACD-343E-488F-8BF2-38D9781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6EA2752-24C3-4F93-B5C9-98966AA0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787735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6817C78-D884-4B6C-BC52-3D2BFF2A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A9232-DA9E-494A-9FCA-5B523F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C1391D4-3A10-4F6A-90B3-39D1E84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notebook is an analytical record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08DC5EB-91E1-450D-BD46-8CCED93C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reader should be able to trace the result back to the data and the calculation.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C247393-A8DB-4A07-8C0E-7EA276EA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B8217C-1B37-49B4-831A-F5A14E1B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F9AE45A-8242-48D8-91D4-13AD15C2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322EDB-BF51-47EE-ACCC-A5AC5AD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 USEFUL NOTEBOOK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2B01108-E21D-400F-81C7-0FC03FC6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Explains the question, shows the code, preserves the output, and states the interpretation.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B8DF12-41EC-489E-AFE7-CCF58F48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A30750-28E8-4612-B78D-D16D0A14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A WEAK NOTEBOOK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B308F1-6C9B-498B-8233-622C269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Shows disconnected cells, hidden transformations, and numbers that cannot be reproduced.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A5F4172-641A-4E52-BB5A-8474FA61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E9F337A-C118-4E57-9AEA-3CE1095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 is a modelling control.</a:t>
            </a:r>
          </a:p>
        </p:txBody>
      </p:sp>
    </p:spTree>
    <p:extLst>
      <p:ext uri="{BB962C8B-B14F-4D97-AF65-F5344CB8AC3E}">
        <p14:creationId xmlns:p14="http://schemas.microsoft.com/office/powerpoint/2010/main" val="34939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FE54F88-8068-4D07-A01C-B953CA3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7FE916-ED6D-4766-978D-B4ADB935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79C1C9-3EE3-49A5-8B20-7BB57698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clean first cell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5EAD18-6248-4837-B770-2DB4C746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Colab already provides the core scientific Python stack.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6C5C21-7B4B-4967-94EB-256CF0D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A25B89-323A-46BA-9057-A371D39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06C3BC0-5B36-4D97-A290-99DCC38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14A1BE-152E-4A0B-92EA-82A4ACBF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067519-C1E9-44A1-933A-40F272D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numpy as np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matplotlib.pyplot as plt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print("Core libraries loaded")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FC0A60F-5029-46C8-9F3E-27BDF86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B570781-335E-421A-BFA0-6660308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B8C79A-12AA-4D64-A0D5-96A6E8B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D48372A-5B37-485A-B263-65F71FD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Core libraries loaded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3B1FC4C-216D-48C3-AC2A-B6F9002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4DF8FE5-0D1D-476E-B18C-3CD8DBC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043F95E-9D79-4881-8C3D-BB07951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setup is deliberately short. The lecture spends its time on data and analysis.</a:t>
            </a:r>
          </a:p>
        </p:txBody>
      </p:sp>
    </p:spTree>
    <p:extLst>
      <p:ext uri="{BB962C8B-B14F-4D97-AF65-F5344CB8AC3E}">
        <p14:creationId xmlns:p14="http://schemas.microsoft.com/office/powerpoint/2010/main" val="4756255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9C32F7BE-5804-4157-8AD4-6D40D5F5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539D34-E997-42B7-81EA-B8090705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NOTEBOOK STRUCTURE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D5BB3-6E66-4541-AEE9-94E39A2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Four layers keep the analysis readable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0C8F14-D83C-462D-8642-2192214F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Each layer answers a different question.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31BEAE-DE54-4B1A-8F2F-FDF68567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CD115FD-8A54-42F9-A65B-219B5BF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28185EA-60C5-427C-9B6B-F99C78B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F0578F-29CF-4CD0-938A-B27C11F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35F2EBF-3545-4DA5-B2D4-389C6E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ADDA72-775B-404A-85BC-510A4D00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58F28F-7672-4082-A09E-2C8543D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E23EB05C-2C8F-428E-97C6-C3757E7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573BD96-E19B-4459-AB19-C88C836F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is the question?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94BAFAC-8FCD-4163-8B8F-B698832F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CE13E58-6CE0-47FB-AE5F-3ED7384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why is Apple closing price being examined?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87289D1-7BBA-4E79-B67F-450ADB90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2ED76E1-AFDF-4D14-BBAE-AD6D63A8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C1AF8A7-48D0-455F-9A18-0048C05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C7B3CC9-15C8-42E3-AB5E-9EF0C17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0974B2F-48EC-4CE0-8520-F8622AB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93B2EBCA-D668-4A41-9701-D1C9987B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9141C0E-1FB6-4AC0-8951-D967044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was calculated?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14E6A2-5280-44AA-8E79-EBABECE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6E92F9-1929-45AC-89D7-2C3C7EF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F8B3664-87EF-4FE3-A6CF-F4D17455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B2CF27-8E42-40FD-9A11-6F1F9CD3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C3C74B38-44FF-445B-830B-AF57A78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4A64F42-BB06-459F-9F0C-53A1CD5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AD35B95-7D40-478F-AEC0-E829684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C345FA56-FC9C-4387-8441-D5F913C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B65E745-FBE4-4163-A016-CF7F36AA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was produced?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EE1911E-13CB-49CD-8685-15056B3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7C596A4-3097-4445-94F2-BD4540A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table, number, or plot produced by the code.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9C005FF8-CE00-4629-AC98-80F54D9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1B286E0-32C3-41DC-998D-50CB820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7704BD09-58D3-4D5A-A9FB-ABCE5510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36247D2-49ED-4BF5-8C09-183DFE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957F62B-B84B-41A0-BFA6-86BB8DC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82FB375-3898-473B-821E-DCB090AA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78D545-7335-4F60-8475-CA67ADD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does it imply?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898ED6C-0109-49D7-A598-3FC7DA6E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E9DA380-8E8E-432F-8073-380EA065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explain whether the result changes the financial interpretation.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9CF38DE-6A45-4CD5-98A8-DF60DF4B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0B53320-A77D-45A1-8646-1C6E28C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Do not hide the interpretation in a final paragraph disconnected from the code.</a:t>
            </a:r>
          </a:p>
        </p:txBody>
      </p:sp>
    </p:spTree>
    <p:extLst>
      <p:ext uri="{BB962C8B-B14F-4D97-AF65-F5344CB8AC3E}">
        <p14:creationId xmlns:p14="http://schemas.microsoft.com/office/powerpoint/2010/main" val="8064215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EE6F7DA-5BE5-4090-93AA-2510A54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3DA0B1-7C09-4015-BD0F-115DCF4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DE023C-A6F2-45DC-9AA6-4F394E47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Make the data path explicit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DDE157-098C-44E1-BBAD-CB5340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Use a relative path that another machine can reproduce.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D1DA11-01B1-412C-BDF2-32C99FE7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123BD80-4835-4293-AC98-32B60D2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03DF4D-482A-480B-976E-6B93681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99755B-67C8-453C-8E55-3C7525DB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60E066-7F1E-498F-A73E-8A96833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from pathlib import Path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DATA_DIR = Path("data")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FILE = DATA_DIR / "finance-charts-apple.csv"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print(FILE)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print(FILE.exists())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E2E9FE-4A40-4B94-ABDE-43535AB9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7EF7F8-9077-4F56-B2BE-B448E8D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78ACC79-9E4E-45D1-954C-21BBEF63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0FC8A2F-95EB-4A72-9486-09BD656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data/finance-charts-apple.csv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True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D4E8B7C-8D78-4199-9704-5AB1FDC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3423B0-4D40-4A81-BC30-051A141D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9D5DE4-9183-4476-9D47-A9C2482E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path check uses a file that is included in the course package and creates an immediate failure if the file is missing.</a:t>
            </a:r>
          </a:p>
        </p:txBody>
      </p:sp>
    </p:spTree>
    <p:extLst>
      <p:ext uri="{BB962C8B-B14F-4D97-AF65-F5344CB8AC3E}">
        <p14:creationId xmlns:p14="http://schemas.microsoft.com/office/powerpoint/2010/main" val="13405121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6497653-542D-4BD8-AB3F-2415AE9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7AC8D6-8382-40DF-B21E-B23B7BB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031AD8-570D-42BF-886A-47909B8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 a real credit-risk table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D34208-F793-464A-9D91-9D9586B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package includes the UCI Default of Credit Card Clients data as a CSV.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8D3F5B-2472-45E4-8030-58F1619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EF0B66E-F1ED-424A-B855-17B8B378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097E46-8AA3-4E20-8D7F-EE2E6F9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367151D-7D2D-4724-BF6A-4F3FE62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11B65E-BFAE-4D05-90C4-2A2D1511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credit = pd.read_csv(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"data/credit/default_of_credit_card_clients.csv"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print(credit.shape)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print(credit["default payment next month"].value_counts())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9001A8-41B9-4F86-A375-3F147C2B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9EDD78-C107-447D-B2AC-5EFF7A4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55ACB7-9CEB-4A4B-B967-E6B214B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F91495-ABCC-4FCB-92C8-EE2765A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(30000, 25)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0    23364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1     6636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AC6CBF8-8B72-4F97-9753-9EA5BCC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66715C-A86A-41F8-8C8B-6A519F3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9FE343F-3A3D-4454-A557-A7C80731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7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This table contains borrower characteristics and a next-month default outcome. The target definition belongs in the notebook before modelling.</a:t>
            </a:r>
          </a:p>
        </p:txBody>
      </p:sp>
    </p:spTree>
    <p:extLst>
      <p:ext uri="{BB962C8B-B14F-4D97-AF65-F5344CB8AC3E}">
        <p14:creationId xmlns:p14="http://schemas.microsoft.com/office/powerpoint/2010/main" val="7056869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61BA3FE-98D4-4D69-8239-00807D46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946B318-18BB-4DC8-B68A-149BC93D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6657EB-727F-4764-A3A7-8FF94215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Download an open financial dataset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FEA64E-95B2-4558-A6A0-20FCE4F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public CSV can be loaded directly in Colab.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002968C-154F-48CC-8F54-AF0FBDE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BB4C6E-FA86-444C-9507-9DE9C38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6F71DD-35A9-4669-8978-F165D0A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7A4F28-0115-446F-9AE9-4EBC5CB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5F4356-6433-4134-AD9F-EB362D7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url = 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"https://raw.githubusercontent.com/plotly/"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"datasets/master/finance-charts-apple.csv"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pd.read_csv(url, parse_dates=["Date"])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print(prices.shape)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15A2EF-77AF-454E-9BA3-EA373E6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41C8F7-A7A7-4D3A-B0E9-EDFEBA48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B41E687-2720-46C8-B39A-FF0B09E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BF25C6-4959-4448-8262-92D41AB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(506, 12)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3544B2-5DAB-42F0-9D53-12E3740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93D8782-722C-4A56-A8AC-E1A3A69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AB8AC91-F303-435D-84E1-124F271F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dataset contains daily Apple price, volume, and derived chart fields. The source URL stays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9489647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2E81EB-710C-4276-A8CB-D1BE826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15021B-E7A7-4703-92FA-22C3F52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0448CC-E49E-49F1-B04D-E9F903BC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8744B9-016B-48EC-8E64-312A00A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88FC84-4B93-43F1-8B35-9C0E179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core structures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814E230-FCC4-4CE1-8200-4BB09F0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Variables, collections, and control flow are the building blocks of financial analysis.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06D195-1319-4E9E-96CD-9A3AEA1E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1C18BF-0735-410C-B938-C78AF6F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ADB642-8FD7-445B-A0A1-9506B06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33360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174DDF9-8764-44B3-9B3A-CCFDBEDC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B6B32-E416-4837-8A1A-E5CDF2D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701AEF-5403-4300-B9D1-AA961EA0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Assignment gives a value a name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A40A6F-930F-459E-BF4D-C09C4018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variable stores a value so the calculation can be read, checked, and reused.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33B8D5-7834-4197-8DA7-97D9D25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149C57-858A-4140-B5B9-4FCDAD8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DDE38DA-736B-40A3-B699-2A58584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987426-DF7F-4763-881C-BE7AEEEB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169E5C-46EB-48AE-B5E2-BCB7EBF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After balance = 10_000, the name balance refers to a numeric value that later expressions can use.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04CA66-A956-4D4E-9167-8A5FDC5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9210D3-02F2-4DF7-A4D0-5BD3E74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919867-90B9-4A49-98C1-371051DA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good name carries the financial meaning. balance, annual_rate, and months are easier to audit than x, y, and z.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9B2DAF-165E-43D8-864B-D856680E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4CBECD-5F08-42A8-922E-923A991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Names are part of the explanation, not decoration around the code.</a:t>
            </a:r>
          </a:p>
        </p:txBody>
      </p:sp>
    </p:spTree>
    <p:extLst>
      <p:ext uri="{BB962C8B-B14F-4D97-AF65-F5344CB8AC3E}">
        <p14:creationId xmlns:p14="http://schemas.microsoft.com/office/powerpoint/2010/main" val="10826360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383F5C3-A8B6-4F57-8637-A4D2468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C045E3-E662-46F7-8A92-A74C1E7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17864AD-4EC8-4ED9-9E86-6B141746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number carries a unit and a convention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CFF821-012C-4043-B0C3-4E6A5017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numeric value can mean a percentage, a currency amount, or a count depending on the context.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B44B62-2D93-43CC-890D-1486A062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1FA005-906B-4762-BDCC-B19945B5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C15A5EC-BACC-4985-A9F1-2D8A9B62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8978E5-7F0A-4B00-B4A3-3DBE88B5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STORED VALUE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77A674-2CFC-4FE5-9F30-EF960A3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Store 7.25% as 0.0725 when the formula expects a decimal rate. Store €10,000 as 10000 when the unit is euros.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9CA42EA-1672-4446-B4BD-A8A7F9BB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028D82-4A14-42EF-9FE7-DE1D645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SAFE PRACTICE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EF81CE0-799C-4EA4-8D36-94B47000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Name the unit in the variable or nearby comment. Before calculating, ask whether the inputs share the same scale.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511B31E-4A96-40F1-8E98-DBCAD5E7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392A862-0AAE-4D31-9A09-5625DFDA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Many financial coding errors are unit errors, not Python errors.</a:t>
            </a:r>
          </a:p>
        </p:txBody>
      </p:sp>
    </p:spTree>
    <p:extLst>
      <p:ext uri="{BB962C8B-B14F-4D97-AF65-F5344CB8AC3E}">
        <p14:creationId xmlns:p14="http://schemas.microsoft.com/office/powerpoint/2010/main" val="11936035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D0F531E-8C79-4827-8C31-F2EC776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12086E-99CE-4D1C-A38F-44F00287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EC882F-FEFA-4493-8A79-AFFA1072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Strings and dates carry structure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5BD47AA-F7FF-4FC4-BAA8-645BFD4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Financial data often arrive as text and must be converted before analysis.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AFDB00-5498-4252-9488-430508D3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04C8090-3478-466C-9A97-6AFB2D1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59B7B1C-394B-4B8D-A0EF-DD81A28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928B0A-8D50-4489-965F-5C9F4DD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267CCC9-DA33-48B5-B1AA-34243F4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date_text = "2026-01-15"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trade_date = pd.to_datetime(date_text)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print(trade_date.year)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print(trade_date.month)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print(trade_date.strftime("%B %Y"))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117DDB1-1345-489F-882F-76660DEA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04DEA7-BCEE-4025-A7B5-B3244485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58F7C5-6D9E-4CA1-8A4B-AD66CCEF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A243C3B-62C2-4035-B7DE-FB0F202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2026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January 2026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95930B-DA5C-48D4-91CE-9839C96C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95B93C4-3FEE-4797-9763-292D974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A36820F-DA8F-4E91-9F22-30F8E7C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date stored as text cannot be grouped reliably until it is parsed into a date type.</a:t>
            </a:r>
          </a:p>
        </p:txBody>
      </p:sp>
    </p:spTree>
    <p:extLst>
      <p:ext uri="{BB962C8B-B14F-4D97-AF65-F5344CB8AC3E}">
        <p14:creationId xmlns:p14="http://schemas.microsoft.com/office/powerpoint/2010/main" val="2131858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DACF6D6-2F9D-4EFC-BFB9-C2E10333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431B93-3E74-4BC3-AB8D-A187256A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D8AB87-5DE6-4623-81DB-B0A9048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Format outputs for a reader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93E171-7B94-47E5-A514-52D963F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stored decimal and the displayed percentage serve different purposes.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A48BE-71A8-4DE6-87C7-3B2F59B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270AC4-A794-4039-B3BE-11AFC38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89A18CF-057B-4DCF-B732-E259A798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0C2EB9-4B6F-4AAD-B5CD-9B925ABB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3C16D5-2D70-4182-BBFA-B235A951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annual_rate = 0.0725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loan_balance = 12_000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print(f"Rate: {annual_rate:.2%}")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print(f"Balance: €{loan_balance:,.0f}")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350A6F-1A48-49CA-9EBC-867A12D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379C39C-98BA-48B5-8EB9-ECCE826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BE3FA6-B771-4707-9C67-0332656E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4DF5DB1-0C81-4E10-8A38-C35BA58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Rate: 7.25%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Balance: €12,000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F671DF3-6C96-4C3F-83A4-1414799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84F8F45-976E-403E-88BF-AA13E5E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2D0F177-F6FB-4C54-BA56-B7298E00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Keep numeric values in a calculation-friendly form and format them only when presenting results.</a:t>
            </a:r>
          </a:p>
        </p:txBody>
      </p:sp>
    </p:spTree>
    <p:extLst>
      <p:ext uri="{BB962C8B-B14F-4D97-AF65-F5344CB8AC3E}">
        <p14:creationId xmlns:p14="http://schemas.microsoft.com/office/powerpoint/2010/main" val="17646976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698B41F-B2FC-4649-B231-4F586FE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8645195-9D0F-4470-B3B3-63DDEB5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EF8380-D8E4-4C12-B748-07170FC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Operator order matters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167C0F-9D25-42BD-9482-41C9EC07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Python follows the same arithmetic precedence used in ordinary mathematics.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C5689B-79E0-4C03-9018-F8E27C95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8872D0-C899-4D0A-9942-550E12D1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6AC40BB-4013-4CC3-AB90-5978C65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320197-D9AA-46DC-BC3D-539C2100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3BC414-5713-445C-9276-1AE42391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principal = 10_000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rate = 0.06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years = 2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wrong = principal * rate + years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right = principal * (1 + rate * years)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print(wrong)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print(right)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064CB78-A6C2-4661-8F13-CF5ABD38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F15DEEA-5E5B-4125-994A-6632A62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DFB082-8B4A-4CAF-BC51-7DC83F87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BA3B46-32F1-424E-AADB-FA601D2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602.0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E0ECF04-48F0-4374-9843-5AE4E16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8EC6DB4-0F67-459A-9742-5F1A25E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4FBBEA2-6B47-444A-A834-E219AE5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Parentheses make the intended financial formula visible. Never rely on a reader guessing the convention.</a:t>
            </a:r>
          </a:p>
        </p:txBody>
      </p:sp>
    </p:spTree>
    <p:extLst>
      <p:ext uri="{BB962C8B-B14F-4D97-AF65-F5344CB8AC3E}">
        <p14:creationId xmlns:p14="http://schemas.microsoft.com/office/powerpoint/2010/main" val="479689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0363B9F-9411-42FB-B5EA-C010E55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BBF6F6-A01E-4036-8BAB-9C2C0AD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54FC21-6B37-4CFF-BD1E-1519EDEC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Core types and their financial meaning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9BCC26-B6B4-472F-98DD-2E42E95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type determines which operations make sense.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B87C87-811C-4180-8572-86BCE0EA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8499D2-3444-4636-8DA9-DCDE26B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3FF049E-0394-4927-832C-09CC6A40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B33825-8F62-4F2A-9AEA-152F24E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EA0DA16-035F-44DC-81D5-9C93EBDF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F8688E-1EF6-4C61-811D-F08B578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DEA0B6-085D-48BD-A668-64227F32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24100"/>
            <a:ext cx="651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360F7B-E117-476D-BF67-B45CAE0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624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Typical use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F1CA94-3552-4D61-BF36-65CF36EB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00B1B5C-57A7-43BE-AA97-9F1A9A0A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E06367-7D0C-4FD1-A928-F116A7B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003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C342E1B-91B8-48B1-8449-20EEE3EF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622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D572EBA-D47D-410B-8A98-D5183CE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077D49C-3DAF-439A-8D5E-9C0E22B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Number of months or observations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431965E-CE57-4001-B640-EFA33E6F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A775746-44FD-4C93-AF67-8BE1A7E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float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CFE9B0-7E4A-4317-BC3C-2B96275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B5B59E6-41C2-4789-B154-F8FF83C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766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0.0725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AE4D6A-4BF4-443A-BE4F-B25A64E6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D21FF5-BCBA-43DC-814C-30FC7650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7662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Rate, return, or balance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CA17001-654C-4495-B540-AA6C9449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AE0767C-BD88-42CC-A17B-B516831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2B75E37-321E-49F3-ADCA-8A32DBE5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290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A8B851B-BCBA-40E0-B60E-9318205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909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"Prime"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B98ECA-E67F-47DF-AE62-5E0B6DF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6D1D960-CD00-4D01-829D-EDA9D19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Segment, date label, or identifier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D1C1B1-53B0-4D6B-BD37-60473B2B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0446975-7D84-40DC-8B7D-160B4FDB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bool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3C4C000-44AB-403D-92C9-C49B71D2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C090CA37-BCEA-449F-9481-F069F069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053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617D160-FD99-4118-B5DD-8F678ED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43400"/>
            <a:ext cx="651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81D25D9-7E7D-4665-AFA1-2AF1EAD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0532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Flag or condition</a:t>
            </a:r>
          </a:p>
        </p:txBody>
      </p:sp>
    </p:spTree>
    <p:extLst>
      <p:ext uri="{BB962C8B-B14F-4D97-AF65-F5344CB8AC3E}">
        <p14:creationId xmlns:p14="http://schemas.microsoft.com/office/powerpoint/2010/main" val="8892387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45BCB31-AB76-4040-9628-9A1871D8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E9E853-D6E4-4911-B5AE-03A7D02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F6864F-A1E9-4EE1-ADB7-386E061A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Financial arithmetic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0E582B-E7CD-4029-864B-A47F080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transparent calculation is easier to audit than a hidden shortcut.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1CC212-0ECE-4FAA-B785-34C14E4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64174FA-EF9E-488A-AA31-3D482F2C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1F60C-6CBB-4EDB-AA2E-DE47F99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3386621-AECE-4E36-8F5F-5A6857EC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3E0BD55-58DC-4876-9DFC-95AD786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principal = 10_000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annual_rate = 0.06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years = 2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interest = principal * annual_rate * years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future_value = principal + interest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print(future_value)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79B4AC-0D82-406B-935E-4AC637E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43166E-30DA-4959-BED4-9606F943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DF84E4C-612F-4988-984F-67EB37A9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DF8D59-9044-40B5-89E0-07C67BD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5A3DA6-0369-483F-A53E-942A926E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4DA654-33E1-446F-ACCF-5E065C31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10DEB3-0441-4947-AA30-3C4BAABA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calculation is simple, but the same convention must remain clear in a larger model.</a:t>
            </a:r>
          </a:p>
        </p:txBody>
      </p:sp>
    </p:spTree>
    <p:extLst>
      <p:ext uri="{BB962C8B-B14F-4D97-AF65-F5344CB8AC3E}">
        <p14:creationId xmlns:p14="http://schemas.microsoft.com/office/powerpoint/2010/main" val="1063345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EDE43B-01A9-4237-AD55-B0FCE72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765787-A3C8-4B15-812D-38BB25C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FINANCIAL CONVENTIONS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D50237-5C20-465D-9331-E0A05D0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percentage is a number with a convention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1A4729-96E2-49A7-B288-1B83434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stored value and the displayed value are not always the same.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16BF30-1D7E-43B3-A117-AFFB299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441976-E9AC-48CC-AFDC-8D921F8D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740A1C-F038-4BC2-B27F-72BA52A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49604A-C581-477B-A867-CC737D5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DECIMAL RATE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82820D-9DAA-4DE6-BB01-F5048F4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0.0725 means 7.25% when the code expects a decimal.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1A7697-B7AB-4F4C-8EC5-65F2AE1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469DFA-F573-43FE-9836-26FF4FC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COMMON ERROR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E7F6C42-B7D6-43D5-842A-E90A2564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Using 7.25 where the formula expects 0.0725 changes the scale of the result by one hundred.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54A2713-2E86-43AA-9501-AC8101E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5FA8EC1-FFC4-4058-8783-0868F62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unit beside the number whenever the convention matters.</a:t>
            </a:r>
          </a:p>
        </p:txBody>
      </p:sp>
    </p:spTree>
    <p:extLst>
      <p:ext uri="{BB962C8B-B14F-4D97-AF65-F5344CB8AC3E}">
        <p14:creationId xmlns:p14="http://schemas.microsoft.com/office/powerpoint/2010/main" val="26686501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6DA146B6-4FBE-40CC-932D-A24A3F31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94A01F-FFFB-4D30-9DD5-551D3B9C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A517BA-F18B-48DE-B0A4-CB901FB1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Choose the structure that matches the meaning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F94E7B-624F-41AC-95B2-3165645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Order, mutability, and labels determine the right choice.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5077E8B-DCF7-4850-9E1C-A6C1958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CDFC2A-B340-47CD-99B9-10B1A15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1595AB-C214-4FCD-B36B-26316DC4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8A169C-9401-47B6-AF7D-2455410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D3C2896-8F94-4FDD-9705-FA6AE61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241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680BE82-96E4-4FCE-9B7E-B193213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162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D8C187-AD08-4421-A85E-EEF835F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24100"/>
            <a:ext cx="584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B1AC78-BAEB-4796-9BA6-CBA39C7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558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EF1E2B7-80D6-4B92-90CD-3D0A104A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A8527-4ABF-420F-849C-D6385945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7487032-2592-4144-908B-FF030B26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0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644FEAC-818A-4C59-9304-EE1418C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[0.012, -0.006, 0.009]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F073B93-C0B3-4371-8495-5104D4D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41599B2-E472-41FE-8F88-FCE7842A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622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Ordered values that may change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14DA015-2D3D-4453-957C-7F4C8BD8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BB39CB9-C0CB-4B9F-9160-EE5C1FB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Tuple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696196E-63C3-4A66-85D1-DFE42D3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147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9FFC3D1-5BFB-49E4-AEA5-46313A1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766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(date, return, flag)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004499C-F6B5-4474-9D07-21D2F83D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52F8F1A-7F11-4407-9EB1-1AC6858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7662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Fixed-position record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F5861A8-66E8-48D3-9E04-311F1804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EAB0331-1A08-45EB-9714-6CB7CE44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3DBE112-C339-41B6-8F1F-0894AA81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29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321D412-166F-4F3E-B161-EB9E248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9097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{"balance": 12000}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5C9BB03-E576-4899-B5CB-BD1F162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6491557-639C-4A7D-A706-9E9E17D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909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Named fields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3EC96DC-14C6-4D57-87D5-8533E66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C0C99F9-FD2F-41C6-A8FF-8069C513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4C34D94-FAA9-4ACE-9D75-2858637E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EF31D17E-6BEC-48FD-BC36-01ECEAE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053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{"Prime", "Retail"}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4073F09-8230-423F-95C7-D0E4DE3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584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6E8322F-6258-4642-9E63-27F991E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0532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Unique values</a:t>
            </a:r>
          </a:p>
        </p:txBody>
      </p:sp>
    </p:spTree>
    <p:extLst>
      <p:ext uri="{BB962C8B-B14F-4D97-AF65-F5344CB8AC3E}">
        <p14:creationId xmlns:p14="http://schemas.microsoft.com/office/powerpoint/2010/main" val="14846724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611C91A-3F66-4BD2-B0F7-613C85C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878D6-78C1-4E86-8022-A7B0B5A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9436E9-7B27-4FB3-9C3C-B2646A3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Lists and tuples preserve position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1334A3-7F0B-4174-88A8-2532AE2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Both structures are ordered, but they communicate different intentions.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2FD661-1BCB-4D70-91F6-5AEE93DE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3C860-9469-40E4-9DA7-96E65BB3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AADFDE-798C-40AD-BAC0-A35B9100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201361-F60E-439E-B74A-FC3E02D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CA1C9B0-D0FD-4ACA-B690-695DCC5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list for a sequence that may change, such as monthly returns collected during a loop.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0F52765-62BB-4F86-9E61-A5C7ECC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0CF13BD-2F41-48AA-B889-5E78850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TUPLE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EDD5540-3414-4F7D-86FD-1AACDF2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tuple for a fixed record, such as (date, return, default_flag) where the positions have a stable meaning.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F29BF3-42FB-4C61-AE8C-08C80E5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E3256B-78AF-4F4E-9895-4F2020E1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structure that tells the reader whether change is expected.</a:t>
            </a:r>
          </a:p>
        </p:txBody>
      </p:sp>
    </p:spTree>
    <p:extLst>
      <p:ext uri="{BB962C8B-B14F-4D97-AF65-F5344CB8AC3E}">
        <p14:creationId xmlns:p14="http://schemas.microsoft.com/office/powerpoint/2010/main" val="10876936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39EE8D-C659-4698-B0EE-EF20566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82ABC1-840E-41A5-9EF2-C888B2D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3C2D23-FA62-49B2-8867-03DC28E2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Dictionaries and sets solve different problems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E3EF2E9-49E9-4D43-943F-9FD348B1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Labels and uniqueness are more important than position in these structures.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91B1836-CD7E-4A0B-9B3C-52BB6E5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4E99D-03C4-499D-891D-AF6E26F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D9E7BC-89A7-48F9-A6EB-D04D4BA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C0939E-F498-44E0-92AD-BA1F1C7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B55D3D3-0000-44E8-9BB6-67E3B06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named keys when values have different meanings or units, such as balance, term_months, and segment.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692321-DD3D-4491-B554-45B59D5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CB6D51F-479D-4C9B-8036-22821D12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B85CD77-F8EF-449B-8EB2-F91F18A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set when only unique membership matters, such as the distinct borrower segments present in a table.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49CF20-F952-47C4-885F-4F48014B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16F59B-86E6-431F-A186-AC095AD0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set removes duplicates. A dictionary preserves explicit labels.</a:t>
            </a:r>
          </a:p>
        </p:txBody>
      </p:sp>
    </p:spTree>
    <p:extLst>
      <p:ext uri="{BB962C8B-B14F-4D97-AF65-F5344CB8AC3E}">
        <p14:creationId xmlns:p14="http://schemas.microsoft.com/office/powerpoint/2010/main" val="16850068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99CBC46-FBB9-4807-B85B-F7D50FC8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494D5D-8A0C-4730-A825-9F178ECF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B48D1C-3800-41A3-8FE7-E082B47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Copying prevents accidental changes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0CB425-D292-440A-82A7-022E0CF5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Two names can refer to the same mutable list unless a copy is requested.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C56E72C-0936-4E43-BCF9-48DBD1ED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68F327-AC4C-427C-BEC9-156D81D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F75039-7D2D-4011-863C-00135ADE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F10869-B845-4131-A19C-B32FE81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C614D14-E85A-4389-99A2-9A866EB8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If b = a and a changes, b sees the change because both names refer to the same list.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FFB806D-C44C-4CF0-A5EA-91CDF15C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16F846-2FD4-49E6-9441-7FEF0584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INDEPENDENT OBJECT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520ED9-D191-4E5A-8172-D16BC114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b = a.copy() when the new sequence should change independently from the original.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17E6410-8689-45B3-8BA4-C68FED6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83CB33-CAF0-4256-B97B-86176D11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distinction matters when transforming feature lists or return histories.</a:t>
            </a:r>
          </a:p>
        </p:txBody>
      </p:sp>
    </p:spTree>
    <p:extLst>
      <p:ext uri="{BB962C8B-B14F-4D97-AF65-F5344CB8AC3E}">
        <p14:creationId xmlns:p14="http://schemas.microsoft.com/office/powerpoint/2010/main" val="285486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F8CC74-D00C-488F-89C1-40423E1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16F1E18-F47B-4208-8E76-DD60856E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57F9E1-DBE3-4090-A843-9A604C9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Indexing and slicing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FD7F35-A92B-4FDE-A986-220644E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Select one observation or a contiguous window.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6CF4FE-102E-46A7-80A1-0318DAB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3C9715-28BB-4F62-BD15-60E9D1F8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6529C1-76BA-4A88-ADA4-7F35048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5448B7A-9FA9-431B-87FC-7F6B794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6CB0D75-3290-4B27-8313-6BC76FF3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0.009, 0.004]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print(returns[0])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print(returns[-1])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print(returns[1:3])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172EDF-2D9A-41BB-B671-F5170B2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EFCE85-2550-4B46-A876-A1D7682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4A244C1-9B8C-4D7B-B4D7-7923608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414C0E2-97A9-4F49-9058-4C3C0EC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0.012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0.004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[-0.006, 0.009]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CA81ADD-3E68-4AC2-9D21-1C5777C0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1335A6A-2395-43B2-98FC-C9751C2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62B2EBF-69C9-4FCE-8DCC-BA9088F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Indexing starts at zero. Slicing creates a new view of the sequence.</a:t>
            </a:r>
          </a:p>
        </p:txBody>
      </p:sp>
    </p:spTree>
    <p:extLst>
      <p:ext uri="{BB962C8B-B14F-4D97-AF65-F5344CB8AC3E}">
        <p14:creationId xmlns:p14="http://schemas.microsoft.com/office/powerpoint/2010/main" val="18305710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59E2077-1A79-4354-875C-F5E0AEE5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10BAF2-F814-4C7D-808F-D24EE0A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37B0AF-51EA-4C45-B1AB-373D286D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labelled financial record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68E66B-C11B-4A7C-AEEF-AF41ACB6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dictionary makes the role of each value explicit.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836729-C236-45B5-925A-2A2F85CF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265DC6-1BBC-4F6C-A761-A92FC7BA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FD0A1DC-FE83-4498-89F4-93DE2651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B007921-E9FF-4E23-ACB1-2965378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0FCBC3-7246-43A6-BBBC-FFFAC31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loan = {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"balance": 12_000,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"term_months": 36,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"segment": "Prime"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print(loan["balance"])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print(loan["segment"])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85E034-E586-4F08-B079-065DAFA7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CE947E7-FDBD-4EB9-BD23-764EC80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306AF6C-F1F2-4E76-B63A-5F2CCFE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38EB706-00AF-4E12-A598-FDBD286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Prime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4D0391-777A-4041-993B-73CA416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E171097-E282-4A26-969D-CF1B5C4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915E058-80B2-40BC-AAB2-665B511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Labels reduce ambiguity when a record contains values with different units.</a:t>
            </a:r>
          </a:p>
        </p:txBody>
      </p:sp>
    </p:spTree>
    <p:extLst>
      <p:ext uri="{BB962C8B-B14F-4D97-AF65-F5344CB8AC3E}">
        <p14:creationId xmlns:p14="http://schemas.microsoft.com/office/powerpoint/2010/main" val="13917588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AEC74C8-E98B-49FE-9213-B295A65C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D14D89-26EB-4141-9A39-6C46DE4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9501A3-58D7-4454-B117-0E618F61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rule becomes code through a condition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29EED9-48CF-4A9F-A5F3-52F8E22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structure mirrors a decision rule used in finance.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5152ED6-A7C5-4C76-83E2-14DB481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E325E9-FE01-4EA8-8383-5CAE797C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A78D9B2-BC57-499A-869D-28BD9005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BA9A01-9DB8-4410-ACD3-C2130E7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26560DC-5964-4074-89BC-2FD98DF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4C735C-85ED-401E-ABA0-308D3B0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1CB37E8-0393-4678-809F-5E781ED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DE2A4CD-3601-4A80-9FA1-87346BB3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C4CBD4F-4BF3-48DE-9873-3F34C74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Read the value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8DE324F-BE19-4D09-9635-32BDFE8C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34B1C8A-FF99-4771-9C4B-1AF6BBA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read a probability of default such as 0.08.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60C8B95-FCA8-4482-B272-7DDE12F5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D18CF4D-885A-4C9B-A655-2198C19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D89934B-0EF6-4C52-8EE5-B200AE0E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D15DC75-1CCB-4A0B-AF84-0352C360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AC9F3F0-7730-4B8D-A181-CF6AE267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B48CB84E-04D8-4772-A465-141ECF93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0AC52D2-B204-48BE-A53A-B2303C5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Evaluate the rule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07B8E65-362B-4EDA-9F61-33567B3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9B8C868-D0DE-49CD-82B3-E198BF2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test whether the probability is below 0.02 or 0.08.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48FA612-1D62-4E2E-9244-E77C58B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46E8F2E-DFDD-4D71-87BE-0E842D2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094DAB1F-C20C-4A47-86D6-C501096F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FD2AE1B-F7F6-4856-9D3F-7B14866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8D32D36-7F2C-4721-B46E-AA299FC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5C881139-D1F4-444F-8430-BF4A089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1F77220-5E19-4265-8833-9729D527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Choose the path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A38BC1E-C36C-43F6-A096-6EAC37A0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6362354-974A-4DFE-8B4E-08BC02D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assign low, medium, or high risk according to the rule.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04FFECD-5D43-415C-AA1D-2F386655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0D39291-74FF-4D27-9E95-2329545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8F5290E4-9364-479C-BEDD-1BEAB541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62D9BBE-2BB2-4179-AB4C-E66C213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2AD8957-F9B6-4E55-928B-63BF16F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D488312-AA40-4A6C-BCEE-BA59C9A1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EDE0CB8-2E96-4E10-A1EF-04054C6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Store the label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4671682-581E-495E-BAC1-0100A2EC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26239C3-0D30-4506-9FD8-8F286136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store the label and print it for inspection.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8275530-75D4-4A56-A754-754DDBD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9AA76E1B-CC07-4DBE-93D8-49BCBF8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Write the rule in plain language before translating it into Python.</a:t>
            </a:r>
          </a:p>
        </p:txBody>
      </p:sp>
    </p:spTree>
    <p:extLst>
      <p:ext uri="{BB962C8B-B14F-4D97-AF65-F5344CB8AC3E}">
        <p14:creationId xmlns:p14="http://schemas.microsoft.com/office/powerpoint/2010/main" val="158676466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848446-B6B2-4093-AF04-31786805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CBB6238-F382-4891-8FA6-54BF4D5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E212C04-61D7-4225-B125-8E37F30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Indentation defines the branch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D687FC-A80F-4579-807C-3C7CFD6A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Python uses indentation to show which statements belong to a condition.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7F9D3F-C8E6-4052-B877-0966DAA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AF90D0-F22B-42DF-9D3F-2F36A159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9F2B66-B831-428B-9B92-E0B1590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EBA94A-059D-4A3B-B172-00638C2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READABLE RULE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B22898D-A7CD-4061-ABD6-022071C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indented block runs only when its condition is true. elif tests the next condition only when earlier tests failed.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000BF19-791A-4C3D-83D5-EEC85E76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C63A29-3FB6-4F5F-9C2B-AB5450C1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COMMON FAILURE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CADAFC0-F011-4576-B18C-46014F0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Inconsistent indentation or overlapping thresholds can assign the wrong risk band without producing an obvious error.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734B94C-1160-474C-AF41-14E83011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99D12F4-12B5-4C99-B14D-59472E94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 boundary values explicitly: below, exactly at, and above each threshold.</a:t>
            </a:r>
          </a:p>
        </p:txBody>
      </p:sp>
    </p:spTree>
    <p:extLst>
      <p:ext uri="{BB962C8B-B14F-4D97-AF65-F5344CB8AC3E}">
        <p14:creationId xmlns:p14="http://schemas.microsoft.com/office/powerpoint/2010/main" val="71970943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48109A6-FDA3-4AEB-88AE-FCD2417F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1CFFCC-FD34-4E50-88A2-8D319455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F1E0AC-6D51-4CF4-BB1D-790D29DC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Combine conditions carefully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7E0119-E63F-4076-8997-495FF35C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Boolean operators make a rule more precise, but the logic must match the financial policy.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88B0BD2-8459-4CF6-B369-08C6DF2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15A482-4017-4C3C-AAB9-C448B4E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B1E77D-BD6D-46CB-BF54-83B0CCC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9D9E0AF-01D8-4728-8C7C-8F7AB9D7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E5411D-1A59-4689-9072-76F7467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income = 42_000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existing_debt = 8_000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eligible = (income &gt;= 30_000) and (existing_debt &lt; 10_000)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review = (income &lt; 30_000) or (existing_debt &gt;= 10_000)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print(eligible)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print(review)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3F6E7B-11CA-4E0B-B6A0-2CB7946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526AC9A-C0EB-432C-8264-107A134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5228D96-F8CD-4B08-82C7-712E7865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448436B-1F45-45D7-B52D-ADBE4DE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True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False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03A033B-F4B3-4CDF-A7E9-8D1691A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E268A82-B001-4343-A9D4-CADD844D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2DD6FB9-955B-4640-8A0F-1F243B0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Parentheses expose the two tests. A rule should be checked at its boundary cases before it is used on a dataset.</a:t>
            </a:r>
          </a:p>
        </p:txBody>
      </p:sp>
    </p:spTree>
    <p:extLst>
      <p:ext uri="{BB962C8B-B14F-4D97-AF65-F5344CB8AC3E}">
        <p14:creationId xmlns:p14="http://schemas.microsoft.com/office/powerpoint/2010/main" val="12756355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6E8E2B8-3E2A-40B5-82CA-3A55882A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661BD9-DB3F-47D6-86C3-D4ADEE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FC5567-9C04-4D0F-9278-BDFB07A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Classify a risk band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7B1FCB-F259-4873-BDFC-2556169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order of conditions matters.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EB9A8A-E59F-4F7C-BC2C-0BC486F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9DC263-EAC7-473B-9C1E-61AF69B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48B557-5723-49F1-B7F3-2A3820D1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CF5E052-F730-401C-8A74-898282A6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B1130E-A330-4398-976F-FD75918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pd = 0.08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if pd &lt; 0.02: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"low"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elif pd &lt; 0.08: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"medium"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else: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"high"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print(band)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03CB57-2D96-402C-BC21-DDD4FD1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FD70F8-F81C-4F9F-9269-216F89A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1A2D56F-310B-4A13-A575-0C6A4F5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35BE61-1697-46CC-A076-74C66705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high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A1E23A-434B-4B72-BD5F-B6FE0C89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CEE8AE9-26CD-475B-81DE-15C45A1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957C7E7-CD75-4594-A530-072FF0A0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boundary at 0.08 belongs to the final branch because the second condition is strict.</a:t>
            </a:r>
          </a:p>
        </p:txBody>
      </p:sp>
    </p:spTree>
    <p:extLst>
      <p:ext uri="{BB962C8B-B14F-4D97-AF65-F5344CB8AC3E}">
        <p14:creationId xmlns:p14="http://schemas.microsoft.com/office/powerpoint/2010/main" val="96393183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838D8B8-0A87-488F-AE95-F1846142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CA2E5F-6103-48B8-8284-88CB002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A22851-8A23-4A24-8A4B-292D5E5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Loop through returns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7419EB-FEAE-4D3D-ADCE-184F162F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enumerate() keeps the position and value together.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5D0502-599A-4E33-9BCF-5F60E09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2AD5A4-F93C-4FD7-BFC9-49FA542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5A8B69-D663-4559-BC2F-1C6922A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40D1DFD-E70C-488D-8405-D80122E2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D73B723-6A8A-4078-B489-7C50076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 month, value in enumerate(returns, start=1):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print(month, value)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7C69BEA-B12A-49FD-9783-DE611F3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A4285B-95DA-4A64-ADFE-42BBCCA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6A10C6-83BB-41FF-88AC-50F865A8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4402A77-19CC-4A13-AB95-C92A57C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1 0.012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2 -0.006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3 0.009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1732160-E0CB-47A6-921A-5C608DD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E92507-BA41-4539-9918-7DACC19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CC97A8-D0DC-45FD-AD2F-2A8B3DA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loop makes the repeated operation explicit without copying code.</a:t>
            </a:r>
          </a:p>
        </p:txBody>
      </p:sp>
    </p:spTree>
    <p:extLst>
      <p:ext uri="{BB962C8B-B14F-4D97-AF65-F5344CB8AC3E}">
        <p14:creationId xmlns:p14="http://schemas.microsoft.com/office/powerpoint/2010/main" val="30805140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72A531-003E-4EBD-ADB2-D6F8DAD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EE05DC-39F6-4C62-94C6-DA8DEBE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5B4439-601D-42CD-AB5A-2738DB91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Pair two financial sequences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1C6516-C14E-46F2-A5CF-CCD4410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zip() makes a position-by-position comparison readable.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A537BA-14F8-4DF6-B5DC-C472E23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55305F-CC37-4B94-AA3C-3620C75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68A2A-4F71-40F6-99BC-C5BDD899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6A0FB7-FFD0-4134-8110-633FDA1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7B395C-A638-463E-AF86-609593D3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actual = [0.02, -0.01, 0.03]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forecast = [0.01, -0.02, 0.02]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 observed, predicted in zip(actual, forecast):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error = observed - predicted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print(round(error, 3))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D635E7-18F7-40A6-A053-3D8587D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782E4E-E018-4CE8-8EB3-66A8ABB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36E51E-0000-432F-A959-0A536E5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BBB9A4B-C0FD-4B81-807B-FB3DDDDE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44EB62-93F3-41AD-A48A-01A6261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BC1BC25-B825-4C60-AAD3-5C4C9B2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7C9758F-CC98-4109-AD3A-01982B3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loop compares aligned observations. In a DataFrame, the same alignment must be checked through the index or date.</a:t>
            </a:r>
          </a:p>
        </p:txBody>
      </p:sp>
    </p:spTree>
    <p:extLst>
      <p:ext uri="{BB962C8B-B14F-4D97-AF65-F5344CB8AC3E}">
        <p14:creationId xmlns:p14="http://schemas.microsoft.com/office/powerpoint/2010/main" val="12417683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DDB8CAE-5C81-4AD5-B959-5641723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959C4F-C1E9-45B7-83ED-ACB457C9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14A502-B3F4-40F5-B5D9-4812321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guard in a while loop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DDEB77-1C49-43EC-9670-50C2D2B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while loop needs a condition that can eventually stop.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1FE901-E703-4C36-8FE2-497FE38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DD69EE-40A9-4161-A3B3-63CA592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7B6850-0529-4938-A151-7839899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2EF0BF-E7E0-4407-ADEA-D6E995DB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44219B-E775-4B8B-A995-0BBEB827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balance = 1000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months = 0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while balance &gt; 0 and months &lt; 3: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balance -= 250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months += 1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print(balance, months)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D84B51-9378-45B1-ACD5-EAFC5CF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F935D9-E30F-40DF-B164-BBED46CE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64DE6F4-A423-43E2-9802-E3875B3F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C2BFB4-6403-463A-95EE-8501855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250 3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EBECC0-BDC4-42BC-AA13-6985E69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481FD7-270C-4942-BB03-53D79AB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14D629A-31A1-4A1D-9C98-DC10D5A1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second condition protects the calculation from running indefinitely.</a:t>
            </a:r>
          </a:p>
        </p:txBody>
      </p:sp>
    </p:spTree>
    <p:extLst>
      <p:ext uri="{BB962C8B-B14F-4D97-AF65-F5344CB8AC3E}">
        <p14:creationId xmlns:p14="http://schemas.microsoft.com/office/powerpoint/2010/main" val="10077659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D66E4C-8A0A-4E48-8FF0-A002170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055478-8A01-401C-8E7B-7EB7F8BA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F9C275-4595-4462-9087-0F1EC30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Debug repeated logic by checking one iteration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C26534-BC06-4EE6-8744-53CA4C5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When a loop produces an unexpected result, inspect the input, the intermediate value, and the updated state.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97B9F8-01DB-4B20-B6C0-7B7D696F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15809F-363B-46A1-B0A2-273DB4F5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DDECD8-6BC6-41FD-9B41-1480E922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CFE91F-747E-4438-9AE1-7FA9904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7222A6-88BD-451C-A937-8557792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Print the index and the value for a small sample before running the loop over the full dataset.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BA4EB54-D3AC-4282-80BB-73AE407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6502C61-33EF-4717-9B74-0D891E4C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1379A4-4875-4124-8F8A-546E656D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Add a stopping condition, assert the expected type, and test an empty or boundary case.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DE63B77-1884-450C-8CAF-8950CB76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43552F-9301-4DF7-9843-A1F2C68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small controlled example is often faster to understand than a large output table.</a:t>
            </a:r>
          </a:p>
        </p:txBody>
      </p:sp>
    </p:spTree>
    <p:extLst>
      <p:ext uri="{BB962C8B-B14F-4D97-AF65-F5344CB8AC3E}">
        <p14:creationId xmlns:p14="http://schemas.microsoft.com/office/powerpoint/2010/main" val="28653358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4696C39-1980-4400-BAA1-EB64C7A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76E44B-C246-48F1-BFAD-3944647B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5482DB-A67C-440E-8292-F073163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204E78-2A78-42BD-9F1C-DCFCBF1F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E15860-038C-4163-A639-6DF39AE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Functions, files, and packages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E0AE73-2B21-4A3B-9093-BB7E987D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Reusable code turns a one-off calculation into a dependable analytical component.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D574F6-5946-436C-B772-93D8ED0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664776A-E8FF-45F5-BE1A-005E66CD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DD7BB4-237E-4F6C-952F-C6EFB92B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146748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AA3118E-8FDF-4717-BBF2-A0179EEB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A2E5E2-255F-47A1-8F9C-395EB4C2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5C632E-AB99-436D-A2CA-4192EBA9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Functions reduce repeated financial logic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C50ECD-06DE-49D7-874A-D82FA37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function lets one checked calculation serve many observations or scenarios.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B191A9-4D08-4575-9803-A65E480B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7AC55C-28D0-486F-AFF7-0D11959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4BBD544-49CF-4DA5-ADE7-B0A7282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73CBD92-577A-40A9-9AF9-EF699CAA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WITHOUT A FUNCTION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3D7932-20EF-4231-B1C4-913A978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same formula is copied into several cells. One correction may be applied in one place and missed in another.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0DD6E08-5017-4E20-A393-29752FA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141257B-6E82-4063-AF09-0CF0C3D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WITH A FUNCTION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1C1295F-2ED1-4A8F-863B-CED4CECD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formula has one definition, named inputs, and a return value that can be tested before it enters a larger model.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2966A5D-A326-4EB7-ACBC-53D6771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C32EF8-D3D3-434D-BB1B-2B928899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Reuse is valuable only when the function’s assumptions are documented.</a:t>
            </a:r>
          </a:p>
        </p:txBody>
      </p:sp>
    </p:spTree>
    <p:extLst>
      <p:ext uri="{BB962C8B-B14F-4D97-AF65-F5344CB8AC3E}">
        <p14:creationId xmlns:p14="http://schemas.microsoft.com/office/powerpoint/2010/main" val="93399406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747F64-C663-4D87-B127-29D0440D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2D579B-D36E-41D6-A0B1-B5908445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5A7657-23E4-43C7-BB5B-D7F2C86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 an input before calculating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13B74E-2C63-45F7-8BDD-9A130316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function can stop an invalid financial input before it contaminates later results.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4D8A455-7002-481B-8073-5FAEE3FD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7BFBAB-5A19-4D0A-A0CB-DAF9067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82C55F-C88B-492E-8B42-656AB033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4DF2C8F-7BC2-4A63-A54C-B179105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BCDC3B5-FBD7-4F31-9E83-0EF4979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if principal &lt; 0 or rate &lt; 0 or years &lt; 0: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raise ValueError("Inputs must be non-negative")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print(simple_interest(10_000, 0.06, 2))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8F9BA3-6EF1-4C0C-A48B-D3C90D9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81B86F9-1D9C-428A-8AFC-59F4923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7BFADE4-CE8E-4EB3-A439-ACBA77F6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671923F-FA3F-443C-853C-47DAB8D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FA93083-0D2F-4892-A814-7C2BB44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2BA839-8271-4CA6-BE3C-C1492EEF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197093C-2711-434B-86DD-571676B8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Validation turns an implicit assumption into an explicit control.</a:t>
            </a:r>
          </a:p>
        </p:txBody>
      </p:sp>
    </p:spTree>
    <p:extLst>
      <p:ext uri="{BB962C8B-B14F-4D97-AF65-F5344CB8AC3E}">
        <p14:creationId xmlns:p14="http://schemas.microsoft.com/office/powerpoint/2010/main" val="166074512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E9F23C-2267-4979-9E7F-784825F3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6108BB-BEA1-49FE-9945-D384C12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40597D-A5B7-4B9B-8CC5-8FCA225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function has a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11EC8-78AE-47FE-BA84-66411CA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input, calculation, and return value should be visible.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C481180-6CED-4A99-82CF-DD27A39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68F70F9-E882-460F-B063-AE413F0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E76B0A-17AD-4A17-8C94-3D87D20C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0802EA-C580-45FB-8B5E-9B667CD0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06B3C2-7424-4C58-AA70-F0823B7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mean(values):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sum(values) / len(values)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print(mean(returns))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754EB5-11C6-449F-AD26-5B06E63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4FA751E-FA17-4670-95F6-FE4DCD9C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51F467-F38D-4927-B600-049F71B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775E607-7B6D-439E-8D3B-56545006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0.005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CAF4329-80EE-4FDE-BFE3-F2B26CC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2C64309-50F4-4ED2-9476-7879CA9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4188CEF-B7A9-4691-9DD6-6FBA34B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function has one main job and returns a value that later code can reuse.</a:t>
            </a:r>
          </a:p>
        </p:txBody>
      </p:sp>
    </p:spTree>
    <p:extLst>
      <p:ext uri="{BB962C8B-B14F-4D97-AF65-F5344CB8AC3E}">
        <p14:creationId xmlns:p14="http://schemas.microsoft.com/office/powerpoint/2010/main" val="6428784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0C809C4-B6A3-4A32-ACE0-4F22FDC5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A31DFD-0832-4EED-8571-4C03FD1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DCB78A-F813-4AE9-B5E1-5CAB3488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financial function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8917E-60FE-432E-BB88-E705A87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Name the calculation and make the assumption reusable.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8BF2DF-5154-4287-8AC9-8A73200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AEC6CF-CE99-4625-A3C6-71E46C80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2252032-4E77-4EC3-85D3-F8FBF8A1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6255E0-1DFE-45AD-9613-7EDEADF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A7EFAEE-3B0D-4776-91D2-C63E5B6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interest = simple_interest(10_000, 0.06, 2)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print(interest)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0E5520-9799-4239-970C-D79ECF2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927F101-EFAE-449E-9B19-AFB80303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D72CEC0-AF5B-486C-BBF5-B51EBE5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5684A75-85BA-40B7-87C5-2CB128E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CF43E2-8A90-4F7B-9F84-2B4838BC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1F4F0BF-85D2-470D-9CE6-3F295E7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8D06752-52B6-4C36-83EF-5833E387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rate is a decimal. That convention belongs in the function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80738518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C8FE276-8218-4D8F-B7CB-73EE4FC2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9B5258-A80B-4A87-BBBE-AE833A5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FEDFDB-01AA-4279-8FC6-E16BDDBB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Document the unit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E4155C-DC8D-4604-8E5A-43C39FF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docstring prevents a correct formula from being used incorrectly.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E4905E-4712-4ED8-91C9-3C46310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CCFC22A-2A62-46BB-A372-9008AF4A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95D658-E5AA-45DD-AA17-CA499F38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E95580F-FC93-475E-B3E8-54E7F54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1B720FB-A2FE-4B11-8388-7134374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"""Return interest; rate is a decimal."""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print(simple_interest(10_000, 0.06, 2))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DF0C39-3389-4AD2-AA16-1A069CB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9269094-0A81-4D97-84C1-4689D580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A606F1-AA7E-438A-9D8C-E54F76B7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A245A4-89F5-4567-8ABF-BED0920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C65B1A-E832-43CD-BE21-4182D178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23E0019-C823-4332-9177-B1D6D06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D1F12C-1DBB-4FFC-A0B1-C978062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Inputs and units are part of the function’s analytical meaning.</a:t>
            </a:r>
          </a:p>
        </p:txBody>
      </p:sp>
    </p:spTree>
    <p:extLst>
      <p:ext uri="{BB962C8B-B14F-4D97-AF65-F5344CB8AC3E}">
        <p14:creationId xmlns:p14="http://schemas.microsoft.com/office/powerpoint/2010/main" val="144684600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BE62473F-65B1-4C6B-B87B-9660576F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5F6F5E-E651-482E-B21F-EB2C1C0B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FILES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F780D-CF28-44E4-9539-EC61B9A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file is part of the model input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2B5AB7F-ECB6-40ED-A827-0379643A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Treat each hand-off from source to analysis as a place where an error can occur.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553866-C5EB-4D8F-B4F8-945A92E4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C76C629-188B-4ED1-B8F5-6E2B7DC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D566E9-B7F8-495A-B64F-210DABB9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1C5F6C-BCC2-4187-9CBA-105BD8B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0EAD9F1-E4CA-4D88-8F3F-EB0A2536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81EBEF-EB74-4247-B1D5-3BABCC32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24FD25E-9268-4E65-86D5-675B7F8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B43BC0E-744A-4826-8981-C766E10F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B718EC-5833-4299-BCF2-1A4DAF64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Publisher or API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0152559-629E-46C9-8EDA-F7DF6DF5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EBED069-EB16-4879-AD7F-1A9C338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UCI repository, Yahoo Finance, or an approved API.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58A76B3-21E6-44DB-9A5F-C7B7B847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7CDFCF0-C8D8-406E-AE20-05EE657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B96FAD2-7B5D-47F9-B81C-2AF81E8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33ED2A0-7083-45B6-9A9C-011B0145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8518C7-B894-4F8D-9D87-64E8BA0D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File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0B41022-1503-44EA-88C1-147C052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8BD6E5F-1FB4-47C5-A495-EF9364D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CSV or Parquet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9A0ECE3-4B1C-4BEA-BF52-7A2973C4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6B8F8CF-DAE3-4507-B170-658DD19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47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CSV saved inside the course package or downloaded in Colab.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33A9E55-901E-4EDB-9E90-63D5676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C8B0710-F0BC-426C-A9FE-31CBE228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6B75564C-889F-40D3-86C3-2D300B2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D12EFD4-8595-4F53-A266-BA1C3E0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087533C-2927-459A-908B-6E03CB3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DataFrame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C3AC4FA0-8ACE-474C-B1AF-CEE4BB47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DDE8E47-0D76-49A5-8DB1-98DFE09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Rows and columns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69EC34F-7196-4EC4-83F4-EB21D60D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35550CE-1BB0-412F-B1E8-D64F222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rows are borrowers; columns are variables and the target.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4DBE047-1ABD-46C5-93D7-BC71CE9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3ABEACD-5B5D-4677-B0D8-3F23358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5E82C21E-EB33-4200-9D33-2F54984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0CA98E5-3AE7-4252-B4E5-997DCC7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B5CBA5A-0FD2-4B54-B712-07ADDC67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9BE67EE0-3CCF-4D44-B837-18F5AA2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2DB4FA7-8BFE-4521-AF67-63F010EF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Table or plot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C571D0E-9EEC-4AFC-A1F2-38103B98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AD76735F-84A1-4644-A595-887F8093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labelled summary table or plot with an interpretation.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2D1A9A1-7A17-4EE0-9E08-ADBE76FD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5197871-09FE-496A-B93C-80F84FE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A file that loaded successfully is not necessarily a dataset that has been understood.</a:t>
            </a:r>
          </a:p>
        </p:txBody>
      </p:sp>
    </p:spTree>
    <p:extLst>
      <p:ext uri="{BB962C8B-B14F-4D97-AF65-F5344CB8AC3E}">
        <p14:creationId xmlns:p14="http://schemas.microsoft.com/office/powerpoint/2010/main" val="186672784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670268B-9DF7-4AD7-9D82-E27EF86E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3D87CD-8FF9-4533-B836-7BBB836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623059-874B-4001-B0B4-FFC7CE7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 and write a small text file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EEEB4B-EF32-4AFC-90F0-11E0B6C7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File handling makes the input and output of a workflow explicit.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70E4BBC-33F2-4982-B00C-45EF180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4909CE-830D-42CE-9AAE-7610E17C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CC3FA7-F9D4-450B-B3E1-357BBB51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2B8A6E-EF3A-4595-9561-D403766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76753ED-8C26-456C-9AAD-55000FF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from pathlib import Path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notes = Path("week1_notes.txt")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notes.write_text("The dataset contains daily observations.")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print(notes.read_text())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870544-D96F-4CD4-ACD3-8CE5D5C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578998-68E6-4C6C-B210-20153364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955FACC-DF7F-4FCC-8975-F0CA68E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93B4751-9560-4CBF-8F15-9A0A307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The dataset contains daily observations.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B2B8104-4755-479D-8104-CCDC0232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9E8277-B405-45AF-9129-AF6F908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81712A-46FD-4E11-B3B8-EE7B5F9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reproducible workflow records what was done and where the result was saved.</a:t>
            </a:r>
          </a:p>
        </p:txBody>
      </p:sp>
    </p:spTree>
    <p:extLst>
      <p:ext uri="{BB962C8B-B14F-4D97-AF65-F5344CB8AC3E}">
        <p14:creationId xmlns:p14="http://schemas.microsoft.com/office/powerpoint/2010/main" val="73384656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DAE18E8-9D5B-4DF7-A3F4-3BDB9BF0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E0E26DE-21C2-4D77-9A30-F5311D7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7EFDFC-EEC3-4BA9-8C1B-D9F2DF31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Standardise the public columns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2EC0D2-59C7-41E7-9F84-919C637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Short names make later calculations easier to read.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56ED8E-89E2-4747-B19F-0F7AAC5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CD8A7C-AAA3-4155-92EA-3159C4A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04AB476-388E-41B5-AF4A-37D0367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E46D0B6-9724-43C4-8847-38701C9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3A46A-C79C-4B51-9BEE-64886E8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prices.rename(columns={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"Date": "date",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"AAPL.Close": "close",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"AAPL.Volume": "volume"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prices.sort_values("date")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print(prices[["date", "close", "volume"]].head(3))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2E1AA4-7DC6-45B1-B7AB-CE3CB116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A7355A1-E2A7-4082-908F-6422995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60818FE-D1C0-4EAA-B58C-3257D75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0345F7C-00E4-4E57-8079-B699D058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close       volume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2015-02-17  127.83  63152400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0B7066-5397-412E-9603-00EF9CD8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00984A7-7A25-45D2-BDB5-AD2442E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1DE8B78-3CBD-4A81-BAF6-C475153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Renaming is part of data preparation. Keep the original source names documented.</a:t>
            </a:r>
          </a:p>
        </p:txBody>
      </p:sp>
    </p:spTree>
    <p:extLst>
      <p:ext uri="{BB962C8B-B14F-4D97-AF65-F5344CB8AC3E}">
        <p14:creationId xmlns:p14="http://schemas.microsoft.com/office/powerpoint/2010/main" val="106056447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7F4F0D7-B11A-4D45-B512-A2C789BA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4D552F-EBA6-43C6-8B43-CBC5C4B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BB12DA-0211-417E-96E3-CBF7A99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Colab setup stays minimal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D58A69-CC5E-4D1E-BC7D-B46BE7A7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Install an extra package only when the analysis needs it.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952D20-B118-4753-8239-66E22DB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BFF88A-F0BA-45AB-9E6B-0155774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386BF3-AEBF-40AA-9D85-59D78ABD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2E8BB4-2DB7-4F81-A901-2D6FAB19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A6A353-CFBD-4462-B2BA-90BFE0E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Core libraries are already available in Colab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numpy as np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matplotlib.pyplot as plt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Example for a later lecture, when needed: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%pip install -q yfinance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8B3FBEF-A66C-4C54-8B9D-D77978D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93178BD-6CB2-4E31-9A50-809A74B2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B060BCF-EFD6-414C-99BC-FA68C8A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5A5E94-78E8-4A0A-B2CF-33B72B8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Core libraries ready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1A37E16-5E08-4D35-AAC5-EC52CFB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70DFBBE-8F2B-4D4F-8C05-2261E5F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EE158A-4976-4AE9-9747-0DF62F82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course avoids turning setup into a lecture on versions and package management.</a:t>
            </a:r>
          </a:p>
        </p:txBody>
      </p:sp>
    </p:spTree>
    <p:extLst>
      <p:ext uri="{BB962C8B-B14F-4D97-AF65-F5344CB8AC3E}">
        <p14:creationId xmlns:p14="http://schemas.microsoft.com/office/powerpoint/2010/main" val="6014084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A7E2129-07E2-429E-B236-89B2E93E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471240-A253-46C4-BFBE-396A520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PACKAGES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9E738E-3D55-4915-B179-DCC62EF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Imports connect the notebook to tested tools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0B7950-0683-4F90-AC93-FBB8429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package is useful when it removes repeated implementation work without hiding the analytical decision.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EE64E0-0EA3-44F8-B31E-B6688F4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70FFFC3-5667-48B2-BA6F-D0943B2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363BC62-5580-4BAE-8C62-5A838783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7B994A7-529E-4512-984F-6C26FFC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1217ED-F0BD-416A-A5AF-060E9812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clear import such as import pandas as pd and then call a named operation such as pd.read_csv.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CB77F1-DC58-4D6E-B190-625C5C5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E18043-66F9-467F-8E22-BFB322A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B03317B-5827-4183-8806-E4603EB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Record the package, the operation used, and any important option. The reader should know what the code is doing.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367D06-F944-418F-A87F-E83BD2AD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D5B0AB-E0A7-43C0-9DAA-753B7A6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short import cell should make the rest of the notebook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182753219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9A4B0-BDEE-4EDE-88A9-FD41F77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61EB94-AEF3-433E-BDCF-4028A71B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E766C7-97BE-480C-ADD9-0392127D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clean notebook should run in a fresh session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51ADB1-49D3-4AB7-B0EC-31A5FCB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order of cells should not depend on hidden state left from an earlier experiment.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FD058F-22BD-4D18-A43E-4C22714D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FE90AF2-C69B-447E-BEC3-E5A3B0E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3F6C1B-DABE-4089-97A3-B43D2A2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AF16C8-F9A6-4584-9962-4687051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345891A-825A-4FAD-9D4E-FBC50149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Restart the runtime and run all cells from top to bottom. Confirm that paths, imports, transformations, and outputs work again.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51FDE4-6BCD-4CA8-A74E-DA48A13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108DF6-6621-4CAB-BB1B-72D5415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BD8452-3A08-4BFE-A27D-25190730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Keep the question, source, code, output, interpretation, and limitations close together so another reader can follow the chain.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9A64FDF-6319-4F3A-8F74-F3267D4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61AF6F-2B5A-4218-8BF4-4FB16D8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 is a practical modelling skill, not a formatting preference.</a:t>
            </a:r>
          </a:p>
        </p:txBody>
      </p:sp>
    </p:spTree>
    <p:extLst>
      <p:ext uri="{BB962C8B-B14F-4D97-AF65-F5344CB8AC3E}">
        <p14:creationId xmlns:p14="http://schemas.microsoft.com/office/powerpoint/2010/main" val="152162442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22DA66A-B0A8-484E-BDB5-7ED5BCA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E5E26F-D8CF-4676-BE81-FE5532B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PROVENANCE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353E74-532E-4926-B8F2-4FAB2F58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dataset needs an identity card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C4C202-5AAA-476B-AB91-488F9E2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Record enough context to understand what the columns mean.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925DB9-93A5-41A0-A5D1-E26954E9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B0D0D39-CDA6-4014-B71A-B634241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943C86-41EC-46AB-AFF0-5C31FB6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1F6AFE-F2A6-4303-B259-CA9213F4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1DEF482-D14A-4C04-AB65-86B7457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DA8606-4F17-45D0-B9A9-3567CB2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4B0F57-61EE-4F33-9E43-74DA502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76850E8-BA8F-4D20-A346-8A72042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9D9C82-3C49-4DDB-8F34-1BBFB22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Who published it?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0F4C09-44AC-400C-BF59-5722542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E8D1FEA-495D-43F2-9E1B-D92478A2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UCI repository, Yahoo Finance, or an approved API.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D9E1FC-2550-412F-BE2F-0310F058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CCBE4FD-2F80-48C0-A109-56B8E9FB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7322F10-D46A-4400-B876-E462E84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0DCBB69-235A-40E0-A8FE-6FC4B4A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35AF59-2A6A-4C1C-9DDE-A2118AE0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742A234-8851-42A1-9733-1F868C8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71F6845-717A-4A81-AAD7-A763931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When was it measured?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906753E-499D-4E3F-B15C-415BD63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26D4D46-DAFA-4056-99C6-B03530D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325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record whether the observations are daily, monthly, or annual.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935A142-6D43-48DB-AFBC-CD13963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9D00982-924D-47C6-9F74-255C5E3F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F44439A-1451-402D-80CE-DE7381C6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D361C0D-987B-4F08-A38F-C547918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D983609-2DE9-4224-B608-1F9CCF3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Unit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7533922B-B09C-4224-A561-D636C8F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0834EF0-83D5-491C-8D11-E2A3043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does one row mean?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945098F-43E1-45E6-A53F-3AEAAD5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00998D9-45C5-4895-825A-4266F560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write exactly what one row represents before calculating statistics.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626F0B3-86A5-4417-BDFD-E83CF7E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5AEA93D-68C0-478A-ACE2-0B12F15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5D329F27-0760-4813-92D9-1541B8E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3CAB9D8-7C28-4E3C-A916-512E6F9D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9CC622B-841D-4E53-B74A-4EB7777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619E2571-C0DC-4288-8C9D-51AEC3A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694D0D46-16E1-47EF-B69D-91B7474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outcome is defined?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F2BD382A-2CAD-4376-9F30-6EE6CF99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FAF34D62-922B-4113-9985-7F3092E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define default=1 and non-default=0 before modelling.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09D0450-7291-45CF-ADF7-64B8D8B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AC0786A-8B49-4C78-BBD0-83DB244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The source, access date, units, row meaning, and target definition belong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170229213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22F4EF-3D66-44E8-A72E-AEDD1C0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79CDB9-B21F-4357-BF18-5D561308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045E8F-617B-45DF-BDF2-ECF700D8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B021CA-82C6-45EB-AE1C-D17A6B2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01507C9-3B51-499D-840A-9B23317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Financial data and statistics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D47485-7345-438F-83F1-EDAC777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Describe the sample before asking a model to predict anything.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0C6085-3679-4DAD-A2B0-AE1CBF4F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523239A-F528-4817-8184-FCC6773F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3DD48F-2804-4DC1-A721-97F3112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53744480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F82A0D01-D0D4-40E0-B2F7-CC34BD63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F787B9-D9DB-4B8E-AF23-3FC9EF0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OBSERVATION UNIT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38EB97-0347-459D-B672-BB59B9D0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Define the row before interpreting the column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A7F9CC-36A6-4591-86E1-B6C0AF5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statistic changes meaning when the observation unit changes.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95186A-B036-4AB0-BE49-8C12EC0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3502C2-1B24-4707-9C14-CC11D8E5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719482-3062-49A9-BFBC-1640796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68984B-3583-4E1B-A1DA-B1E078C2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1C59133-F6C2-4A67-9091-C52E3DD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FA74284-7A50-42AE-A46B-3A9764FB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6FFDAFF-9B95-4F65-BDC5-49731056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Borrower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B80C8D8D-C090-4B09-B184-FDF133F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A771A51-DCDC-402A-9430-1D3EA97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person or firm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C6E7D85-96AD-4F92-9DB0-1C75713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5B0549-9965-4150-83D9-D77FD6CD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row per applicant in a credit-default dataset.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85F8350-4B79-420F-9632-36E6659A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5D9BA0C-1068-4A2D-9407-AB9F507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593E46D-4762-4372-895C-AFE8AAC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E46DA13-36FF-4879-9ED2-1F719DB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4E306E-7010-42F6-AA87-06B6648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Loan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4EDD80E4-F963-48D2-954C-BECF7813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CB256B6-79ED-4451-B8B9-5BAADF4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credit facility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DBA17D2-4BC7-4AC7-AB60-FDE3F6ED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2011D5A-C316-4117-BFD5-6D1FC466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row per facility when several loans belong to one borrower.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0C98FD1-7F13-4757-974C-39EF348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923BC83-23B7-4A0D-BC47-74FF1221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3D9AF96F-0EE6-4205-B4CB-2955E4A3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A5F3D53-F0D7-4E66-96ED-BB80A23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C8EB140-40FC-4F7E-B8D0-6FDFA950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156617A2-015F-4767-811D-6A19E78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D0BFDB4-AA02-4D28-BA7E-9E88477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account-month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00A540A-137A-49F8-993A-E3C3085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54B1CC3-2DC1-4563-9D1C-D55766B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account-month for a panel of repayment behaviour.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30D437B-85FC-4461-9635-B6E9749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B77B34C-DB7F-4B8E-8751-089C0D15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2F56F0E-EFC8-4E16-938D-D07A979C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C4D7A6D-F91E-4A29-B999-57B42BEE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E838791-9946-4747-AD7C-FBAEEAD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Stock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69A07FF9-86AD-4BAD-8E12-898784A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E00420B4-1841-40E7-B02F-2A4D74F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security-month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BC38381-6D94-44F2-A402-786E9B24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39BF41C-CE36-4607-90F6-591194C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security-month when comparing asset returns.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B90E4677-0BB0-4C72-B2CB-6525328A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7676EA0-D362-4DBE-A25F-65D80989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Write one sentence that defines the observation unit before computing a summary.</a:t>
            </a:r>
          </a:p>
        </p:txBody>
      </p:sp>
    </p:spTree>
    <p:extLst>
      <p:ext uri="{BB962C8B-B14F-4D97-AF65-F5344CB8AC3E}">
        <p14:creationId xmlns:p14="http://schemas.microsoft.com/office/powerpoint/2010/main" val="122177907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0B6620-8DA6-4462-9D82-D49C0EA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DD8EE-CAFE-4B2B-A7F4-F0F5330A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DESCRIPTIVE STATISTICS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A7C8-0FCA-486E-BBFD-1134874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The functions describe the sample before modelling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2D4F-0649-498C-8D2B-878AA4B4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Theory comes first. The following code cells apply these definitions to the public Apple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F314F-C16C-4910-B41A-0AF0DCB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1087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14C20-D063-408A-BD64-782C156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83530-5567-479E-8D8B-77A145F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Statistic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86C88-E6C9-4EAB-957E-74839640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D94D9-2B3A-4281-BB97-E9B7B637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479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F68B5-35C2-4AB9-85E1-C83BE1F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2A92B-D2B3-439A-9CF6-529917A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Question answered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987E-8BAF-4284-BA6D-0048B9B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740BD-6B42-4B79-8001-0ECF3F98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47925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Library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C96AA-0F38-4EC8-A0BD-FBDAF36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35121-F899-4897-86D2-C9E94C7E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CDBB8-20AD-47B8-A16E-6C8187F0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0510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FB06C-99F6-4BA9-BFA5-D7DE9BAF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A2B3B-491D-4E94-9C66-33FA58FB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F609E-9088-4222-A226-3D09FD8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How many valid observations are available?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FDDE6-FE76-4943-AA45-3EF2F19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DD7D6-49B5-438D-9437-83BBA33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series.count()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91AE-F0BC-45F2-906C-6FA089C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152B5-9603-4AA2-93B9-DF68294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CE4DA-55C3-4103-B437-7240E20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D0933-1E7A-4639-A753-F0C8FFF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99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x̄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366BC-DD4C-424D-9EA6-365B4D5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337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DABB1-9C1F-4261-BDEB-C0CAA63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equal-weight average of the observed values.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BB2E1-DCFB-4750-9F6E-EF1EFBD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6E87B-985E-4101-98FE-958F1F53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99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series.mean() | NumPy: np.mean(series)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754ED-FF8B-4B36-8FE0-FE7865D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5BA9D9-CE87-4A64-BF64-867FAE9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70785-AD9E-4BAC-A0BF-1F60CCF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623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F95F50-795F-4B49-B965-2B83399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x̃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825696-C34D-4098-AED5-65357F5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ABC5F1-1392-42FF-B619-CD95355D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middle ordered value, less sensitive to extreme observations.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DBC2D6-43BB-432E-B6DB-B0B7456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3A8870-4662-4B87-A82A-980E7DE3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series.median() | NumPy: np.median(series)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062F6-2E17-4892-ABC5-C9855548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D54F4F-F73C-440A-B79D-DB94BF18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Variance / SD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9C89F-5D40-4F23-943C-CA06A0B9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9097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AD1473-87FF-4219-A44B-791A7D6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671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s² /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8DE915-FEA1-438D-AD7C-198D6322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9097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51F1E7-F940-4C30-97C6-C81BC9D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671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Sample dispersion around the mean, in squared and original units.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D204B8-03A1-4329-A59A-A84FF36B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90975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85B27E-3D02-4EDB-A546-D36AC53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6717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series.var(), series.std() | NumPy: np.var(..., ddof=1), np.std(..., ddof=1)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357D24-6AA6-4EF5-AFB6-0D8FCC2D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D71845-6D6D-4CE0-B46E-A10992CB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Range / quantiles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6AD95A-B939-43D4-8120-5EB1F29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B13493-526C-4B5C-9E01-4DAE07DD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min, max, q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F2EE0B-4CED-43DA-B876-4950206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7B0132-45CA-461F-931C-5AD0D5E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Lower, upper, and selected positions in the ordered sample.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586CC6-7557-4F3A-ACFC-C7F2482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9600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A86146-82B3-4290-977B-05D2A40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series.min(), series.max(), series.quantile(q)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D8E7A7-EF92-4FE2-A3BF-3BCB7072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80CE85-10D0-4848-B3DE-1F5755CA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Describe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16DCC8-C4F5-4072-9FDC-F46861B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482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232B56-F458-403D-8808-63A4BC7E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244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summary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FC0287-129D-46EE-A980-14BAEED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482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98D644-CB39-41E4-A49F-B2CC31F4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244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 library shortcut that reports count, mean, SD, min, quartiles, and max.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68B752-AB89-43E1-A140-2CA6E22D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48225"/>
            <a:ext cx="2619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AA93DB-8ACF-4F88-88C9-84DDC9D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24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series.describe()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95F39-9428-402F-8138-E1A09175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8E3BED-FA02-4260-9A76-2098495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Reading rule: choose the statistic that matches the question, inspect the units, and state the sample period before interpreting the value.</a:t>
            </a:r>
          </a:p>
        </p:txBody>
      </p:sp>
    </p:spTree>
    <p:extLst>
      <p:ext uri="{BB962C8B-B14F-4D97-AF65-F5344CB8AC3E}">
        <p14:creationId xmlns:p14="http://schemas.microsoft.com/office/powerpoint/2010/main" val="107805369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5CDAA7F-8F10-4C6C-B9D5-10B8F93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25B6FC-3947-4471-97A4-4679E88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812ED4-A553-4552-ADDE-AEBA9F5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DataFrame audit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9CBA68-7228-4A7E-B734-FCC013DC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Shape, names, types, and missingness establish the data contract.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085C67-7B48-48CF-81AD-B26AF1E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3250FB-37E9-4708-A84B-9279AEBE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97C3B8-9436-4791-85D6-7A3E13D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C3A25E-99F5-4D79-8278-4187E9F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44B5E5C-3AE0-4853-A5B9-E3A37088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print(prices.shape)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print(prices.columns.tolist())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print(prices.dtypes)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print(prices.isna().sum())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468BCB-5206-444E-92F8-E5D408A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5848619-0888-44D9-8407-24CD79C4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A0AB953-B6DF-49FA-988B-7869D4ED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55C5414-103F-446F-B879-804A411D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(506, 12)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['date', 'close', 'volume', ...]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datetime64[ns]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B252768-6354-48C3-AED8-C1F8159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A7D1D89-8274-494F-BD72-DFA7396A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36508A-CE2F-4A4D-A62F-7725409B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These four checks tell you what the table contains before you interpret it.</a:t>
            </a:r>
          </a:p>
        </p:txBody>
      </p:sp>
    </p:spTree>
    <p:extLst>
      <p:ext uri="{BB962C8B-B14F-4D97-AF65-F5344CB8AC3E}">
        <p14:creationId xmlns:p14="http://schemas.microsoft.com/office/powerpoint/2010/main" val="43226586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929D1D-61E3-42C3-BE3A-F1425C7E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E80D88-5225-47A9-A99A-5A89281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7985F2-1634-48B6-A550-8A9808C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missing values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78DFA7-5F26-4E39-8F1E-BC39C6E1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Missingness is part of the data description.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D62EC1-91AF-4086-AA44-59E2E24D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018FA6-592E-48B2-A423-B8E562C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CE8F8B-4BD1-46CE-A739-16D4E1CF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724F20B-F19F-4CCA-8C73-E6A1583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D16804-9DD4-4897-AB2B-E8A907A8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missing = prices.isna().sum()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missing_rate = missing / len(prices)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print(pd.DataFrame({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"count": missing,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"rate": missing_rate.round(3)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A2D0C0-1B64-4767-82C9-1B91F929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B0347E-033B-4B5A-BF5A-B7BC4A0F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1AE9F86-FF19-4987-B316-5DF6997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C000588-5EA3-4292-B735-CBBC925E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count  rate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 0  0.000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close       0  0.000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B8D1C8-2F4F-46F8-BEE0-6E870028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ED64EFE-2BA5-46AD-9BD9-A998742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7BC53A0-6A61-4319-B37F-2C91BB4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rate makes missingness comparable across columns. A zero count is still evidence worth checking.</a:t>
            </a:r>
          </a:p>
        </p:txBody>
      </p:sp>
    </p:spTree>
    <p:extLst>
      <p:ext uri="{BB962C8B-B14F-4D97-AF65-F5344CB8AC3E}">
        <p14:creationId xmlns:p14="http://schemas.microsoft.com/office/powerpoint/2010/main" val="60248281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4BFA296-B760-4D96-B109-3E5E4EBF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CB510F-8DF8-4015-9577-87BCCDF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11A949-8390-461F-B7A2-04183AE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Group prices by calendar year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0172EA-67F8-485A-BACF-B11B15A1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grouped statistic changes the question from individual days to annual summaries.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78C072-257D-4ED2-A042-932DC5D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B8DBFB-8701-4393-B9D8-CB78B427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5809D3-F3B0-4CFB-8B15-B2150B1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6E4666-C0A2-4038-9BAA-E1E6F1E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562207-C896-446E-9641-5BF153B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prices["year"] = prices["date"].dt.year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 = prices.groupby("year").agg(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mean_close=("close", "mean"),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median_close=("close", "median"),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trading_days=("date", "size")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print(annual)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2B346D-BDB2-4F96-9CBF-D1D54726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A2DD75-E680-4766-B011-CCAF9C7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1E8C74-2FEE-4281-B1A9-F961CE8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39A9BB0-ED26-4948-A3AC-D334793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mean_close  median_close  trading_days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2015 ...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92E7303-4DD1-4A04-920F-90A5D320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BC1FEBB-D36F-4540-B7BF-5AB7FBD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BAF7D0-BB4E-4F2A-BE93-72D911A4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grouping unit is the calendar year. The result is descriptive and depends on the sample period.</a:t>
            </a:r>
          </a:p>
        </p:txBody>
      </p:sp>
    </p:spTree>
    <p:extLst>
      <p:ext uri="{BB962C8B-B14F-4D97-AF65-F5344CB8AC3E}">
        <p14:creationId xmlns:p14="http://schemas.microsoft.com/office/powerpoint/2010/main" val="71862352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48FA725-CE1A-4497-9939-2F81C290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7FA5D5-D3CD-4F6F-9BD7-AB0F033E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D047D9-8F82-42C8-8D7B-E40C9F4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 a correlation matrix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3994C8-3460-4218-9CE6-95927A4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Correlation summarises linear co-movement between numeric variables.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5EBF06-772C-4E0F-AF66-24F21B16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82FB17-F03A-47D2-AE88-13D3B41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8B84063-DF5D-492D-8BAE-48E68F3A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9784B3-4B65-465A-9445-B315655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61D1117-A407-4FA3-9591-F3E258A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prices["simple_return"] = prices["close"].pct_change()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numeric = prices[["close", "volume", "simple_return"]]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print(numeric.corr().round(3))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3843BA3-774F-41A7-9338-7E94DFEE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765C97-874F-474A-8E61-7655A41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44425B9-AF70-401D-9B81-9B949DF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9FD7E2-3DF1-4E13-B11F-0BBD040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                 close  volume  simple_return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close            1.000 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D07727-81AE-49B3-BF02-51CD65F7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1245C3A-2382-4FFB-A0AC-61AC4445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2C496E-D9A4-449F-94F7-1DE2F7E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Correlation is unit-free, but it does not establish causality and may change across time periods.</a:t>
            </a:r>
          </a:p>
        </p:txBody>
      </p:sp>
    </p:spTree>
    <p:extLst>
      <p:ext uri="{BB962C8B-B14F-4D97-AF65-F5344CB8AC3E}">
        <p14:creationId xmlns:p14="http://schemas.microsoft.com/office/powerpoint/2010/main" val="74794145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1FF91F-3B67-4AF7-A9A2-058F297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A38D2-26DA-4D17-8488-7F9F043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15B4C0-3359-4EDA-9C59-FA911944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Arithmetic mean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66D44F-6B8F-4CED-BD0D-494A16C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mean is the balance point of observed values.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D86637-288F-411B-A7A3-D2D59BD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C04AF6-034D-4793-AE11-FED73510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97BDB1-73EB-4CCF-A060-94ED21E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87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ac206156d4c8e">
            <a:extLst>
              <a:ext uri="{96DAC541-7B7A-43D3-8B79-37D633B846F1}">
                <asvg:svgBlip xmlns:asvg="http://schemas.microsoft.com/office/drawing/2016/SVG/main" r:embed="Rc86db6cbc0594d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33650"/>
            <a:ext cx="10058400" cy="857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E1D1B2C-A42F-4130-99E6-94155D0F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EEBDB1-6193-4B8A-9C17-6EDBB3DE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xᵢ is observation i and n is the number of observations. Every observation receives equal weight.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3E915C5-D734-4005-B6ED-FCCE70A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5061044-AAFD-423B-8771-5527433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556EA9-A956-469A-A3BA-034A3F6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For Apple closing prices, the mean summarises the centre of the observed price sample. It does not describe every trading day.</a:t>
            </a:r>
          </a:p>
        </p:txBody>
      </p:sp>
    </p:spTree>
    <p:extLst>
      <p:ext uri="{BB962C8B-B14F-4D97-AF65-F5344CB8AC3E}">
        <p14:creationId xmlns:p14="http://schemas.microsoft.com/office/powerpoint/2010/main" val="122210473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F9F383-9D68-4095-9812-7DE92028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F14FA7-4D16-440E-A50A-61B6484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524E8A-3AD9-4CBA-9EFF-45AC189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709CC5-5541-48C9-A8D8-A8F3D8D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median uses the ordered position and resists extreme values.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C7AC562-9515-4AF6-BDAC-771473F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9F6B2E8-2767-4AA5-B8B1-485E005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27E047-91BF-4727-8499-E125C5B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036165684484c">
            <a:extLst>
              <a:ext uri="{96DAC541-7B7A-43D3-8B79-37D633B846F1}">
                <asvg:svgBlip xmlns:asvg="http://schemas.microsoft.com/office/drawing/2016/SVG/main" r:embed="R0058bed08b074f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33650"/>
            <a:ext cx="10058400" cy="857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7C943E9-B6D5-4931-AC67-1E8C986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D457217-7B96-4C81-A359-3E1E8FE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Order the observations first. The middle position defines the median when n is odd.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392B3D-829B-4538-AC84-4396012A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EAF45FE-77FC-4468-AD96-0BECB43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F5E0704-05E7-4468-B9C0-302E7674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For a skewed financial variable, the median can describe a typical observation better than the mean.</a:t>
            </a:r>
          </a:p>
        </p:txBody>
      </p:sp>
    </p:spTree>
    <p:extLst>
      <p:ext uri="{BB962C8B-B14F-4D97-AF65-F5344CB8AC3E}">
        <p14:creationId xmlns:p14="http://schemas.microsoft.com/office/powerpoint/2010/main" val="18552791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B377B7-9193-405E-9ABA-B5F2C63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9C32AF-EE5C-4731-A955-EC999BF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499390-575C-4EC6-A1D7-2670512C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Variance and standard deviation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E9E1F6-E91D-4925-9E30-18650E3B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Dispersion measures how far observations sit from the sample mean.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E32C46-D1CA-4D84-81E0-BCF599C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FB0864-2204-4968-B177-6ECA7BC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666FABE-D2C2-4BE8-8C81-8EECF0C2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FD0D0B-0260-4A35-AC66-B8B79F9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D34FE49-08F1-49B8-A035-7C678E0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Variance is in squared units. Standard deviation returns to the original unit and is easier to interpret financially.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FAD6864-9D5E-4732-BA7B-FB151080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BB5F62-D365-4AE7-A6CB-63D1EBC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428D1F-E961-4E35-8313-2D39BC7A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larger standard deviation means the observed closing prices vary more around their sample mean.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9418F6B-CF75-43BB-83D1-D72FBD40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93114"/>
            <a:ext cx="9505950" cy="959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e>
                    <m:sup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sup>
                  </m:sSup>
                  <m:r>
                    <a:rPr xmlns:a="http://schemas.openxmlformats.org/drawingml/2006/main" lang="en-US" sz="440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𝑛</m:t>
                      </m:r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−1</m:t>
                      </m:r>
                    </m:den>
                  </m:f>
                  <m:nary>
                    <m:naryPr>
                      <m:chr m:val="∑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sub>
                    <m:sup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lang="en-US" sz="4400" b="0" i="1"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</m:e>
                  </m:nary>
                </m:oMath>
              </m:oMathPara>
            </a14:m>
            <a:r>
              <a:rPr sz="4400"/>
              <a:t> </a:t>
            </a:r>
            <a14:m xmlns:a14="http://schemas.microsoft.com/office/drawing/2010/main">
              <m:oMathPara xmlns:m="http://schemas.openxmlformats.org/officeDocument/2006/math">
                <m:oMath>
                  <m:acc>
                    <m:accPr>
                      <m:chr m:val="̅"/>
                    </m:accPr>
                    <m:e>
                      <m:r>
                        <a:rPr xmlns:a="http://schemas.openxmlformats.org/drawingml/2006/main" lang="en-US" sz="4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</m:acc>
                  <m:sSup>
                    <m:e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lang="en-US" sz="4400" b="0" i="1"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sup>
                  </m:sSup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 xml:space="preserve">, </m:t>
                  </m:r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>𝑠</m:t>
                  </m:r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ad>
                    <m:radPr>
                      <m:degHide m:val="on"/>
                    </m:radPr>
                    <m:e>
                      <m:sSup>
                        <m:e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e>
                        <m:sup>
                          <m:r>
                            <a:rPr xmlns:a="http://schemas.openxmlformats.org/drawingml/2006/main"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e>
                  </m:rad>
                  <m:r>
                    <a:rPr xmlns:a="http://schemas.openxmlformats.org/drawingml/2006/main" lang="en-US" sz="4400" b="0" i="1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endParaRPr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828800" y="2212848"/>
            <a:ext cx="85039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>
                <a:solidFill>
                  <a:srgbClr val="23374E"/>
                </a:solidFill>
                <a:latin typeface="Aptos"/>
              </a:rPr>
              <a:t>INSERT CORRECTED EQUATION HERE
Sample variance and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63533082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6FAF4CF-1881-41A5-A860-92EE785E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03447B-9220-4249-8848-0D7FC36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131E9D-CD9A-4656-BAC3-15B9E586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Z-score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718C91-471D-403A-BDBD-9578A81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Standardisation expresses a value in sample standard-deviation units.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31A2AF-125B-492E-B5CE-19612CF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3CD2C7-D4CE-4A77-80B0-68D5BA84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BCE268-4CA5-4D98-8581-3576B6A2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9bc6ecaaa49bf">
            <a:extLst>
              <a:ext uri="{96DAC541-7B7A-43D3-8B79-37D633B846F1}">
                <asvg:svgBlip xmlns:asvg="http://schemas.microsoft.com/office/drawing/2016/SVG/main" r:embed="R4959cf2bb8814e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33650"/>
            <a:ext cx="10058400" cy="857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254915-D76D-452C-A2E6-386CDEA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AA960B-9FC7-415F-846A-1EBD484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zᵢ measures the distance from the mean relative to the sample spread. It has no original measurement unit.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909B853-B78F-4B52-8353-CE6040D9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978EE3-F7F5-4D41-9D40-E7AB465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57ECF3-9295-485E-A35B-3B03323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closing price with z = 2 lies two sample standard deviations above the sample mean.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30F0BE7-32C0-4AB7-87B1-1BF0A173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346" y="2286000"/>
            <a:ext cx="2984022" cy="1229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𝑧</m:t>
                      </m:r>
                    </m:e>
                    <m:sub>
                      <m:r>
                        <a:rPr xmlns:a="http://schemas.openxmlformats.org/drawingml/2006/main" lang="en-US" sz="4000" i="1"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</m:sub>
                  </m:sSub>
                  <m:r>
                    <a:rPr xmlns:a="http://schemas.openxmlformats.org/drawingml/2006/main" lang="en-US" sz="4000" b="0" i="1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sSub>
                        <m:e>
                          <m:r>
                            <a:rPr xmlns:a="http://schemas.openxmlformats.org/drawingml/2006/main" lang="en-US" sz="400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sz="4000" i="1"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lang="en-US" sz="40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acc>
                        <m:accPr>
                          <m:chr m:val="̅"/>
                        </m:accPr>
                        <m:e>
                          <m:r>
                            <a:rPr xmlns:a="http://schemas.openxmlformats.org/drawingml/2006/main" lang="en-US" sz="400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</m:acc>
                      <m:r>
                        <a:rPr xmlns:a="http://schemas.openxmlformats.org/drawingml/2006/main" lang="en-US" sz="4000"/>
                        <m:t xml:space="preserve"> </m:t>
                      </m:r>
                    </m:num>
                    <m:den>
                      <m:r>
                        <a:rPr xmlns:a="http://schemas.openxmlformats.org/drawingml/2006/main" lang="en-US" sz="4000" b="0" i="1"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den>
                  </m:f>
                </m:oMath>
              </m:oMathPara>
            </a14:m>
            <a:endParaRPr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828800" y="2212848"/>
            <a:ext cx="85039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>
                <a:solidFill>
                  <a:srgbClr val="23374E"/>
                </a:solidFill>
                <a:latin typeface="Aptos"/>
              </a:rPr>
              <a:t>INSERT CORRECTED EQUATION HERE
Z-score</a:t>
            </a:r>
          </a:p>
        </p:txBody>
      </p:sp>
    </p:spTree>
    <p:extLst>
      <p:ext uri="{BB962C8B-B14F-4D97-AF65-F5344CB8AC3E}">
        <p14:creationId xmlns:p14="http://schemas.microsoft.com/office/powerpoint/2010/main" val="180383571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E729E7B-7E7E-4B4F-BA91-6BD53964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D502DE-E57F-4DDD-9328-08103970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76C0F1-F045-4171-8891-20072B3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Simple and log returns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F17F54-A8BD-488E-8DCE-6EDDCA30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Price data are often converted into changes over time.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CA53F0A-5D8E-474B-892A-06BA110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7A22C63-D236-4441-B3FA-D7403D3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FDF9398-1303-4F86-AA6C-969702E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12B763-FF03-4051-8BE4-462BA8C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206968-95EC-4FFB-98B4-1AFE814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Pₜ is the price at time t. Use one return definition consistently in a workflow.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B5DA21-D3D4-4423-B4D3-EE1ECB9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6626DB4-CD70-4216-ACDB-54A9120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AB503E-0AA6-46A2-AEAC-761D02BD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first return is missing because the first price has no previous trading-day price.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2FFDDE-6E37-4939-8339-C33519C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2457"/>
            <a:ext cx="3013710" cy="11307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𝑅</m:t>
                      </m:r>
                    </m:e>
                    <m:sub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0B3F080-5045-4B9D-B8C8-F69D904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977" y="2326816"/>
            <a:ext cx="2689134" cy="11307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𝑟</m:t>
                      </m:r>
                    </m:e>
                    <m:sub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𝑙𝑜𝑔</m:t>
                  </m:r>
                  <m:f>
                    <m:num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185472236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D2A6B2-D191-45B3-BED7-33B1D47F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97DA8B-1EAC-4251-BF48-C9B03457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47C2E8-274A-4B75-BCA1-B92B4783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return is a change relative to a previous price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43EB5C-1B9A-41D4-910A-ACFCA178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denominator determines the scale of the reported change.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AD6B5F-7C3E-4365-8CB7-EC59C86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7C8F86-E2D8-440B-949A-5A1F61C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917206-1A7C-44A2-9742-7B66AB6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E6ECF96-0E26-42CE-8ED3-CB41AA20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SIMPLE RETURN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B4BF93-561A-4FF5-BD9B-3C3196F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simple return is easy to interpret as a percentage change and is often used for portfolio wealth calculations.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2024A02-7F53-4AD3-B3C8-3C184EA9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5A7DDE-84DA-4CAD-BF0C-0D95851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LOG RETURN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37A9111-D3F0-4CC6-A2F7-3D5E657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log return is additive across time under standard assumptions, which can simplify some statistical calculations.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E5A5E31-D7E7-4537-BE98-C399EA3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6FEC110-6FED-4A64-906C-38C41BB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definition before computing summaries and keep the choice consistent.</a:t>
            </a:r>
          </a:p>
        </p:txBody>
      </p:sp>
    </p:spTree>
    <p:extLst>
      <p:ext uri="{BB962C8B-B14F-4D97-AF65-F5344CB8AC3E}">
        <p14:creationId xmlns:p14="http://schemas.microsoft.com/office/powerpoint/2010/main" val="113862772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8048776-285D-438C-8E57-6F15504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BF507C-143A-40AF-A3F0-2BDF280F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C65D0C5-6DED-4163-97FA-DBC8A970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 returns from the public prices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912DE1-BE01-41C4-BC09-3D8834A2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first row becomes missing by construction because no lagged price exists.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355AA6-77A4-42D7-9310-5580CA6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C1BCE3-13F6-4A58-B74E-8FC1EDB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B9BB75-27DA-4B95-982A-89A3DACF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F45EEA-D88C-433D-B559-A70B16D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820AB76-9A48-44C9-8D48-F3D441C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prices["simple_return"] = prices["close"].pct_change()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prices["log_return"] = np.log(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prices["close"] / prices["close"].shift(1)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print(prices[["date", "simple_return"]].head())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AF3773-E5FE-4064-BAB8-C149E53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ED8330-F04F-469F-ABE6-DFF8688B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777C073-8697-4F60-A361-911665CC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852E3F-8BD3-4E30-AB81-270DD96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simple_return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2015-02-17        NaN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2015-02-18     0.0067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4648346-DD81-4BE0-9B78-1F5DAD3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650871F-82A5-444C-8F99-05946E81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61ADEA4-934F-428E-8B36-F51F3FB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missing first observation is a consequence of the definition, not automatically a data error.</a:t>
            </a:r>
          </a:p>
        </p:txBody>
      </p:sp>
    </p:spTree>
    <p:extLst>
      <p:ext uri="{BB962C8B-B14F-4D97-AF65-F5344CB8AC3E}">
        <p14:creationId xmlns:p14="http://schemas.microsoft.com/office/powerpoint/2010/main" val="211148713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60BE9EF-6C57-4608-B4C2-E2EC3AC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568ED8-CD12-444A-93CD-070FA94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44D3D1-D154-4D6A-ACED-2A8607F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Correlation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B708C0-E23F-40FB-B43B-CEEED12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Correlation rescales covariance to a unit-free measure.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A5A662-9D74-463D-8AD3-3B565E2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D210E4-4F76-4E57-9451-1BD2AD25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75977F-D598-4B6A-B18C-DC9202C2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7E14D15-52E1-474F-8339-B1ADD21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C21DA1-CEB3-46E2-ACD0-C329861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Correlation lies between −1 and +1 when both standard deviations are positive.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F89E2A-EFE0-4122-AC3F-D803C65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C23161A-3531-4BE9-B1BD-DCE1750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080B80-90E5-4E6D-BA92-28BDB45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high correlation between price and volume may indicate co-movement. It does not establish causality.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DB57CA-99A4-4B05-A224-A06C2E73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91" y="2366474"/>
            <a:ext cx="5002460" cy="1210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>𝐶𝑜𝑟𝑟</m:t>
                  </m:r>
                  <m:d>
                    <m:dPr>
                      <m:grow m:val="off"/>
                    </m:dPr>
                    <m:e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</m:e>
                  </m:d>
                  <m:r>
                    <a:rPr xmlns:a="http://schemas.openxmlformats.org/drawingml/2006/main" lang="en-US" sz="3600" b="0" i="1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𝐶𝑂𝑉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  <m:r>
                        <a:rPr xmlns:a="http://schemas.openxmlformats.org/drawingml/2006/main" lang="en-US" sz="3600" b="0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e>
                        <m:sub>
                          <m:r>
                            <a:rPr xmlns:a="http://schemas.openxmlformats.org/drawingml/2006/main"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</p:spTree>
    <p:extLst>
      <p:ext uri="{BB962C8B-B14F-4D97-AF65-F5344CB8AC3E}">
        <p14:creationId xmlns:p14="http://schemas.microsoft.com/office/powerpoint/2010/main" val="103575475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10585F-F25F-4799-A242-B0FCB7E9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FA17BF-D413-409F-AD7F-A089530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813B4A-726E-43CB-A820-4E0D6F2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951CC7-97F5-49A6-B910-11ABD14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DE74FD4-A89C-46A7-BB3A-6C2EA7CF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Visualising financial data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F9B1672-CA72-4B32-9EA1-F8CEE45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Charts reveal structure that tables can hide when the axes and units are clear.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229D6E5-DDCD-40D3-B4EF-AD68A66A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CFCFC1-039F-4D96-A7AE-7C43EFE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72DAD48-B136-47BC-A866-1B5F6BCA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640704322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1DC91-DC93-4BAD-81ED-CBDEB1E8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DAF84-33C4-410C-B54A-FEE411FB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524F8-2FA5-499D-A4C2-F73B5671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closing-price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7F283-05EE-496F-B249-0679FFA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histogram shows how many trading days fall inside each price interval.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f41850eec74e1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B563B-FAA8-46D0-8260-4496C29B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78A2-F710-4A95-83ED-D84F2177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the distribution describes the observed sample. It does not preserve the order of time and does not forecast future prices.</a:t>
            </a:r>
          </a:p>
        </p:txBody>
      </p:sp>
    </p:spTree>
    <p:extLst>
      <p:ext uri="{BB962C8B-B14F-4D97-AF65-F5344CB8AC3E}">
        <p14:creationId xmlns:p14="http://schemas.microsoft.com/office/powerpoint/2010/main" val="117649618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9472CD4-7C28-449B-855C-8760A1DE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0422B8-9B58-446C-98A7-A9447512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VISUALISATION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73510A-E82C-4BF3-B69A-EAB149B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chart answers a question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12E0A2-95D9-4094-AE33-85EB235E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Use the chart type that matches the analytical question.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4CC2AC-4069-489A-B8CA-4366F8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93BA282-69A7-4F90-8B44-FD3755C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0A08BC-E141-4EFA-A1B8-158F4F8B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0BE3EB-0A2F-4674-9266-62B2A60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5DA582-5C91-4633-8F8D-E276B0BD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9529FC-B94A-4B75-A24B-A0416AD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are values spread?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6DBD467-E369-465A-B7C7-FDE9D416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Histogram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074F74-BFE4-4151-A038-6F0C7A1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334FC7C-AA6C-428D-B634-06CF08F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96BDCE4-3DD8-4046-9E44-75476F4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B883AE0-C020-47FC-B38B-F4AC05A2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do groups differ?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39AD7FA-8272-43CF-96C9-58DF8AB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Bar chart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9AB5A84-B010-4A00-AD2D-0D586FEA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93ABF06-8101-4E2A-89AC-A595D39D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5510379-4A56-46EC-93B8-766F3747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RELATIONSHIP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996BCA2-05D4-4312-9DFF-B58B162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 two variables move together?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6B7BBCD-353B-479A-9621-76CD9E72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Scatter plot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0486529-F46A-4751-8625-F6139E6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209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D1E3BF8-FE30-476D-BAA2-16854F2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4A4E1D0-538D-42F8-B2BC-8034AA4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4FA468B-99BE-48FB-A4EC-388EB2C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does a value change?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09A595C-ACFA-4F8F-81F4-DB61190B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Line chart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3A34C95-D731-48FC-B90D-2BD9FEE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42494CB-C5FA-4406-9936-EE434F6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Label the variable, unit, time period, and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92816854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EDDD5FC-DF0F-4EAA-8990-74ED36D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49D3E0-F889-40B9-9282-16AAA77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D7EAE6-681B-45DC-AA87-20AC89D3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first histogram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208A30E-7A6E-4A2D-9B8E-FD69AFD4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histogram shows the distribution of observed closing prices.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415B62F-0350-472E-9C37-6C963E7D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CACC12-EF12-4A03-9526-D9FFAC32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DC8D80-507C-428C-A87D-2AA42CCA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4E2F54-B98F-4B43-BD85-E95D831D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C97C399-7426-4B87-AED7-6B6BC461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plt.figure(figsize=(8, 4))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plt.hist(prices["close"].dropna(), bins=30,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color="#1B6FB8", alpha=0.85)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plt.xlabel("Apple 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plt.ylabel("Trading days")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plt.title("Distribution of closing prices")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ED5F8AE-E45B-46F0-8E01-E87C8E6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FC3960-DADF-42B3-879D-48D91E7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873E3D-5150-4504-9274-7534C50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E403B16-B6D8-4741-ACD7-07C87952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Histogram of Apple closing prices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885336-8974-4FB9-9BE7-F111F30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51EEEF8-AD7C-4AB6-AAB7-BB8AFA4A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64F27B8-35F6-44AF-B50D-991F9FA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chart shows the sample distribution. It does not show the order of time, so it cannot reveal a trend.</a:t>
            </a:r>
          </a:p>
        </p:txBody>
      </p:sp>
    </p:spTree>
    <p:extLst>
      <p:ext uri="{BB962C8B-B14F-4D97-AF65-F5344CB8AC3E}">
        <p14:creationId xmlns:p14="http://schemas.microsoft.com/office/powerpoint/2010/main" val="296556397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11CDB-9FC3-48F7-AB68-0833199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FC0B-1711-49FC-9ED1-F9F1565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B797E-8318-4C4D-9608-AEA84461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closing price over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4FDEC-CDE8-4333-B727-0DFA3E9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line chart preserves the date order that a histogram removes.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be41c3449c4cd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F585B-4D30-48DD-9FEF-7F1D5F3B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259E4-73FA-4FF8-85CD-00479C2E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time order makes trends, clusters, and sudden changes visible. A price chart alone is not an investment return series.</a:t>
            </a:r>
          </a:p>
        </p:txBody>
      </p:sp>
    </p:spTree>
    <p:extLst>
      <p:ext uri="{BB962C8B-B14F-4D97-AF65-F5344CB8AC3E}">
        <p14:creationId xmlns:p14="http://schemas.microsoft.com/office/powerpoint/2010/main" val="1225283486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007A9-1B52-409E-A490-1CE4BD0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32F00-311D-46B1-BCD4-236AFCF5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A62C1-E789-492D-8330-F570AB93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Annual Apple returns by calendar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E5577-D57E-4B44-A115-4A84072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Grouping daily returns by year makes the comparison visible without relying on an unclear scatter pattern.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A57A3-2640-4886-8D46-027F440F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E52A-59D0-4D8E-AF61-71E019F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the bars compare sample averages across calendar years. They describe the included data and do not forecast future returns.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28681b668e472f"/>
          </a:graphicData>
        </a:graphic>
      </p:graphicFrame>
    </p:spTree>
    <p:extLst>
      <p:ext uri="{BB962C8B-B14F-4D97-AF65-F5344CB8AC3E}">
        <p14:creationId xmlns:p14="http://schemas.microsoft.com/office/powerpoint/2010/main" val="170678165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733D3-66C3-41C9-BA89-75F129CB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5A8BC-0C64-4E87-852B-0FFDF2A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VISUALISATION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0817C-2328-489A-86EC-26D347EB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Daily returns and trading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B64C6-8987-49D3-B8C0-09165E5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scatter plot asks whether unusually high trading activity coincides with larger daily price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094D5-5FB0-4C05-88AB-7456E4C9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197DD-4ACD-46EE-9391-ADD48121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f86a41ad564ed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A1136-1DB0-4021-A720-C90F22D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04C8D-EA08-460B-B1B5-06F2E1D7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2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936C"/>
                </a:solidFill>
                <a:latin typeface="Aptos"/>
                <a:ea typeface="Aptos"/>
                <a:cs typeface="Aptos"/>
              </a:rPr>
              <a:t>Interpretation: examine whether the vertical spread of returns changes as volume rises. The plot is descriptive; it does not establish causality or predict returns.</a:t>
            </a:r>
          </a:p>
        </p:txBody>
      </p:sp>
    </p:spTree>
    <p:extLst>
      <p:ext uri="{BB962C8B-B14F-4D97-AF65-F5344CB8AC3E}">
        <p14:creationId xmlns:p14="http://schemas.microsoft.com/office/powerpoint/2010/main" val="210633851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1E07EA4-F61D-4C15-AE01-82E4536A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15CE40-F0D7-45DB-A367-DE34F6A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97FE3E-B8C3-4E77-B03A-441034E4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Compare annual average prices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CEEDA1-2C9B-4708-8EE3-608C310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Group first, then visualise the group summary.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9290AC-F18E-4A16-B158-6FA6D9D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47C98C-6DAA-4162-B85E-EE5BD616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95B67D-FF28-4155-882A-59C15226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7FFF0F-27AB-4FEB-BD02-B800593A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E99644F-C2F6-4C39-92A7-47BCE15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prices["year"] = prices["date"].dt.year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annual_close = prices.groupby("year")["close"].mean()</a:t>
            </a:r>
          </a:p>
          <a:p xmlns:a="http://schemas.openxmlformats.org/drawingml/2006/main"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annual_close.plot(kind="bar", color="#10AFC0")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plt.ylabel("Average 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plt.xlabel("Year")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plt.title("Average Apple closing price by year")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111E314-5873-459E-88FC-140AE6A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5ED4F12-5FD9-4136-93CC-227586E0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C20BD9-0EF0-4DA3-95D4-0C2BC9FA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48F401D-987E-47E7-ABE3-1678A591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Bar chart with one average per year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741F3AB-3811-434C-B399-CB2C61A0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E91802-2853-4086-9A84-DC13333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D54D4B6-0BA7-464A-B533-A28360D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denominator is the number of trading days in each year. The average is descriptive, not a forecast.</a:t>
            </a:r>
          </a:p>
        </p:txBody>
      </p:sp>
    </p:spTree>
    <p:extLst>
      <p:ext uri="{BB962C8B-B14F-4D97-AF65-F5344CB8AC3E}">
        <p14:creationId xmlns:p14="http://schemas.microsoft.com/office/powerpoint/2010/main" val="100878659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1AC71D8-A05A-4ABB-8DCB-8816CA62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87B14EC-F3D4-45DB-840C-EAB13106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BF182E9-8469-4ACF-95C6-40677977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Plot the time order explicitly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EAB652-07FB-4D81-ABCE-84387A88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line chart preserves the order that a histogram removes.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862CEB-AE93-4D45-9AB7-5CE5CAF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E2491C-9C6B-40DE-A7F4-8B62C86E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3A960E-7B59-412F-BD02-062AEC11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4636337-158F-458D-9025-7BC97DB3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578B428-B5A2-4CDC-93AF-12D5FE7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plt.figure(figsize=(9, 4))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plt.plot(prices["date"], prices["close"],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color="#1B6FB8", linewidth=1.5)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plt.xlabel("Date")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plt.ylabel("Apple 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plt.title("Apple closing price over time")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plt.tight_layout()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4C4632-E641-4C21-B193-098DF5F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913A18-4831-41DC-9829-CF78CA9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C8150-3EEF-46C4-B7F5-F0DA4CF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19037E3-5909-442B-8864-7ADAB855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Line chart with date on the horizontal axis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FA3DE95-15F1-4019-B439-81FD716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260A08-30AE-491D-A1FF-F48679B9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D734755-82F4-4228-AC62-FF2FE42D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Time order makes changes and clusters visible, but a price chart alone does not measure investment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1940320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1D3D367-F27A-47EB-A87A-A110494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38B2A8-C76F-476E-B66A-D3C9B34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E96AA3-CEC9-4F0A-82D3-44A9F23D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price and volume together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492176-4FCB-4927-9A34-70A27CA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scatter plot can reveal clusters and nonlinear patterns.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381ED6-5BF2-48BA-BA29-D7F1311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9D0B02-ACE9-4EB6-8FDF-43A99B2D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059826E-CBF0-4F2A-A557-B080A98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95248D9-B2BC-4353-9082-4878B628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1FE8689-9991-4502-A6D5-697972DE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plt.scatter(prices["volume"], prices["close"],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   alpha=0.35, color="#1B6FB8")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plt.xlabel("Trading volume")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plt.ylabel("Closing price")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plt.title("Apple price and volume")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6A37A2-69DC-4643-A27D-E2F65869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0FD77E6-CCED-4F6E-BC48-5DED755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9F3C29-9D19-4305-A357-8A89267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785A3EC-727D-4AA8-9DF4-E743E18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Scatter plot with trading days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4BAAE6-46B8-46A5-AAED-A6BD1884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1BC864-919D-4B49-8604-EFD82C1D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E6367F-CE83-4CA9-BF7E-245E17F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Look for clusters, unusual points, and changes in the relationship. The plot alone cannot establish a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63567428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54753B5-3D11-42E4-8B72-EF57910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8243BC-BDDC-4E60-93A6-F71D114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 AUDIT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96D5B6-A942-4DBE-94C9-D587E5D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axis is part of the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1288D5-C1C5-4931-8580-D43320C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An attractive chart can still communicate the wrong conclusion.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D780E7-381A-4EE3-A1D2-A7E4FD6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927A97-8BB3-476B-BE5A-40C8B02A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26B20C-7069-4A20-A144-4F11FC7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321065-CE85-4022-A9F6-676D1898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MINIMUM STANDARD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4EAC80-4405-490E-AF91-FCECAF1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Label the variable, unit, time period, sample, and transformation.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46E033-0F6C-488A-A258-259C8FB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18A0797-FA50-491B-9466-C88C4E9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BEFORE INTERPRETING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AF54E58-BDE4-4DBE-99CB-EF4953F0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Ask whether a different scale, denominator, or time window would change the visible pattern.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9E5203-2F4A-4B96-9373-6D469CC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1DA0D5-01EB-4F52-B2EF-F061C99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clarity should increase scrutiny.</a:t>
            </a:r>
          </a:p>
        </p:txBody>
      </p:sp>
    </p:spTree>
    <p:extLst>
      <p:ext uri="{BB962C8B-B14F-4D97-AF65-F5344CB8AC3E}">
        <p14:creationId xmlns:p14="http://schemas.microsoft.com/office/powerpoint/2010/main" val="21003079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35FFFA4-864F-49D9-B173-8D2CDD1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DE2F15-088B-47EC-A433-FBC27429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 AUDIT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FE4D58-18FB-49BF-872C-79F2893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chart answers one question at a time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B0C5036-D913-4BEB-908D-9BF2FD5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visual form should follow the analytical purpose.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9E84BE-4F44-4C62-9985-49686FB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AA4AB6D-77A3-4757-9E2F-D3F53331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926DF1-24E8-4C97-A586-7E030FCD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D418CEB-C44A-4EEA-9894-AF2292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ED558-0985-42A1-AD96-50B7A18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histogram or box plot to study spread, skewness, and unusual observations.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6D9196D-4B1B-453A-9CB4-B7F2361D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A9D8F8-55D4-46BC-8596-D893B8B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COMPARISON OR TIME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C0C04B-EBB8-4075-AEA2-8B47BB9E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bar chart for grouped summaries and a line chart when order over time matters.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CBCFC41-9704-462C-8F04-46A1E8FD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C49307F-BFBB-419D-8AC6-5D34A6C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chart becomes evidence only when the reader knows what question it answers.</a:t>
            </a:r>
          </a:p>
        </p:txBody>
      </p:sp>
    </p:spTree>
    <p:extLst>
      <p:ext uri="{BB962C8B-B14F-4D97-AF65-F5344CB8AC3E}">
        <p14:creationId xmlns:p14="http://schemas.microsoft.com/office/powerpoint/2010/main" val="104454250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BD8CE222-E073-4E4A-B308-EA16402D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A55939-0962-40A6-95EA-EFABA97D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90534A-E7EB-48D6-878F-182642A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Apple teaching data: variable dictionary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68DD01-1C85-407D-A04F-1898360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These 11 source columns come from the public Plotly teaching file. The Week 1 notebook uses the three fields marked as primary.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207A19-317A-46B0-8BE3-4DDE188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23C324F-BD47-44B9-BD6E-EBFDFB6F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D9ABCD-338D-4B9B-BAE5-8B666B6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9CC06A6-A268-4C95-98F3-7364B5FD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5326BFE-7F58-4E43-B175-8310607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 fields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011F874-2E91-479E-86AF-46CEF12D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3858C39-EF0F-44F4-982B-FE6559E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72C93FE-CDAD-4905-8013-C124B544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Trading date; one row is one daily market observation.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846DBB-87C9-4B3E-9CE7-EE33D021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216FF3C-3806-4551-BEA6-596A5B0F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AAPL.Open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C2429F7-A942-47DD-9866-FE0B753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Apple opening price for that trading day.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91A85DD-3C9C-40A6-A322-CCA4578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9D1006E-1220-4B83-9467-9CEE6169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AAPL.High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C96CE1-7E67-4122-8B41-A1A61DAF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Highest reported Apple price during the trading day.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72CC2A-DD1A-4799-BEAB-5143582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8B7D7CE-2263-4007-8C6B-1E1F4A0D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AAPL.Low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5DCFF8D-DF80-4E78-A5AB-BA13A38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Lowest reported Apple price during the trading day.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F39A2F6-A279-4885-BB5B-B8D94D5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3C3F1FC-8F63-41C7-91CB-96841201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AAPL.Close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FDD68C6-B187-4D8E-8836-6DA23777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Apple closing price; primary price field in Week 1.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93B858F-9AC9-4388-AEFF-6EAACFE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1649459-EE79-49D2-A6DD-258906D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AAPL.Volume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28F7E4E-670A-47AE-AFD9-31F9C5F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Number of shares traded; primary activity field in Week 1.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1ACDEA-DFC2-4CB3-89C3-2056D26C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C812B0-10E5-4B6E-BDAE-8D3D695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DBAC244-8C62-4F1B-AE2B-BDE27925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Source-derived fields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8F9D63B-D64C-404C-A8EE-B00E5293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678E2E5-F85C-4C34-896E-02A4E4E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AAPL.Adjusted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32A7E32-085E-4BBE-9A1C-5C7179B4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Adjusted close supplied by the source; check its definition before use.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A8F1FFA-57A3-42D8-B350-84B98DD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3E7B187-21FC-4A2F-B680-28A70DA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4240A65-275A-4E35-AAAF-FFF68B66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Lower chart-band value supplied by the source file.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53E9A1D-856D-4F4B-9446-002D769C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969F81D-D6D9-4FCC-897E-E08BAC99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mavg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2182AFA-5C3D-4AD6-95C3-FB76BBB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Moving-average value supplied by the source file.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BB736C3F-EBCA-4B59-BF5B-8914F9AD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C20D4F34-0A44-48AF-AABF-21C6B99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30EBD85-1954-42BF-9733-58DF5DD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Upper chart-band value supplied by the source file.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325F7C5-6572-428B-B6EC-A3D98AF5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36787C5-8E61-440E-B775-AAB1019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1847252-A5C8-4C62-969C-57FAC38E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Direction label supplied by the source; do not assume its coding without checking.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D97A1A91-3EAA-475A-B687-96D6EA65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C78AED24-6EDE-4655-9079-9F32FA12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Source: plotly/datasets finance-charts-apple.csv | 506 rows | one daily Apple observation | https://github.com/plotly/datasets</a:t>
            </a:r>
          </a:p>
        </p:txBody>
      </p:sp>
    </p:spTree>
    <p:extLst>
      <p:ext uri="{BB962C8B-B14F-4D97-AF65-F5344CB8AC3E}">
        <p14:creationId xmlns:p14="http://schemas.microsoft.com/office/powerpoint/2010/main" val="187703186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F7D22215-4279-44CC-8BFD-04F09E5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6D0C47-B6D3-40B5-B70E-401FA821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0FAB6D-9575-4099-B34E-348C7621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data: dataset identity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1EC926-08A6-478C-8063-9DCAAB5F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This is a real supervised classification dataset, not a fabricated sample. Document the target before calculating any model metric.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C6CE221-7366-4196-8F4A-D4801ED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F7917B-B597-4F5F-B360-CFFF305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040FA1-6150-4CA0-873C-73736255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B84D81-01E4-41AF-8D99-15F9CAB7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54050C-8EFD-49EA-B0B1-396A1F3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one row represents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5769FB6-E41E-4838-A18D-EBB24A15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FC5DCC0-9AFB-404E-91BE-D8309E2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Observation unit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5344C2-CFDD-437E-AA34-4C3D1C8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credit-card client record.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2E9F96-855F-427D-B7FB-DA67355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D00C955-9C18-43D3-A95B-71445B52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Sample size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CA2CE22-4ED2-4B1C-8A99-A6949A4A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30,000 records and 23 explanatory features.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0933003-8315-4B38-A798-A2BF19A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1F74A76-7D79-4B40-AFF4-7C19FFED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3BCA172-6198-4BBF-85D1-A6263A1C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default payment next month: 1 = default, 0 = no default.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937F904-51E0-4F0B-8288-D305E1D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13F4A5-94E0-4CCE-BFEE-C7FF384E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 counts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51C0B8-BB97-43F1-9D47-0356892B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23,364 non-defaults and 6,636 defaults in the included CSV.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3A351D5-A9E3-40E7-8F8A-A3BBA0A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8B7C72A-4E1B-413E-AF1B-900F05B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types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923DDAC-15DB-4002-8D7A-821E9643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Integer and real-valued fields; several integers are coded categories.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D6ECE82-C2A5-4E36-9D74-D66022ED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DAA8827-2B16-4A39-8C55-E881F073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Missing values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DFC3EA5-7A98-4512-A5A1-CAFB064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UCI documentation reports no missing values in the source dataset.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FAA14BA-01A6-4B03-AD37-7187F7F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6DBCAA-F1E5-40BA-A75D-0E956193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C258D4F-AF12-477B-B22D-640E758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Provenance and responsible use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A70CAAE-877B-4024-A8C0-083F806C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412EDAD-0722-4E68-B53C-E4AADE21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Publisher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F6F1FFD-9EE6-4FBB-BCDD-58217AC2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UCI Machine Learning Repository; donated by I-Cheng Yeh.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5C4B7B6-EA2D-412B-B4C5-34BBFD7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FE4B2E3-643B-45C2-8C18-991D1E29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setting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8EAA915-077E-493A-A9CB-00D3793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Credit-card default payments in Taiwan.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8E2972F-B325-41B4-9699-B8C1A4EA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3102147-FC56-4C7B-A1B9-3D3CD8A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Citation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E5AB083-949D-4A61-A498-DECD3BAA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Yeh (2009), DOI 10.24432/C55S3H.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FCA82973-81AB-4A92-9061-F5AF40A4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160F47C-F827-4123-8AC9-4F6E41A0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Licence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E0117A2-019A-4A45-94A9-A46836A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Creative Commons Attribution 4.0 International (CC BY 4.0).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FDBAB3CA-F348-408F-97A0-5E41643A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F28E296B-7C0C-4D6E-A5A0-954613E0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Teaching use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BD5E25EF-A015-45DF-B273-26767EAF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EDA and later supervised-learning examples; not a claim about current lending populations.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52E69F95-805E-47CA-9B66-D503923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189F3E1-A61E-4AA9-86FC-4EF4BA1A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FAAEB1E2-12E0-4355-AC9C-F90DAE5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https://archive.ics.uci.edu/dataset/350/default+of+credit+card+clients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281609A5-EA94-43F2-B91A-D9D3C3D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D72A248B-379B-4E4C-8F20-42EB3793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Official download: https://archive.ics.uci.edu/static/public/350/default+of+credit+card+clients.zip | Accessed for this package: 2026-10-03</a:t>
            </a:r>
          </a:p>
        </p:txBody>
      </p:sp>
    </p:spTree>
    <p:extLst>
      <p:ext uri="{BB962C8B-B14F-4D97-AF65-F5344CB8AC3E}">
        <p14:creationId xmlns:p14="http://schemas.microsoft.com/office/powerpoint/2010/main" val="175475083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F2FE3AC-237C-484B-BD2F-405156A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7DFF4C-571C-4A09-B457-E4640CA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C90E4C-7087-4BFA-A640-15FE902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I: identity and borrower profile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8A5D68-F588-4C55-9CFA-2FB76C07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coded values are part of the data definition. They must be documented before encoding or modelling.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E0F0D5-89A3-4EA4-86E5-71DBFB2C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1CDCF89-6550-456E-8981-AFE6A0D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7FBB6AB-273E-435F-AFAC-F12751D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7D31061-7E3D-4E01-B72E-7BCC03CB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1EA69D-D75C-4DB8-AA13-3DF357CF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Identifier and credit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228B6D8-A7D2-429A-92E0-9D1D10A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9E26C1A-0E72-4950-9C2F-1B8735C4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B62787D-EC43-4642-A978-B578675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Client identifier; use for traceability, not as a predictive feature.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A0438C-EB58-48B7-AA63-4708E89C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0B9F6ED-DAFC-4B48-9AA1-C252ADD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LIMIT_BAL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DDB9007-94A9-47F6-A4E7-CD11CDCE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Amount of the given credit in New Taiwan dollars, including individual and supplementary credit.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0F2B085-23B2-435E-934E-2C31CA49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27E7A9-195D-4A84-9561-9899DEE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0C86CAF-BE30-442B-88FA-F79CBD2D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sex field: 1 = male, 2 = female in the source documentation.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F0AD9C2-9F2C-40F0-90C3-3559C83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FDC371B-BFDA-476E-A3FD-FE707AB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5FB2DF6-1278-4FF9-9F10-6F29573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Demographic fields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63316F0-77B4-4ECF-8A31-3B2A365C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071F0CE-C367-4053-A145-493E25A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23AF4F6-CAE4-4214-A9EA-EBBEDEA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education level: 1 graduate school, 2 university, 3 high school, 4 others.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CFE2FAF-C6CA-492C-AE41-DC83CE1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44595AB-3588-4694-9FDD-73A649D7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MARRIAGE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B10B193-40ED-40E8-8391-3E1F9BE3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marital status: 1 married, 2 single, 3 others.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7569E66-8600-486D-BE0B-97342DC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13C38E-45CB-4726-A544-EC143592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B87177C-E96B-49BE-9E06-0BD60D0C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Age in years at the time of the record.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4D9D7D2-E882-4EBF-906D-D957AE1E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1450089-A01D-4ED1-B6A8-583BCBA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Interpretation follows the official UCI variable documentation. Check coding values and possible out-of-range codes during Week 2 EDA.</a:t>
            </a:r>
          </a:p>
        </p:txBody>
      </p:sp>
    </p:spTree>
    <p:extLst>
      <p:ext uri="{BB962C8B-B14F-4D97-AF65-F5344CB8AC3E}">
        <p14:creationId xmlns:p14="http://schemas.microsoft.com/office/powerpoint/2010/main" val="18684581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E8B9BC43-CA7F-4E21-A19A-C79CD500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CD1652-0AC6-46F3-846D-2CE96BD9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0A47DAA-B7D7-4734-A007-6EB71DCD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II: repayment history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CC09CE-0E0F-4C8E-A4C7-4FB5D38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These six variables describe repayment status in the six months before the target month. The suffix identifies the month, not a generic feature number.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40DED6-4753-4D8C-AB7C-AA1BD837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CD213C-9D06-4A84-9814-8441C45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EEB614-7354-46DC-860B-DFF8879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48F981C-B591-489B-B3B8-E7CC4017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3329B2C-0B9C-4E10-BCA8-631C3010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months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93E76C-6D7A-4869-BF43-630E9F8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E089E9-E659-437E-9219-DFB8853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D2F79A4-F7D3-433A-9F60-DFAC38F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September 2005; the source uses 0 for September.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E585E0-5EA9-4CEC-8918-A2B4EEB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E650E01-D115-4546-A5AE-AE8B2AE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16EBB93-84D3-44FC-A1B6-A75DA23A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August 2005.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D6F6DF9-2C31-4BF6-81D9-42CE021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76A9000-5B5E-44A6-A448-FD7A9384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CE549EB-7425-4E9E-A6E0-F9707CBA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July 2005.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90B9E10-1EFA-48E5-8462-95462109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A2B553-1015-475F-ADE0-7D948715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65D956E-0692-4DB0-A6D3-DAED12F8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June 2005.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6F132B2-C7E2-4D51-A5E6-30BB55B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D0B06B5-C482-419A-840C-AD8544B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402A467-2F9B-4A8F-A7A2-2029C1E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Earlier months and coding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D6E5A42-8A01-4696-99B7-0FF08CE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89CFFA-6A14-4E43-8EDF-15DE2CF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CE55EC2-C7A6-4F88-9597-34448837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May 2005.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A3662E0-754D-4E5D-B619-6B536279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45EAA0D-88ED-4C30-B779-5EEC7B16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PAY_6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EEB6E85-A906-4D33-BC90-78B21E23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April 2005.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22A4C95-1F36-45B6-95EB-5222D9D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18217E5-2DD0-4417-ABEC-36319385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Coding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9D6B82E-94E2-4131-B05D-6106588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−1 = paid duly; 1–9 = delay from one month to nine months or more; inspect 0 and −2 in the supplied file.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0AC6A52-6640-4BA1-972E-AF79ED2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EE787D1-3C55-4B00-991A-8C8E2D93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Modelling note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3C0246A-71D5-45FA-AE80-4CC23CE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Treat these as ordered repayment-status information only after confirming the source coding.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C2459BD-6E3E-4F30-9984-E2F330B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827DD369-8082-4847-92E3-A1F7C19A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Source definition: UCI Default of Credit Card Clients, Additional Variable Information. Do not silently relabel coded values.</a:t>
            </a:r>
          </a:p>
        </p:txBody>
      </p:sp>
    </p:spTree>
    <p:extLst>
      <p:ext uri="{BB962C8B-B14F-4D97-AF65-F5344CB8AC3E}">
        <p14:creationId xmlns:p14="http://schemas.microsoft.com/office/powerpoint/2010/main" val="108097371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BE815481-55CF-48C7-A74A-A6730059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E15A5B-D05A-4BF4-9209-9C93D05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FE7C825-F15B-426C-B1A0-6587011E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III: bills, payments, and target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8DBBD11-16FB-43DA-A52E-919AACD1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Amounts are in New Taiwan dollars. The month suffix runs from September 2005 back to April 2005.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4675A8-11E6-4E06-88BF-7BC271B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8FE56F-F49C-4B8A-BAAC-4614B37B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245EAFC-8B20-47C0-ACC3-E7CA0725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3294E2-1207-4A49-BD2C-5335A7C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1265504-212F-4C65-978A-96DF1FA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Bill statements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53D7A0-944C-4A0B-800A-F90DB995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EC33BAA-8D77-4219-A2F8-65ACB8B7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855223-E2E7-4A2D-B55F-46EA402C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September 2005 bill statement amount.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4D4829B-1891-4D81-BE8A-84C20512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BD14AF7-EAA1-4569-B4BE-AACA227D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B75118-01B5-4E35-AAAE-15D947FB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August 2005 bill statement amount.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9D4E4A-2CBC-439A-84CE-842EC4D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A95ADE1-0B6D-4B48-9B0A-4BA7304C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8C4FEB-A30B-49A3-8876-7A02E869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July 2005 bill statement amount.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2E7F128-54BF-4E8D-B312-6F441D5D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7A1FAD-7B7E-4F95-878A-FE0E22F2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2722B83-54CD-4EC6-A497-8200755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767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June 2005 bill statement amount.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ACDE6F4-6B34-4B8E-BCCA-F7AF9C6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5CF58CE-C1C1-4115-B16E-060F243B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CB9DB6-0742-4DFD-8115-DA58951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May 2005 bill statement amount.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33B546A-3EA7-4AC8-AA3C-B2632DA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10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AE76B05-98BE-4DBF-8D9A-2ADA7AD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BILL_AMT6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BAB6259-0F1B-4F21-B372-C25A1E3A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April 2005 bill statement amount.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7AA800-1C91-4A62-92E8-A4C821E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B0AE768-2DBE-45AC-AA54-CA9F6F6D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C7066F5-DB39-4987-B48A-67CEDD7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Previous payments and outcome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1A4804B-2039-409E-B6F0-BF226E1B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5FD2AA1-56ED-4D95-A42D-1BEFF45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PAY_AMT1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07E5D9D-2B0C-483B-8623-ABE8155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September 2005 previous payment amount.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248E52C-4965-4655-950B-6265F43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F963A04-5012-471A-90CA-F960CCC3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PAY_AMT2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D93FDA4-E0A2-4590-BDBD-CC075B4B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August 2005 previous payment amount.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A67DB12-6052-458C-B52F-B2643F92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909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35FCAC6-A023-48D3-80ED-0BC3B07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PAY_AMT3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8F101B2-7192-4FD3-889E-5DC7DF6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480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July 2005 previous payment amount.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8B01423-DB18-4E6E-BD95-B62342B5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E429FE3-FD90-49DB-9735-0ACC5FD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PAY_AMT4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C77FEED-CBAB-408C-B6B3-F5327E0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June 2005 previous payment amount.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CCE7ADA-B4DA-4FA5-BA88-12C62CC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77F17A0-C658-4771-9666-33C5B31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PAY_AMT5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1E4E05C8-9017-4AF5-892E-1D2FC38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May 2005 previous payment amount.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C8AE3567-CC9D-41CB-96D7-5C96CE69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196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18BFE214-0472-464C-8F9B-69A9546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PAY_AMT6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7BA973E1-BB2C-4B49-8CF2-4119E1A5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April 2005 previous payment amount.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64622BF7-689B-44B2-B398-5333E471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A56C70DB-E747-4D52-A788-F117BAF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291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default payment next month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FEDE40CE-AF94-4EBC-A1B4-4F0007B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Target: 1 if the client defaulted next month, otherwise 0.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61C34D45-21AC-416D-A1AC-498FBD7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F5C21515-98EF-4AC5-9D2F-7F82918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Units and month definitions: UCI official documentation | Amounts are not percentages | Target must not be used as an input feature.</a:t>
            </a:r>
          </a:p>
        </p:txBody>
      </p:sp>
    </p:spTree>
    <p:extLst>
      <p:ext uri="{BB962C8B-B14F-4D97-AF65-F5344CB8AC3E}">
        <p14:creationId xmlns:p14="http://schemas.microsoft.com/office/powerpoint/2010/main" val="18703828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FA7778-2F7F-4AE5-9163-408DAEF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F525D8-B107-4627-B88D-D91AAFF3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5742F9-05C9-4487-867F-DBBE4E7A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3C1DFA-6BB3-4D1C-89EA-D6D68BC6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D7923B-D76E-4306-B2E7-C45C1FB8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1 exercise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45FB18-2F71-4D93-BD61-628DA64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Combine Python foundations, data inspection, descriptive statistics, and visualisation.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02BEAD-0468-4395-B0CF-2C0A2489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1B11E7-CABE-4D4D-A28D-588B419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E8E7073-050C-4426-BE8A-9F08F63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95614732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0DCFB3A-28C1-43F3-AF9C-15394F2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0D2C22-BFDC-4698-9536-AA07FD8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 1 EXERCISE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C6FF87-ECE4-4D06-BC8F-0BABDAD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first financial-data notebook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20893A-1A99-48FF-9FE4-0B9CC99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output is a short, reproducible analysis rather than a collection of commands.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8C5846-3FA0-4EA5-801F-6B3FB6CA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6FAB79-DE06-4605-8FB9-62DBABD0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A98330-E4DD-4C60-B852-0085B482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77BE0A-415D-43B4-B81F-D3309D8D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688B2D4A-B1C0-4FE1-8513-40D17532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24CA92-1114-4B48-8F52-3010EC31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00D972-072A-45E0-B09D-F3C47C6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EA97312-544A-4C5C-8E1E-AA86077C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DB533B0-CEBC-45CA-83BE-92C6E9EF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Imports, path, versions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C08988C-5B6B-4604-BB02-17AD27F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4050FDA-6897-4AEA-A7CA-652AD3E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imports, path, versions.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A9BEDE4-413F-4FD6-8587-1240E8FD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F54179A-27F6-42C0-B514-3F89E82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6B058D5-B4BF-4C57-A4FA-169DD1C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A942620-DB0D-4B35-96CB-1395460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E92ED83-FB5D-4139-8CCA-5344648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9AD7AED5-1924-4425-91A0-FE3D9B0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8648F57-789F-4720-9C34-6468B7A8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Rows, types, missingness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A3013B2-1760-4871-9FC1-0CBA7CF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564868D-13C7-4208-BAA4-F2A7BE4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rows, types, missingness.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CE94CED-22E6-429C-8FFD-3C37201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F705F71-AE74-4B49-8F20-A976B6E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18A33458-14E4-4C41-9858-0EDA816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2B2DFC3-88F2-4D94-89A9-9B128C65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972CD3B-5EA7-47BF-8CD1-7167DD39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Describe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D7E3BB27-A463-49AE-8043-91BE6F20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D28C1BA-A122-4E9F-A01E-4C007F7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Statistics and returns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3925C62-F929-4321-BAFB-66E97F3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F05C858-7783-460B-85AE-E5CDD5F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statistics and returns.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814AA14-18A8-4805-8A49-55DEDD55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324C5DBB-7CC9-4AF5-865B-5AF0D89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FE3AD7E6-D8A7-49D0-92AE-69133647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92144BA-6396-40FE-AEF7-0F64905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A06BD10-3526-4BF3-BC8F-4C9A5E83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Visualise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A72CE789-9F15-48B0-BD75-F58FF84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13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9CACBDA4-8626-48CB-8EF8-8DD6B0F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Two labelled plots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A4CC400-8033-4353-9720-0BB49B92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EC3821A-758E-4D71-9E0B-A5C94B9C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two labelled plots.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8A6CE33-F8BA-40F5-8352-31B7CDF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3FF43F6-CF8E-4AB0-AEAE-6D4EB77D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End with one paragraph that explains what the data show and what they cannot show.</a:t>
            </a:r>
          </a:p>
        </p:txBody>
      </p:sp>
    </p:spTree>
    <p:extLst>
      <p:ext uri="{BB962C8B-B14F-4D97-AF65-F5344CB8AC3E}">
        <p14:creationId xmlns:p14="http://schemas.microsoft.com/office/powerpoint/2010/main" val="127633315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C14F8C0-6EEE-4B1C-B05E-335681CD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23923F-FAC6-4B81-8199-B59EF88D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101CDD-9550-44A5-B6ED-37F6704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concise notebook skeleton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90F0A87-AB05-416F-B087-21B357DD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notebook should read like a short analytical report.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3CFFA8D-2FA8-4754-899E-66A86B0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CBE016B-A80D-44AB-80E1-2AF433C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8CF2FEC-FE7F-4BF8-8C2A-8D650D98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66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E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1A9C35-E61F-4629-9CC3-205AAF9C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CC849A8-E99D-466D-B2D9-C692F17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769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1. Question and context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2. Imports and data source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3. Load the public CSV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4. Inspect shape, types, missingness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5. Descriptive statistics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6. Two labelled visualisations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7. Financial interpretation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8. Limitations and next questions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545111E-8772-4978-BCA2-E915A59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46252A-976F-43CA-942F-08076BB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DF3C752-5C26-4849-95BC-606E41CA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F8572E6-2FA4-4A9E-9DFB-C5CFF8D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Eight visible notebook sections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E956529-0F7C-495B-AF33-060DA49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B044F28-0EDC-40DC-8CDD-B3A3462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2C98489-7B1A-4C36-AC48-E578D4D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structure makes the analysis easy to navigate and review.</a:t>
            </a:r>
          </a:p>
        </p:txBody>
      </p:sp>
    </p:spTree>
    <p:extLst>
      <p:ext uri="{BB962C8B-B14F-4D97-AF65-F5344CB8AC3E}">
        <p14:creationId xmlns:p14="http://schemas.microsoft.com/office/powerpoint/2010/main" val="138243016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791E478-EA13-4530-B807-14012835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9F328D-DBBE-4115-8CCB-63D4D6A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3046C-ACDD-4B3C-BE21-ADB4DD55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notebook is complete when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6E6FA4-31A4-4177-97E6-983E991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Check the evidence before moving to modelling.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4E24BD-0D5A-4697-90D0-DF0A6E2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F5A6C8-C99B-4712-9F1D-6F5D67CC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6B2BC5-2E2C-4751-A859-17BB402C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70BE63-9D52-4EC9-9A02-C718CA7C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193A40-7DD9-48A1-9C26-05B5481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861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CB23412-9C90-40BF-9625-D2E3F0DC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834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B03C9D-EFDF-40DD-8E16-8E24F175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D2D12E-B95E-4D42-994B-F4F7FB3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 identity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E6EE252-9245-4676-9C0B-36F3839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CFD701-44DE-4C06-BB90-29C581B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6227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Source, period, units, and observation unit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522065-BE7E-4AC1-9796-AEF1674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61436C5-AAE8-496B-A6A8-55082B4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A0D08F1-5F61-487F-948F-FB6975EF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CD5DC03-9631-4582-8210-287E05C1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Runs from a clean session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80E299D-78C9-4243-84D0-FC9C2B14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ED0848-CF99-461A-AEB1-2AB17041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096AB8E-3FD4-4B6C-A758-E506752A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E14BEF6-A3C8-4447-B968-06DE005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9097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Mean, median, spread, and missingness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E3C301E-B377-4CBF-A89E-DD0CE8E1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57EF4D9-7C6B-42ED-BD6B-94D51EB5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Visuals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2556F0D-FBA8-4E95-A39F-3024962D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861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725F329-40AF-42F7-8C07-7B9897F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053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Labels, units, and one paragraph of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96368391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93DA3E6-3B69-41ED-9E5B-DC002624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B8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B09659-C39D-41D3-88FE-0D6BFAA1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15675-3DD5-46EA-BB4D-9438A2F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complete answer has three layers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12FDEF-DEB7-4D1F-871E-4C04C005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code is only one part of the weekly submission.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AD2D55-D481-44D4-B30D-6B58EC75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146922-C7E0-4A65-BE6C-4E3E0A6E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D27B4C6-5819-4B02-A024-A66DF00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330E00-4ADC-42E1-AD23-7F6388F1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3A2877-0822-412C-904C-C4F9C71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Show the Python cell that produces the number or chart and keep the output visible.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0CA1991-4020-4710-AA98-2F9D61B4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7FBBE5-D8DA-4195-9648-09BEBDAE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3299E35-AF1C-4CFD-8E44-2B542E16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Explain what the result means for the financial question and identify one limitation or next check.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CCC171D-2858-48E5-A50D-C1243144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4BCBFC-E098-4BC7-979A-BA98E11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result without an explanation is incomplete evidence.</a:t>
            </a:r>
          </a:p>
        </p:txBody>
      </p:sp>
    </p:spTree>
    <p:extLst>
      <p:ext uri="{BB962C8B-B14F-4D97-AF65-F5344CB8AC3E}">
        <p14:creationId xmlns:p14="http://schemas.microsoft.com/office/powerpoint/2010/main" val="202964311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071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28223C6-2683-4797-A6A0-D931B1C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5E5BAF-281A-4F9F-BE75-25A8A9F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WEEK 01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2DE338-59F9-466B-BE61-1D85675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742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is the language.</a:t>
            </a:r>
          </a:p>
          <a:p xmlns:a="http://schemas.openxmlformats.org/drawingml/2006/main">
            <a:pPr algn="l">
              <a:buNone/>
              <a:defRPr sz="29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financial question is the discipline.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DB00F3-8FC9-447E-A781-B319CB4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C5D4E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5D4E0"/>
                </a:solidFill>
                <a:latin typeface="Aptos"/>
                <a:ea typeface="Aptos"/>
                <a:cs typeface="Aptos"/>
              </a:rPr>
              <a:t>A strong first notebook makes the data, calculation, and interpretation visible.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5C8996-2483-4702-A5AE-6943F56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FC0"/>
          </a:solidFill>
          <a:ln xmlns:a="http://schemas.openxmlformats.org/drawingml/2006/main" w="0">
            <a:noFill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3FC2B8-AF12-4D8E-92D3-7A903B1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Name variables and structures by their meaning.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0757D0-6BFA-4FBD-8195-317C307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B"/>
          </a:solidFill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CBE9CF-8293-436D-B7CD-1108C740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Use functions and checks to make calculations repeatable.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0C56BB-76A4-4728-8DEE-8C5F8959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36C"/>
          </a:solidFill>
          <a:ln xmlns:a="http://schemas.openxmlformats.org/drawingml/2006/main" w="0">
            <a:noFill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38E2907-AB2A-4A48-8D47-92F58A9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Inspect financial data before interpreting statistics or plots.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E54393-67C6-4032-8A6E-39745681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190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9"/>
          </a:solidFill>
          <a:ln xmlns:a="http://schemas.openxmlformats.org/drawingml/2006/main" w="0">
            <a:noFill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9F14DC-3F1C-40BE-976D-60AB937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60C3F98-173B-455E-B4F6-D77FCB0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NumPy, Pandas,</a:t>
            </a:r>
          </a:p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exploratory</a:t>
            </a:r>
          </a:p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analysis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70B9270-D89A-4105-A44F-FFF6F2E3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F7F6A30-AF43-4C5E-A526-1DF505E4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998730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0B9D9-A7F4-4C1F-989B-C429821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87241-9265-4186-A276-3A029673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2A785-D413-4F98-9D28-2E5DE7B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A · Weighted portfolio return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5B221-1CD4-4DE1-BBB3-5754F4E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dictionary and a loop can represent a simple portfolio before any model is introduced.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0B415-650E-49DD-A9AC-33EE771C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C5E9-E1A0-4B65-859A-F4E3A7F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412D-9F49-4EE8-82F5-D4576EBA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positions = {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'equity_fund': {'weight': 0.50, 'return': 0.08},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'bond_fund': {'weight': 0.30, 'return': 0.03},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'cash': {'weight': 0.20, 'return': 0.01}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portfolio_return = sum(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p['weight'] * p['return']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for p in positions.values()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print(f'{portfolio_return:.2%}')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FAE50-C926-4C49-9630-31831F8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DAB07-0C54-475D-9CFF-07E8E4D7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FC836-E615-46A6-8B6F-50110578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Portfolio return: 5.30%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Weights sum to: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38FF4-755F-4BE5-B3EB-0F84F7E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3B57E-9D8B-48D0-BA60-ABEFEAD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calculation is illustrative. The weight check is a basic data-quality control before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86418-F3E2-42E7-838B-D243DE1D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executed Lecture 0–1 Colab, additional worked case.</a:t>
            </a:r>
          </a:p>
        </p:txBody>
      </p:sp>
    </p:spTree>
    <p:extLst>
      <p:ext uri="{BB962C8B-B14F-4D97-AF65-F5344CB8AC3E}">
        <p14:creationId xmlns:p14="http://schemas.microsoft.com/office/powerpoint/2010/main" val="800411487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BB665-7DC4-47EB-B504-8751BADF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5E57-3F3C-49E6-8B8D-F57C293E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88756-8148-441D-977F-F845AC47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B · Reusable descriptive statistics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1986A-7A23-4DC3-BE33-80BD630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function prevents the same calculation from being rewritten for every financial variable.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A0AF0-5CFB-44E6-A8DA-60A53573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8FFE8-36B8-4108-81A4-4FB69DE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8B347-F9D0-408F-A65F-722E6A6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def return_summary(series):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clean = series.dropna()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return pd.Series({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'observations': clean.size,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'mean': clean.mean(),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'median': clean.median(),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'standard_deviation': clean.std(),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'minimum': clean.min(),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'maximum': clean.max()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return_summary(analysis['simple_return']).round(5)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DB65A-BE4D-4829-810F-70DB22EA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0D1A4-021F-4B7E-921D-8538882E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75E56-2081-4A82-B483-F049F404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observations        505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mean                0.00023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median              0.00000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standard_deviation  0.01529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minimum             -0.06571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maximum             0.06496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62F41-E07C-430D-AE53-4020CD8D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7E2FE-50EC-4427-B015-C393AA90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function receives a pandas Series, so the same logic can be reused for prices, returns, volume, or a credit variable.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3D192-CD91-4721-8C7F-E70E167A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finance-charts-apple.csv; output calculated from the included public file.</a:t>
            </a:r>
          </a:p>
        </p:txBody>
      </p:sp>
    </p:spTree>
    <p:extLst>
      <p:ext uri="{BB962C8B-B14F-4D97-AF65-F5344CB8AC3E}">
        <p14:creationId xmlns:p14="http://schemas.microsoft.com/office/powerpoint/2010/main" val="91705218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9A158-03D5-48AA-A65D-2A9875EF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8CCC-F739-4BAC-BFC1-BC1CE599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82DCC-CEF6-416B-90B7-E8636C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C · Grouped annual return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6044C-1221-4680-B4E2-90C2A72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Grouping changes the question from a whole-sample summary to a comparison across calendar years.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FF762-9D5C-477E-97AB-619A415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CD7D-5019-4169-84DA-164A490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6DF18-18A1-4BCD-B299-8547102C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annual_returns = 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analysis.dropna(subset=['simple_return'])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.groupby('year')['simple_return']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.agg(['count', 'mean', 'median', 'std', 'min', 'max'])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.round(5)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annual_returns.head()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0B55C-DFD0-4277-A44C-3CBC180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18A74-1B0B-4898-9065-E989CF2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9A52C-F985-4C6E-95D4-6FAFD2ED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2015  n=221  mean=-0.07%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2016  n=252  mean=0.05%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2017  n=32  mean=0.49%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DD44F-31FF-40EA-9517-6DD39F23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CBE64-CC57-4CEC-8CF6-143D8971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Always inspect group sizes before comparing means. A small group can make a summary unstable.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2E9C2-46CC-49B7-9626-CE39457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finance-charts-apple.csv; the output is generated from the included public file.</a:t>
            </a:r>
          </a:p>
        </p:txBody>
      </p:sp>
    </p:spTree>
    <p:extLst>
      <p:ext uri="{BB962C8B-B14F-4D97-AF65-F5344CB8AC3E}">
        <p14:creationId xmlns:p14="http://schemas.microsoft.com/office/powerpoint/2010/main" val="1698880926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86046-1E0F-4F88-A719-D42C7E8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61CBC-BC1D-432A-B4F4-10AFA9F4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A0F50-A83D-47D0-94FB-628F575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D · Credit-risk class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7BF23-D5DB-4BF2-8205-B075961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target definition must be inspected before choosing a model or a performance metric.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B2ED8-FE60-40A2-9566-7E958C14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0E135-1910-41C4-8D2E-4A4C738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F426F-FF15-46A8-AAC7-A58232BB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class_balance = credit[target].value_counts()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class_share = credit[target].value_counts(normalize=True)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pd.DataFrame({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'observations': class_balance,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'share': class_share.round(4)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37EFB-F976-470A-9B59-9E4957B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4EFA0-3166-4D76-B137-4F37B0C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D62C1-A663-48E2-9AD7-A1293F9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No default     23,364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Default         6,636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Default rate    22.12%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BB659-37C7-45FA-9147-8741E45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816E0-7538-4F80-A6D4-3D4F3BC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Accuracy alone can be misleading when the two target classes have different sizes. Later weeks introduce metrics designed for this setting.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99740-4FF9-44E2-8989-9718B94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743882254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72FA1-7318-4330-8A58-7A3C586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5875C-E5AA-4B09-9496-A1DEF07F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F04F8-6968-4DB2-A242-125D2CC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E · Credit-risk borrower segments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32359-63BE-4F51-91F4-1558103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same groupby pattern can compare borrower segments before supervised modelling.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2E52-DF9B-4FC2-9757-2AF9FCE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64C85-329C-4885-AD04-4DB95A3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53C4-EE63-4361-82D1-0FBD043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credit['limit_band'] = pd.cut(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credit['LIMIT_BAL'],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bins=[-float('inf'), 100000, 300000, float('inf')],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labels=['low limit', 'medium limit', 'high limit']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credit.groupby('limit_band', observed=False).agg(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borrowers=('ID', 'size'),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default_rate=(target, 'mean'),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median_age=('AGE', 'median')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19465-5BC2-4280-A4A6-0FE2D249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35FF7-285B-4D12-AECB-2D25DA5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8CBA3-4ED5-41CA-9598-097D5C7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low limit     n=12498  default=29.48%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medium limit  n=12939  default=18.14%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high limit    n= 4563  default=13.26%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C79BC-EC44-4955-9DA8-30EADA6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0B1B1-F7CA-4759-818A-D4A1809E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This table describes associations in the sample. It does not show that a credit limit caused a borrower outcome.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67367-F0BB-47A9-A734-4305E835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745753044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CC355-9BF1-467F-B81D-3D7160A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290C9-5850-4D3A-87EA-06834D34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6DF4-84DE-4AB6-803E-2D2E54A5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F · A transparent screening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2DD07-CA84-46B5-81EB-0F1B960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simple rule is useful for understanding features, but it is not yet a trained or validated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C06B5-4504-497E-BBA5-FE200E9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AE013-7DFE-4C1D-9468-D6BECBF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000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410BE-B43A-4AB1-8538-84D036E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524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credit['simple_review_flag'] = 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(credit['LIMIT_BAL'] &lt; 50000)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&amp; (credit['PAY_0'] &gt;= 2)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).astype(int)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credit.groupby('simple_review_flag')[target].agg(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borrowers='size',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default_rate='mean'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).round(4)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C7EA1-8B2B-49DB-9B08-869F6FF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EF0A9-2DB7-4C1C-937B-897CFF7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0CD08-6E7E-4A21-BF37-C3AFC6F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Flagged borrowers: 853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Flagged default rate: 69.99%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D9C5C-937A-4B79-AA13-E6F292E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73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64E68-C4DF-4965-B2F5-98683972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Later lectures will replace hand-written rules with validated supervised models and out-of-sample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CC1C-4370-4DC9-8D88-C2DDA8E5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088011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2026-10-03T18:49:09.2020000Z</dcterms:created>
  <dcterms:modified xsi:type="dcterms:W3CDTF">2026-10-03T18:49:09.2020000Z</dcterms:modified>
</coreProperties>
</file>