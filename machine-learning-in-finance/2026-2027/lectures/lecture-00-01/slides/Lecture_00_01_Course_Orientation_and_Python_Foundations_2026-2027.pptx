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slides/charts/chart1.xml" ContentType="application/vnd.openxmlformats-officedocument.drawingml.chart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slides/charts/chart2.xml" ContentType="application/vnd.openxmlformats-officedocument.drawingml.chart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slides/charts/chart3.xml" ContentType="application/vnd.openxmlformats-officedocument.drawingml.chart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26996acbe842c3" /><Relationship Type="http://schemas.openxmlformats.org/officeDocument/2006/relationships/extended-properties" Target="/docProps/app.xml" Id="Rd09f2c6c1af84bc4" /><Relationship Type="http://schemas.openxmlformats.org/officeDocument/2006/relationships/officeDocument" Target="/ppt/presentation.xml" Id="R7d29fe2374844e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730425631c4cce"/>
  </p:sldMasterIdLst>
  <p:notesMasterIdLst>
    <p:notesMasterId xmlns:r="http://schemas.openxmlformats.org/officeDocument/2006/relationships" r:id="R01922969537d44c8"/>
  </p:notesMasterIdLst>
  <p:sldIdLst>
    <p:sldId xmlns:r="http://schemas.openxmlformats.org/officeDocument/2006/relationships" id="256" r:id="R06941370f4b7476e"/>
    <p:sldId xmlns:r="http://schemas.openxmlformats.org/officeDocument/2006/relationships" id="257" r:id="Red462ec028154323"/>
    <p:sldId xmlns:r="http://schemas.openxmlformats.org/officeDocument/2006/relationships" id="258" r:id="Rb994de8d37134752"/>
    <p:sldId xmlns:r="http://schemas.openxmlformats.org/officeDocument/2006/relationships" id="259" r:id="Re2fe1004c7d04957"/>
    <p:sldId xmlns:r="http://schemas.openxmlformats.org/officeDocument/2006/relationships" id="260" r:id="Rc5003cb8fa044d19"/>
    <p:sldId xmlns:r="http://schemas.openxmlformats.org/officeDocument/2006/relationships" id="261" r:id="Rb8290ed36a164df7"/>
    <p:sldId xmlns:r="http://schemas.openxmlformats.org/officeDocument/2006/relationships" id="262" r:id="Rdc25f20aa4fb450f"/>
    <p:sldId xmlns:r="http://schemas.openxmlformats.org/officeDocument/2006/relationships" id="263" r:id="R233086b8f73d471f"/>
    <p:sldId xmlns:r="http://schemas.openxmlformats.org/officeDocument/2006/relationships" id="264" r:id="R4a5818e3ade34301"/>
    <p:sldId xmlns:r="http://schemas.openxmlformats.org/officeDocument/2006/relationships" id="265" r:id="Rdc4e5f1c1ca5400f"/>
    <p:sldId xmlns:r="http://schemas.openxmlformats.org/officeDocument/2006/relationships" id="266" r:id="R412eed6089bf41fa"/>
    <p:sldId xmlns:r="http://schemas.openxmlformats.org/officeDocument/2006/relationships" id="267" r:id="R010cddff8bff4514"/>
    <p:sldId xmlns:r="http://schemas.openxmlformats.org/officeDocument/2006/relationships" id="268" r:id="R3f94c15eb439408a"/>
    <p:sldId xmlns:r="http://schemas.openxmlformats.org/officeDocument/2006/relationships" id="269" r:id="R632ca08148324433"/>
    <p:sldId xmlns:r="http://schemas.openxmlformats.org/officeDocument/2006/relationships" id="270" r:id="R68bd155ef05c42d8"/>
    <p:sldId xmlns:r="http://schemas.openxmlformats.org/officeDocument/2006/relationships" id="271" r:id="Rf545bb2f7e554d06"/>
    <p:sldId xmlns:r="http://schemas.openxmlformats.org/officeDocument/2006/relationships" id="272" r:id="Rf9ca0956a0664b73"/>
    <p:sldId xmlns:r="http://schemas.openxmlformats.org/officeDocument/2006/relationships" id="273" r:id="R14a8b861e15b4257"/>
    <p:sldId xmlns:r="http://schemas.openxmlformats.org/officeDocument/2006/relationships" id="274" r:id="R91307f078c974c54"/>
    <p:sldId xmlns:r="http://schemas.openxmlformats.org/officeDocument/2006/relationships" id="275" r:id="R2c4e0874adbc4e24"/>
    <p:sldId xmlns:r="http://schemas.openxmlformats.org/officeDocument/2006/relationships" id="276" r:id="R9b439ed4cf0e42d4"/>
    <p:sldId xmlns:r="http://schemas.openxmlformats.org/officeDocument/2006/relationships" id="277" r:id="R906bc0b3ca104986"/>
    <p:sldId xmlns:r="http://schemas.openxmlformats.org/officeDocument/2006/relationships" id="278" r:id="R2dec89d623a74cf5"/>
    <p:sldId xmlns:r="http://schemas.openxmlformats.org/officeDocument/2006/relationships" id="279" r:id="Rc92ac3cb20484af9"/>
    <p:sldId xmlns:r="http://schemas.openxmlformats.org/officeDocument/2006/relationships" id="280" r:id="R98238344488345cf"/>
    <p:sldId xmlns:r="http://schemas.openxmlformats.org/officeDocument/2006/relationships" id="281" r:id="R1fc38f49dbb24a74"/>
    <p:sldId xmlns:r="http://schemas.openxmlformats.org/officeDocument/2006/relationships" id="282" r:id="Rf56f26be34994437"/>
    <p:sldId xmlns:r="http://schemas.openxmlformats.org/officeDocument/2006/relationships" id="283" r:id="R323180f06aa542fe"/>
    <p:sldId xmlns:r="http://schemas.openxmlformats.org/officeDocument/2006/relationships" id="284" r:id="Rae7c06ec07f34125"/>
    <p:sldId xmlns:r="http://schemas.openxmlformats.org/officeDocument/2006/relationships" id="285" r:id="R04c8954435fd427b"/>
    <p:sldId xmlns:r="http://schemas.openxmlformats.org/officeDocument/2006/relationships" id="286" r:id="Rba7b6365f4fa4d32"/>
    <p:sldId xmlns:r="http://schemas.openxmlformats.org/officeDocument/2006/relationships" id="287" r:id="R88076b4a9779485c"/>
    <p:sldId xmlns:r="http://schemas.openxmlformats.org/officeDocument/2006/relationships" id="288" r:id="Rc3e84a8aba9f4662"/>
    <p:sldId xmlns:r="http://schemas.openxmlformats.org/officeDocument/2006/relationships" id="289" r:id="Rec7973c2262a4d53"/>
    <p:sldId xmlns:r="http://schemas.openxmlformats.org/officeDocument/2006/relationships" id="290" r:id="Re92f20170f41442a"/>
    <p:sldId xmlns:r="http://schemas.openxmlformats.org/officeDocument/2006/relationships" id="291" r:id="Rc029fab290f644b2"/>
    <p:sldId xmlns:r="http://schemas.openxmlformats.org/officeDocument/2006/relationships" id="292" r:id="R93a8a0cba7ea4753"/>
    <p:sldId xmlns:r="http://schemas.openxmlformats.org/officeDocument/2006/relationships" id="293" r:id="Reaa15fb886dd46e8"/>
    <p:sldId xmlns:r="http://schemas.openxmlformats.org/officeDocument/2006/relationships" id="294" r:id="Rccfc75ea99bf402e"/>
    <p:sldId xmlns:r="http://schemas.openxmlformats.org/officeDocument/2006/relationships" id="295" r:id="R5547267e33fa4213"/>
    <p:sldId xmlns:r="http://schemas.openxmlformats.org/officeDocument/2006/relationships" id="296" r:id="Rb40803df07d04bf3"/>
    <p:sldId xmlns:r="http://schemas.openxmlformats.org/officeDocument/2006/relationships" id="297" r:id="Rade48c3ab68d4136"/>
    <p:sldId xmlns:r="http://schemas.openxmlformats.org/officeDocument/2006/relationships" id="298" r:id="R7f9082c933594972"/>
    <p:sldId xmlns:r="http://schemas.openxmlformats.org/officeDocument/2006/relationships" id="299" r:id="R088592f1bdd44c79"/>
    <p:sldId xmlns:r="http://schemas.openxmlformats.org/officeDocument/2006/relationships" id="300" r:id="Rcfc1b25530e24f4d"/>
    <p:sldId xmlns:r="http://schemas.openxmlformats.org/officeDocument/2006/relationships" id="301" r:id="Rac158023792b442b"/>
    <p:sldId xmlns:r="http://schemas.openxmlformats.org/officeDocument/2006/relationships" id="302" r:id="R3c4396333c794258"/>
    <p:sldId xmlns:r="http://schemas.openxmlformats.org/officeDocument/2006/relationships" id="303" r:id="R09afef363a9545b8"/>
    <p:sldId xmlns:r="http://schemas.openxmlformats.org/officeDocument/2006/relationships" id="304" r:id="Rb6b813547c8b4ad7"/>
    <p:sldId xmlns:r="http://schemas.openxmlformats.org/officeDocument/2006/relationships" id="305" r:id="Rf950b5c332604ced"/>
    <p:sldId xmlns:r="http://schemas.openxmlformats.org/officeDocument/2006/relationships" id="306" r:id="R3387da5c23a047d3"/>
    <p:sldId xmlns:r="http://schemas.openxmlformats.org/officeDocument/2006/relationships" id="307" r:id="R26f4192c1a944003"/>
    <p:sldId xmlns:r="http://schemas.openxmlformats.org/officeDocument/2006/relationships" id="308" r:id="R43a481a65d1b4b44"/>
    <p:sldId xmlns:r="http://schemas.openxmlformats.org/officeDocument/2006/relationships" id="309" r:id="R486a49c1ec604b9d"/>
    <p:sldId xmlns:r="http://schemas.openxmlformats.org/officeDocument/2006/relationships" id="310" r:id="R517859089d27405c"/>
    <p:sldId xmlns:r="http://schemas.openxmlformats.org/officeDocument/2006/relationships" id="311" r:id="Re0f2755359154a03"/>
    <p:sldId xmlns:r="http://schemas.openxmlformats.org/officeDocument/2006/relationships" id="312" r:id="R0a75f529ba404d66"/>
    <p:sldId xmlns:r="http://schemas.openxmlformats.org/officeDocument/2006/relationships" id="313" r:id="R1fbe206c980644d8"/>
    <p:sldId xmlns:r="http://schemas.openxmlformats.org/officeDocument/2006/relationships" id="314" r:id="R5418d2c472b54cc5"/>
    <p:sldId xmlns:r="http://schemas.openxmlformats.org/officeDocument/2006/relationships" id="315" r:id="R937e18eff96d45d1"/>
    <p:sldId xmlns:r="http://schemas.openxmlformats.org/officeDocument/2006/relationships" id="316" r:id="Ra03e023d313d4190"/>
    <p:sldId xmlns:r="http://schemas.openxmlformats.org/officeDocument/2006/relationships" id="317" r:id="R6e91a91b4f2446be"/>
    <p:sldId xmlns:r="http://schemas.openxmlformats.org/officeDocument/2006/relationships" id="318" r:id="R7118ec17d92a4a5a"/>
    <p:sldId xmlns:r="http://schemas.openxmlformats.org/officeDocument/2006/relationships" id="319" r:id="R51fce5fccecd4684"/>
    <p:sldId xmlns:r="http://schemas.openxmlformats.org/officeDocument/2006/relationships" id="320" r:id="R9687be0849cd42f3"/>
    <p:sldId xmlns:r="http://schemas.openxmlformats.org/officeDocument/2006/relationships" id="321" r:id="Rcfdbaf70fcf94114"/>
    <p:sldId xmlns:r="http://schemas.openxmlformats.org/officeDocument/2006/relationships" id="322" r:id="R40d96515f1a14268"/>
    <p:sldId xmlns:r="http://schemas.openxmlformats.org/officeDocument/2006/relationships" id="323" r:id="Ra328ba2cd5b8415c"/>
    <p:sldId xmlns:r="http://schemas.openxmlformats.org/officeDocument/2006/relationships" id="324" r:id="R24e427214c774c06"/>
    <p:sldId xmlns:r="http://schemas.openxmlformats.org/officeDocument/2006/relationships" id="325" r:id="R87b04d1d5ac24f1b"/>
    <p:sldId xmlns:r="http://schemas.openxmlformats.org/officeDocument/2006/relationships" id="326" r:id="R8b6be05dc2454eaa"/>
    <p:sldId xmlns:r="http://schemas.openxmlformats.org/officeDocument/2006/relationships" id="327" r:id="R8b820d662ce641f7"/>
    <p:sldId xmlns:r="http://schemas.openxmlformats.org/officeDocument/2006/relationships" id="328" r:id="Rd71c8f74300f481c"/>
    <p:sldId xmlns:r="http://schemas.openxmlformats.org/officeDocument/2006/relationships" id="329" r:id="R0e43fc94f8ca4056"/>
    <p:sldId xmlns:r="http://schemas.openxmlformats.org/officeDocument/2006/relationships" id="330" r:id="R42b3f99fd5444d6e"/>
    <p:sldId xmlns:r="http://schemas.openxmlformats.org/officeDocument/2006/relationships" id="331" r:id="R4b5c1ce8800646cc"/>
    <p:sldId xmlns:r="http://schemas.openxmlformats.org/officeDocument/2006/relationships" id="332" r:id="R5d73a3be03ca4460"/>
    <p:sldId xmlns:r="http://schemas.openxmlformats.org/officeDocument/2006/relationships" id="333" r:id="Rf1141ec90eec4aa6"/>
    <p:sldId xmlns:r="http://schemas.openxmlformats.org/officeDocument/2006/relationships" id="334" r:id="R235fbe7a20f446cf"/>
    <p:sldId xmlns:r="http://schemas.openxmlformats.org/officeDocument/2006/relationships" id="335" r:id="Rabd75aaaeaa64740"/>
    <p:sldId xmlns:r="http://schemas.openxmlformats.org/officeDocument/2006/relationships" id="336" r:id="Rb714488c88ce4be1"/>
    <p:sldId xmlns:r="http://schemas.openxmlformats.org/officeDocument/2006/relationships" id="337" r:id="R3228684d2a654756"/>
    <p:sldId xmlns:r="http://schemas.openxmlformats.org/officeDocument/2006/relationships" id="338" r:id="Re3df4e73ca434436"/>
    <p:sldId xmlns:r="http://schemas.openxmlformats.org/officeDocument/2006/relationships" id="339" r:id="R895e13c650b84af1"/>
    <p:sldId xmlns:r="http://schemas.openxmlformats.org/officeDocument/2006/relationships" id="340" r:id="R1e455448b59c47a2"/>
    <p:sldId xmlns:r="http://schemas.openxmlformats.org/officeDocument/2006/relationships" id="341" r:id="R865aa7f8828d436c"/>
    <p:sldId xmlns:r="http://schemas.openxmlformats.org/officeDocument/2006/relationships" id="342" r:id="Rfeace2506e1142d2"/>
    <p:sldId xmlns:r="http://schemas.openxmlformats.org/officeDocument/2006/relationships" id="343" r:id="R638b7854ddec4089"/>
    <p:sldId xmlns:r="http://schemas.openxmlformats.org/officeDocument/2006/relationships" id="344" r:id="Rc7f28ace75344948"/>
    <p:sldId xmlns:r="http://schemas.openxmlformats.org/officeDocument/2006/relationships" id="345" r:id="R79a858bdd6924f7c"/>
    <p:sldId xmlns:r="http://schemas.openxmlformats.org/officeDocument/2006/relationships" id="346" r:id="Rcae47ca6a7384236"/>
    <p:sldId xmlns:r="http://schemas.openxmlformats.org/officeDocument/2006/relationships" id="347" r:id="R0dfc1ec1486b4a25"/>
    <p:sldId xmlns:r="http://schemas.openxmlformats.org/officeDocument/2006/relationships" id="348" r:id="Rd0fedcd7169646f4"/>
    <p:sldId xmlns:r="http://schemas.openxmlformats.org/officeDocument/2006/relationships" id="349" r:id="R58a33fea9e274511"/>
    <p:sldId xmlns:r="http://schemas.openxmlformats.org/officeDocument/2006/relationships" id="350" r:id="R64d2c21fa82940f8"/>
    <p:sldId xmlns:r="http://schemas.openxmlformats.org/officeDocument/2006/relationships" id="351" r:id="Radfc2a9625c2402a"/>
    <p:sldId xmlns:r="http://schemas.openxmlformats.org/officeDocument/2006/relationships" id="352" r:id="R2394c9d06aeb4ac1"/>
    <p:sldId xmlns:r="http://schemas.openxmlformats.org/officeDocument/2006/relationships" id="353" r:id="R6a41e003d5dd4fd9"/>
    <p:sldId xmlns:r="http://schemas.openxmlformats.org/officeDocument/2006/relationships" id="354" r:id="R3d68723b0f8146ca"/>
    <p:sldId xmlns:r="http://schemas.openxmlformats.org/officeDocument/2006/relationships" id="355" r:id="R2105197a39d44955"/>
    <p:sldId xmlns:r="http://schemas.openxmlformats.org/officeDocument/2006/relationships" id="356" r:id="R805fe61741734f06"/>
    <p:sldId xmlns:r="http://schemas.openxmlformats.org/officeDocument/2006/relationships" id="357" r:id="R09f0c18974534762"/>
    <p:sldId xmlns:r="http://schemas.openxmlformats.org/officeDocument/2006/relationships" id="358" r:id="Rc51f0d5c1c114e89"/>
    <p:sldId xmlns:r="http://schemas.openxmlformats.org/officeDocument/2006/relationships" id="359" r:id="R63a8da0486bd429a"/>
    <p:sldId xmlns:r="http://schemas.openxmlformats.org/officeDocument/2006/relationships" id="360" r:id="Rfd328daf7fed4c55"/>
    <p:sldId xmlns:r="http://schemas.openxmlformats.org/officeDocument/2006/relationships" id="361" r:id="R845c378c3be64729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60613b29e842df" /><Relationship Type="http://schemas.openxmlformats.org/officeDocument/2006/relationships/slideMaster" Target="/ppt/slideMasters/slideMaster1.xml" Id="R3f730425631c4cce" /><Relationship Type="http://schemas.openxmlformats.org/officeDocument/2006/relationships/notesMaster" Target="/ppt/notesMasters/notesMaster1.xml" Id="R01922969537d44c8" /><Relationship Type="http://schemas.openxmlformats.org/officeDocument/2006/relationships/presProps" Target="/ppt/presProps.xml" Id="R9ac62fdb2d504c6e" /><Relationship Type="http://schemas.openxmlformats.org/officeDocument/2006/relationships/viewProps" Target="/ppt/viewProps.xml" Id="R6ccf78015438417a" /><Relationship Type="http://schemas.openxmlformats.org/officeDocument/2006/relationships/tableStyles" Target="/ppt/tableStyles.xml" Id="R5a85ea004e0a4948" /><Relationship Type="http://schemas.openxmlformats.org/officeDocument/2006/relationships/slide" Target="/ppt/slides/slide1.xml" Id="R06941370f4b7476e" /><Relationship Type="http://schemas.openxmlformats.org/officeDocument/2006/relationships/slide" Target="/ppt/slides/slide2.xml" Id="Red462ec028154323" /><Relationship Type="http://schemas.openxmlformats.org/officeDocument/2006/relationships/slide" Target="/ppt/slides/slide3.xml" Id="Rb994de8d37134752" /><Relationship Type="http://schemas.openxmlformats.org/officeDocument/2006/relationships/slide" Target="/ppt/slides/slide4.xml" Id="Re2fe1004c7d04957" /><Relationship Type="http://schemas.openxmlformats.org/officeDocument/2006/relationships/slide" Target="/ppt/slides/slide5.xml" Id="Rc5003cb8fa044d19" /><Relationship Type="http://schemas.openxmlformats.org/officeDocument/2006/relationships/slide" Target="/ppt/slides/slide6.xml" Id="Rb8290ed36a164df7" /><Relationship Type="http://schemas.openxmlformats.org/officeDocument/2006/relationships/slide" Target="/ppt/slides/slide7.xml" Id="Rdc25f20aa4fb450f" /><Relationship Type="http://schemas.openxmlformats.org/officeDocument/2006/relationships/slide" Target="/ppt/slides/slide8.xml" Id="R233086b8f73d471f" /><Relationship Type="http://schemas.openxmlformats.org/officeDocument/2006/relationships/slide" Target="/ppt/slides/slide9.xml" Id="R4a5818e3ade34301" /><Relationship Type="http://schemas.openxmlformats.org/officeDocument/2006/relationships/slide" Target="/ppt/slides/slide10.xml" Id="Rdc4e5f1c1ca5400f" /><Relationship Type="http://schemas.openxmlformats.org/officeDocument/2006/relationships/slide" Target="/ppt/slides/slide11.xml" Id="R412eed6089bf41fa" /><Relationship Type="http://schemas.openxmlformats.org/officeDocument/2006/relationships/slide" Target="/ppt/slides/slide12.xml" Id="R010cddff8bff4514" /><Relationship Type="http://schemas.openxmlformats.org/officeDocument/2006/relationships/slide" Target="/ppt/slides/slide13.xml" Id="R3f94c15eb439408a" /><Relationship Type="http://schemas.openxmlformats.org/officeDocument/2006/relationships/slide" Target="/ppt/slides/slide14.xml" Id="R632ca08148324433" /><Relationship Type="http://schemas.openxmlformats.org/officeDocument/2006/relationships/slide" Target="/ppt/slides/slide15.xml" Id="R68bd155ef05c42d8" /><Relationship Type="http://schemas.openxmlformats.org/officeDocument/2006/relationships/slide" Target="/ppt/slides/slide16.xml" Id="Rf545bb2f7e554d06" /><Relationship Type="http://schemas.openxmlformats.org/officeDocument/2006/relationships/slide" Target="/ppt/slides/slide17.xml" Id="Rf9ca0956a0664b73" /><Relationship Type="http://schemas.openxmlformats.org/officeDocument/2006/relationships/slide" Target="/ppt/slides/slide18.xml" Id="R14a8b861e15b4257" /><Relationship Type="http://schemas.openxmlformats.org/officeDocument/2006/relationships/slide" Target="/ppt/slides/slide19.xml" Id="R91307f078c974c54" /><Relationship Type="http://schemas.openxmlformats.org/officeDocument/2006/relationships/slide" Target="/ppt/slides/slide20.xml" Id="R2c4e0874adbc4e24" /><Relationship Type="http://schemas.openxmlformats.org/officeDocument/2006/relationships/slide" Target="/ppt/slides/slide21.xml" Id="R9b439ed4cf0e42d4" /><Relationship Type="http://schemas.openxmlformats.org/officeDocument/2006/relationships/slide" Target="/ppt/slides/slide22.xml" Id="R906bc0b3ca104986" /><Relationship Type="http://schemas.openxmlformats.org/officeDocument/2006/relationships/slide" Target="/ppt/slides/slide23.xml" Id="R2dec89d623a74cf5" /><Relationship Type="http://schemas.openxmlformats.org/officeDocument/2006/relationships/slide" Target="/ppt/slides/slide24.xml" Id="Rc92ac3cb20484af9" /><Relationship Type="http://schemas.openxmlformats.org/officeDocument/2006/relationships/slide" Target="/ppt/slides/slide25.xml" Id="R98238344488345cf" /><Relationship Type="http://schemas.openxmlformats.org/officeDocument/2006/relationships/slide" Target="/ppt/slides/slide26.xml" Id="R1fc38f49dbb24a74" /><Relationship Type="http://schemas.openxmlformats.org/officeDocument/2006/relationships/slide" Target="/ppt/slides/slide27.xml" Id="Rf56f26be34994437" /><Relationship Type="http://schemas.openxmlformats.org/officeDocument/2006/relationships/slide" Target="/ppt/slides/slide28.xml" Id="R323180f06aa542fe" /><Relationship Type="http://schemas.openxmlformats.org/officeDocument/2006/relationships/slide" Target="/ppt/slides/slide29.xml" Id="Rae7c06ec07f34125" /><Relationship Type="http://schemas.openxmlformats.org/officeDocument/2006/relationships/slide" Target="/ppt/slides/slide30.xml" Id="R04c8954435fd427b" /><Relationship Type="http://schemas.openxmlformats.org/officeDocument/2006/relationships/slide" Target="/ppt/slides/slide31.xml" Id="Rba7b6365f4fa4d32" /><Relationship Type="http://schemas.openxmlformats.org/officeDocument/2006/relationships/slide" Target="/ppt/slides/slide32.xml" Id="R88076b4a9779485c" /><Relationship Type="http://schemas.openxmlformats.org/officeDocument/2006/relationships/slide" Target="/ppt/slides/slide33.xml" Id="Rc3e84a8aba9f4662" /><Relationship Type="http://schemas.openxmlformats.org/officeDocument/2006/relationships/slide" Target="/ppt/slides/slide34.xml" Id="Rec7973c2262a4d53" /><Relationship Type="http://schemas.openxmlformats.org/officeDocument/2006/relationships/slide" Target="/ppt/slides/slide35.xml" Id="Re92f20170f41442a" /><Relationship Type="http://schemas.openxmlformats.org/officeDocument/2006/relationships/slide" Target="/ppt/slides/slide36.xml" Id="Rc029fab290f644b2" /><Relationship Type="http://schemas.openxmlformats.org/officeDocument/2006/relationships/slide" Target="/ppt/slides/slide37.xml" Id="R93a8a0cba7ea4753" /><Relationship Type="http://schemas.openxmlformats.org/officeDocument/2006/relationships/slide" Target="/ppt/slides/slide38.xml" Id="Reaa15fb886dd46e8" /><Relationship Type="http://schemas.openxmlformats.org/officeDocument/2006/relationships/slide" Target="/ppt/slides/slide39.xml" Id="Rccfc75ea99bf402e" /><Relationship Type="http://schemas.openxmlformats.org/officeDocument/2006/relationships/slide" Target="/ppt/slides/slide40.xml" Id="R5547267e33fa4213" /><Relationship Type="http://schemas.openxmlformats.org/officeDocument/2006/relationships/slide" Target="/ppt/slides/slide41.xml" Id="Rb40803df07d04bf3" /><Relationship Type="http://schemas.openxmlformats.org/officeDocument/2006/relationships/slide" Target="/ppt/slides/slide42.xml" Id="Rade48c3ab68d4136" /><Relationship Type="http://schemas.openxmlformats.org/officeDocument/2006/relationships/slide" Target="/ppt/slides/slide43.xml" Id="R7f9082c933594972" /><Relationship Type="http://schemas.openxmlformats.org/officeDocument/2006/relationships/slide" Target="/ppt/slides/slide44.xml" Id="R088592f1bdd44c79" /><Relationship Type="http://schemas.openxmlformats.org/officeDocument/2006/relationships/slide" Target="/ppt/slides/slide45.xml" Id="Rcfc1b25530e24f4d" /><Relationship Type="http://schemas.openxmlformats.org/officeDocument/2006/relationships/slide" Target="/ppt/slides/slide46.xml" Id="Rac158023792b442b" /><Relationship Type="http://schemas.openxmlformats.org/officeDocument/2006/relationships/slide" Target="/ppt/slides/slide47.xml" Id="R3c4396333c794258" /><Relationship Type="http://schemas.openxmlformats.org/officeDocument/2006/relationships/slide" Target="/ppt/slides/slide48.xml" Id="R09afef363a9545b8" /><Relationship Type="http://schemas.openxmlformats.org/officeDocument/2006/relationships/slide" Target="/ppt/slides/slide49.xml" Id="Rb6b813547c8b4ad7" /><Relationship Type="http://schemas.openxmlformats.org/officeDocument/2006/relationships/slide" Target="/ppt/slides/slide50.xml" Id="Rf950b5c332604ced" /><Relationship Type="http://schemas.openxmlformats.org/officeDocument/2006/relationships/slide" Target="/ppt/slides/slide51.xml" Id="R3387da5c23a047d3" /><Relationship Type="http://schemas.openxmlformats.org/officeDocument/2006/relationships/slide" Target="/ppt/slides/slide52.xml" Id="R26f4192c1a944003" /><Relationship Type="http://schemas.openxmlformats.org/officeDocument/2006/relationships/slide" Target="/ppt/slides/slide53.xml" Id="R43a481a65d1b4b44" /><Relationship Type="http://schemas.openxmlformats.org/officeDocument/2006/relationships/slide" Target="/ppt/slides/slide54.xml" Id="R486a49c1ec604b9d" /><Relationship Type="http://schemas.openxmlformats.org/officeDocument/2006/relationships/slide" Target="/ppt/slides/slide55.xml" Id="R517859089d27405c" /><Relationship Type="http://schemas.openxmlformats.org/officeDocument/2006/relationships/slide" Target="/ppt/slides/slide56.xml" Id="Re0f2755359154a03" /><Relationship Type="http://schemas.openxmlformats.org/officeDocument/2006/relationships/slide" Target="/ppt/slides/slide57.xml" Id="R0a75f529ba404d66" /><Relationship Type="http://schemas.openxmlformats.org/officeDocument/2006/relationships/slide" Target="/ppt/slides/slide58.xml" Id="R1fbe206c980644d8" /><Relationship Type="http://schemas.openxmlformats.org/officeDocument/2006/relationships/slide" Target="/ppt/slides/slide59.xml" Id="R5418d2c472b54cc5" /><Relationship Type="http://schemas.openxmlformats.org/officeDocument/2006/relationships/slide" Target="/ppt/slides/slide60.xml" Id="R937e18eff96d45d1" /><Relationship Type="http://schemas.openxmlformats.org/officeDocument/2006/relationships/slide" Target="/ppt/slides/slide61.xml" Id="Ra03e023d313d4190" /><Relationship Type="http://schemas.openxmlformats.org/officeDocument/2006/relationships/slide" Target="/ppt/slides/slide62.xml" Id="R6e91a91b4f2446be" /><Relationship Type="http://schemas.openxmlformats.org/officeDocument/2006/relationships/slide" Target="/ppt/slides/slide63.xml" Id="R7118ec17d92a4a5a" /><Relationship Type="http://schemas.openxmlformats.org/officeDocument/2006/relationships/slide" Target="/ppt/slides/slide64.xml" Id="R51fce5fccecd4684" /><Relationship Type="http://schemas.openxmlformats.org/officeDocument/2006/relationships/slide" Target="/ppt/slides/slide65.xml" Id="R9687be0849cd42f3" /><Relationship Type="http://schemas.openxmlformats.org/officeDocument/2006/relationships/slide" Target="/ppt/slides/slide66.xml" Id="Rcfdbaf70fcf94114" /><Relationship Type="http://schemas.openxmlformats.org/officeDocument/2006/relationships/slide" Target="/ppt/slides/slide67.xml" Id="R40d96515f1a14268" /><Relationship Type="http://schemas.openxmlformats.org/officeDocument/2006/relationships/slide" Target="/ppt/slides/slide68.xml" Id="Ra328ba2cd5b8415c" /><Relationship Type="http://schemas.openxmlformats.org/officeDocument/2006/relationships/slide" Target="/ppt/slides/slide69.xml" Id="R24e427214c774c06" /><Relationship Type="http://schemas.openxmlformats.org/officeDocument/2006/relationships/slide" Target="/ppt/slides/slide70.xml" Id="R87b04d1d5ac24f1b" /><Relationship Type="http://schemas.openxmlformats.org/officeDocument/2006/relationships/slide" Target="/ppt/slides/slide71.xml" Id="R8b6be05dc2454eaa" /><Relationship Type="http://schemas.openxmlformats.org/officeDocument/2006/relationships/slide" Target="/ppt/slides/slide72.xml" Id="R8b820d662ce641f7" /><Relationship Type="http://schemas.openxmlformats.org/officeDocument/2006/relationships/slide" Target="/ppt/slides/slide73.xml" Id="Rd71c8f74300f481c" /><Relationship Type="http://schemas.openxmlformats.org/officeDocument/2006/relationships/slide" Target="/ppt/slides/slide74.xml" Id="R0e43fc94f8ca4056" /><Relationship Type="http://schemas.openxmlformats.org/officeDocument/2006/relationships/slide" Target="/ppt/slides/slide75.xml" Id="R42b3f99fd5444d6e" /><Relationship Type="http://schemas.openxmlformats.org/officeDocument/2006/relationships/slide" Target="/ppt/slides/slide76.xml" Id="R4b5c1ce8800646cc" /><Relationship Type="http://schemas.openxmlformats.org/officeDocument/2006/relationships/slide" Target="/ppt/slides/slide77.xml" Id="R5d73a3be03ca4460" /><Relationship Type="http://schemas.openxmlformats.org/officeDocument/2006/relationships/slide" Target="/ppt/slides/slide78.xml" Id="Rf1141ec90eec4aa6" /><Relationship Type="http://schemas.openxmlformats.org/officeDocument/2006/relationships/slide" Target="/ppt/slides/slide79.xml" Id="R235fbe7a20f446cf" /><Relationship Type="http://schemas.openxmlformats.org/officeDocument/2006/relationships/slide" Target="/ppt/slides/slide80.xml" Id="Rabd75aaaeaa64740" /><Relationship Type="http://schemas.openxmlformats.org/officeDocument/2006/relationships/slide" Target="/ppt/slides/slide81.xml" Id="Rb714488c88ce4be1" /><Relationship Type="http://schemas.openxmlformats.org/officeDocument/2006/relationships/slide" Target="/ppt/slides/slide82.xml" Id="R3228684d2a654756" /><Relationship Type="http://schemas.openxmlformats.org/officeDocument/2006/relationships/slide" Target="/ppt/slides/slide83.xml" Id="Re3df4e73ca434436" /><Relationship Type="http://schemas.openxmlformats.org/officeDocument/2006/relationships/slide" Target="/ppt/slides/slide84.xml" Id="R895e13c650b84af1" /><Relationship Type="http://schemas.openxmlformats.org/officeDocument/2006/relationships/slide" Target="/ppt/slides/slide85.xml" Id="R1e455448b59c47a2" /><Relationship Type="http://schemas.openxmlformats.org/officeDocument/2006/relationships/slide" Target="/ppt/slides/slide86.xml" Id="R865aa7f8828d436c" /><Relationship Type="http://schemas.openxmlformats.org/officeDocument/2006/relationships/slide" Target="/ppt/slides/slide87.xml" Id="Rfeace2506e1142d2" /><Relationship Type="http://schemas.openxmlformats.org/officeDocument/2006/relationships/slide" Target="/ppt/slides/slide88.xml" Id="R638b7854ddec4089" /><Relationship Type="http://schemas.openxmlformats.org/officeDocument/2006/relationships/slide" Target="/ppt/slides/slide89.xml" Id="Rc7f28ace75344948" /><Relationship Type="http://schemas.openxmlformats.org/officeDocument/2006/relationships/slide" Target="/ppt/slides/slide90.xml" Id="R79a858bdd6924f7c" /><Relationship Type="http://schemas.openxmlformats.org/officeDocument/2006/relationships/slide" Target="/ppt/slides/slide91.xml" Id="Rcae47ca6a7384236" /><Relationship Type="http://schemas.openxmlformats.org/officeDocument/2006/relationships/slide" Target="/ppt/slides/slide92.xml" Id="R0dfc1ec1486b4a25" /><Relationship Type="http://schemas.openxmlformats.org/officeDocument/2006/relationships/slide" Target="/ppt/slides/slide93.xml" Id="Rd0fedcd7169646f4" /><Relationship Type="http://schemas.openxmlformats.org/officeDocument/2006/relationships/slide" Target="/ppt/slides/slide94.xml" Id="R58a33fea9e274511" /><Relationship Type="http://schemas.openxmlformats.org/officeDocument/2006/relationships/slide" Target="/ppt/slides/slide95.xml" Id="R64d2c21fa82940f8" /><Relationship Type="http://schemas.openxmlformats.org/officeDocument/2006/relationships/slide" Target="/ppt/slides/slide96.xml" Id="Radfc2a9625c2402a" /><Relationship Type="http://schemas.openxmlformats.org/officeDocument/2006/relationships/slide" Target="/ppt/slides/slide97.xml" Id="R2394c9d06aeb4ac1" /><Relationship Type="http://schemas.openxmlformats.org/officeDocument/2006/relationships/slide" Target="/ppt/slides/slide98.xml" Id="R6a41e003d5dd4fd9" /><Relationship Type="http://schemas.openxmlformats.org/officeDocument/2006/relationships/slide" Target="/ppt/slides/slide99.xml" Id="R3d68723b0f8146ca" /><Relationship Type="http://schemas.openxmlformats.org/officeDocument/2006/relationships/slide" Target="/ppt/slides/slide100.xml" Id="R2105197a39d44955" /><Relationship Type="http://schemas.openxmlformats.org/officeDocument/2006/relationships/slide" Target="/ppt/slides/slide101.xml" Id="R805fe61741734f06" /><Relationship Type="http://schemas.openxmlformats.org/officeDocument/2006/relationships/slide" Target="/ppt/slides/slide102.xml" Id="R09f0c18974534762" /><Relationship Type="http://schemas.openxmlformats.org/officeDocument/2006/relationships/slide" Target="/ppt/slides/slide103.xml" Id="Rc51f0d5c1c114e89" /><Relationship Type="http://schemas.openxmlformats.org/officeDocument/2006/relationships/slide" Target="/ppt/slides/slide104.xml" Id="R63a8da0486bd429a" /><Relationship Type="http://schemas.openxmlformats.org/officeDocument/2006/relationships/slide" Target="/ppt/slides/slide105.xml" Id="Rfd328daf7fed4c55" /><Relationship Type="http://schemas.openxmlformats.org/officeDocument/2006/relationships/slide" Target="/ppt/slides/slide106.xml" Id="R845c378c3be647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828f2ba5cb47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c1c066813240df" /><Relationship Type="http://schemas.openxmlformats.org/officeDocument/2006/relationships/notesMaster" Target="/ppt/notesMasters/notesMaster1.xml" Id="R6ed8b4c4c2c643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f1b5a56270472a" /><Relationship Type="http://schemas.openxmlformats.org/officeDocument/2006/relationships/notesMaster" Target="/ppt/notesMasters/notesMaster1.xml" Id="Raa3f4958897746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a26ba1cd814c72" /><Relationship Type="http://schemas.openxmlformats.org/officeDocument/2006/relationships/notesMaster" Target="/ppt/notesMasters/notesMaster1.xml" Id="R6015f69652b44c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62b0611cdb423c" /><Relationship Type="http://schemas.openxmlformats.org/officeDocument/2006/relationships/notesMaster" Target="/ppt/notesMasters/notesMaster1.xml" Id="Rdaafb7ce3efc44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de0e9637474aec" /><Relationship Type="http://schemas.openxmlformats.org/officeDocument/2006/relationships/notesMaster" Target="/ppt/notesMasters/notesMaster1.xml" Id="R7a64dcbd900843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b3ca1c63bf483b" /><Relationship Type="http://schemas.openxmlformats.org/officeDocument/2006/relationships/notesMaster" Target="/ppt/notesMasters/notesMaster1.xml" Id="Rd7d72bb241c442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7b4bea600d477e" /><Relationship Type="http://schemas.openxmlformats.org/officeDocument/2006/relationships/notesMaster" Target="/ppt/notesMasters/notesMaster1.xml" Id="R56c8ad628adf41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8fd343da3a406e" /><Relationship Type="http://schemas.openxmlformats.org/officeDocument/2006/relationships/notesMaster" Target="/ppt/notesMasters/notesMaster1.xml" Id="Rdebf4a47a9304c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2e812c82ab4dc8" /><Relationship Type="http://schemas.openxmlformats.org/officeDocument/2006/relationships/notesMaster" Target="/ppt/notesMasters/notesMaster1.xml" Id="R485df81b3d9a45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dfed60a8c44e6e" /><Relationship Type="http://schemas.openxmlformats.org/officeDocument/2006/relationships/notesMaster" Target="/ppt/notesMasters/notesMaster1.xml" Id="Rc41b203e488f47c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119665d9184833" /><Relationship Type="http://schemas.openxmlformats.org/officeDocument/2006/relationships/notesMaster" Target="/ppt/notesMasters/notesMaster1.xml" Id="Rfb2bf5f60e2747c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445484efe14c2c" /><Relationship Type="http://schemas.openxmlformats.org/officeDocument/2006/relationships/notesMaster" Target="/ppt/notesMasters/notesMaster1.xml" Id="Rc8804758de9941f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68e3a1579b34ce4" /><Relationship Type="http://schemas.openxmlformats.org/officeDocument/2006/relationships/notesMaster" Target="/ppt/notesMasters/notesMaster1.xml" Id="R902f9bfc7e71423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43995fd3d464add" /><Relationship Type="http://schemas.openxmlformats.org/officeDocument/2006/relationships/notesMaster" Target="/ppt/notesMasters/notesMaster1.xml" Id="R9d9d73e47da4419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091151301924a46" /><Relationship Type="http://schemas.openxmlformats.org/officeDocument/2006/relationships/notesMaster" Target="/ppt/notesMasters/notesMaster1.xml" Id="Rdafe8ab585e6468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7ceaa750f384003" /><Relationship Type="http://schemas.openxmlformats.org/officeDocument/2006/relationships/notesMaster" Target="/ppt/notesMasters/notesMaster1.xml" Id="R6ca63d0eb7cd423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944eb18a0a641d5" /><Relationship Type="http://schemas.openxmlformats.org/officeDocument/2006/relationships/notesMaster" Target="/ppt/notesMasters/notesMaster1.xml" Id="Ra55a2c347abc4cb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056af08e2b843b3" /><Relationship Type="http://schemas.openxmlformats.org/officeDocument/2006/relationships/notesMaster" Target="/ppt/notesMasters/notesMaster1.xml" Id="R63f064c40c73471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223f6e743154e62" /><Relationship Type="http://schemas.openxmlformats.org/officeDocument/2006/relationships/notesMaster" Target="/ppt/notesMasters/notesMaster1.xml" Id="Rc5992b734d2448f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d91f4ae3ad84ace" /><Relationship Type="http://schemas.openxmlformats.org/officeDocument/2006/relationships/notesMaster" Target="/ppt/notesMasters/notesMaster1.xml" Id="Rae16fac524d2482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d4b511538c345cb" /><Relationship Type="http://schemas.openxmlformats.org/officeDocument/2006/relationships/notesMaster" Target="/ppt/notesMasters/notesMaster1.xml" Id="R22eaf0a583824ee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e1180a848f74bd5" /><Relationship Type="http://schemas.openxmlformats.org/officeDocument/2006/relationships/notesMaster" Target="/ppt/notesMasters/notesMaster1.xml" Id="R7b3c239bc5d64e0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1b82f5a29ff481f" /><Relationship Type="http://schemas.openxmlformats.org/officeDocument/2006/relationships/notesMaster" Target="/ppt/notesMasters/notesMaster1.xml" Id="R7992a5af07034b5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59d71c7e0c74d17" /><Relationship Type="http://schemas.openxmlformats.org/officeDocument/2006/relationships/notesMaster" Target="/ppt/notesMasters/notesMaster1.xml" Id="R287ecd57bad8477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b47982f0ec44ed4" /><Relationship Type="http://schemas.openxmlformats.org/officeDocument/2006/relationships/notesMaster" Target="/ppt/notesMasters/notesMaster1.xml" Id="R5b1fdcc8a804455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0a15e7dd6be4960" /><Relationship Type="http://schemas.openxmlformats.org/officeDocument/2006/relationships/notesMaster" Target="/ppt/notesMasters/notesMaster1.xml" Id="Rcae2179725f0456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c99ba135105467a" /><Relationship Type="http://schemas.openxmlformats.org/officeDocument/2006/relationships/notesMaster" Target="/ppt/notesMasters/notesMaster1.xml" Id="R92694a77d9854fa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c4f445b92754afa" /><Relationship Type="http://schemas.openxmlformats.org/officeDocument/2006/relationships/notesMaster" Target="/ppt/notesMasters/notesMaster1.xml" Id="Rbd0258125cb3496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b5f475a3fc341ba" /><Relationship Type="http://schemas.openxmlformats.org/officeDocument/2006/relationships/notesMaster" Target="/ppt/notesMasters/notesMaster1.xml" Id="R7f2c7a514ab94d3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263a6e5d3e84598" /><Relationship Type="http://schemas.openxmlformats.org/officeDocument/2006/relationships/notesMaster" Target="/ppt/notesMasters/notesMaster1.xml" Id="R452a6425b44b443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b8eac5415fe418f" /><Relationship Type="http://schemas.openxmlformats.org/officeDocument/2006/relationships/notesMaster" Target="/ppt/notesMasters/notesMaster1.xml" Id="R888f76b51072434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c938f63ceca4eae" /><Relationship Type="http://schemas.openxmlformats.org/officeDocument/2006/relationships/notesMaster" Target="/ppt/notesMasters/notesMaster1.xml" Id="R4cdb35473aac42e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04beed73d5144fa" /><Relationship Type="http://schemas.openxmlformats.org/officeDocument/2006/relationships/notesMaster" Target="/ppt/notesMasters/notesMaster1.xml" Id="Rd2550943f6f84af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d0d28847744448b" /><Relationship Type="http://schemas.openxmlformats.org/officeDocument/2006/relationships/notesMaster" Target="/ppt/notesMasters/notesMaster1.xml" Id="R94f2a4fcfd3144d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7c5cc0db799477f" /><Relationship Type="http://schemas.openxmlformats.org/officeDocument/2006/relationships/notesMaster" Target="/ppt/notesMasters/notesMaster1.xml" Id="R8746490120a3433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a06964edf5342f9" /><Relationship Type="http://schemas.openxmlformats.org/officeDocument/2006/relationships/notesMaster" Target="/ppt/notesMasters/notesMaster1.xml" Id="Reb88347a4bc441e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d763078da54425b" /><Relationship Type="http://schemas.openxmlformats.org/officeDocument/2006/relationships/notesMaster" Target="/ppt/notesMasters/notesMaster1.xml" Id="Rd6acf388d6754d9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d9555507a8747d3" /><Relationship Type="http://schemas.openxmlformats.org/officeDocument/2006/relationships/notesMaster" Target="/ppt/notesMasters/notesMaster1.xml" Id="Rd2618cf21caf4e7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a77740317474197" /><Relationship Type="http://schemas.openxmlformats.org/officeDocument/2006/relationships/notesMaster" Target="/ppt/notesMasters/notesMaster1.xml" Id="R839a51e5f4384a1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9580e2078ec4190" /><Relationship Type="http://schemas.openxmlformats.org/officeDocument/2006/relationships/notesMaster" Target="/ppt/notesMasters/notesMaster1.xml" Id="R26301ea985274fd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5d6507a66bc4195" /><Relationship Type="http://schemas.openxmlformats.org/officeDocument/2006/relationships/notesMaster" Target="/ppt/notesMasters/notesMaster1.xml" Id="Rfc5220adf074489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4fcbe9f802484539" /><Relationship Type="http://schemas.openxmlformats.org/officeDocument/2006/relationships/notesMaster" Target="/ppt/notesMasters/notesMaster1.xml" Id="R83f7d7b832c84fa7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1d051d234c934987" /><Relationship Type="http://schemas.openxmlformats.org/officeDocument/2006/relationships/notesMaster" Target="/ppt/notesMasters/notesMaster1.xml" Id="R09ee76230b734c26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59f79e4efcc34627" /><Relationship Type="http://schemas.openxmlformats.org/officeDocument/2006/relationships/notesMaster" Target="/ppt/notesMasters/notesMaster1.xml" Id="R1129a9708d1c4b5d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3f906d96dfa040cb" /><Relationship Type="http://schemas.openxmlformats.org/officeDocument/2006/relationships/notesMaster" Target="/ppt/notesMasters/notesMaster1.xml" Id="R570482b8c8d34cc2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74aa7cb44bf7461d" /><Relationship Type="http://schemas.openxmlformats.org/officeDocument/2006/relationships/notesMaster" Target="/ppt/notesMasters/notesMaster1.xml" Id="R4a59efdf381a4be9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1106cd14971e451b" /><Relationship Type="http://schemas.openxmlformats.org/officeDocument/2006/relationships/notesMaster" Target="/ppt/notesMasters/notesMaster1.xml" Id="Rae0ea0df499445c6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6b445680d7024384" /><Relationship Type="http://schemas.openxmlformats.org/officeDocument/2006/relationships/notesMaster" Target="/ppt/notesMasters/notesMaster1.xml" Id="Re518ebe56a914833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32e2c60009c2439b" /><Relationship Type="http://schemas.openxmlformats.org/officeDocument/2006/relationships/notesMaster" Target="/ppt/notesMasters/notesMaster1.xml" Id="Re965b2f9bece4be2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6337378580e245c6" /><Relationship Type="http://schemas.openxmlformats.org/officeDocument/2006/relationships/notesMaster" Target="/ppt/notesMasters/notesMaster1.xml" Id="R7f270a7a79964750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4cd6bd44b2df4caa" /><Relationship Type="http://schemas.openxmlformats.org/officeDocument/2006/relationships/notesMaster" Target="/ppt/notesMasters/notesMaster1.xml" Id="Rc10737f677524499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44b61641ae564a18" /><Relationship Type="http://schemas.openxmlformats.org/officeDocument/2006/relationships/notesMaster" Target="/ppt/notesMasters/notesMaster1.xml" Id="Ra630c8226c594eee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9279f62c6ece41b5" /><Relationship Type="http://schemas.openxmlformats.org/officeDocument/2006/relationships/notesMaster" Target="/ppt/notesMasters/notesMaster1.xml" Id="R5e157634eb1048f4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52b6199211b24959" /><Relationship Type="http://schemas.openxmlformats.org/officeDocument/2006/relationships/notesMaster" Target="/ppt/notesMasters/notesMaster1.xml" Id="R50d5cd4af9c443a8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243ef89a0e394ec0" /><Relationship Type="http://schemas.openxmlformats.org/officeDocument/2006/relationships/notesMaster" Target="/ppt/notesMasters/notesMaster1.xml" Id="R58519155a99744fe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8c3cb712c80b4f5f" /><Relationship Type="http://schemas.openxmlformats.org/officeDocument/2006/relationships/notesMaster" Target="/ppt/notesMasters/notesMaster1.xml" Id="R7369a23503834305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8a3eefc0e4a14b52" /><Relationship Type="http://schemas.openxmlformats.org/officeDocument/2006/relationships/notesMaster" Target="/ppt/notesMasters/notesMaster1.xml" Id="R40b5a80eb1974367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7142da204427414f" /><Relationship Type="http://schemas.openxmlformats.org/officeDocument/2006/relationships/notesMaster" Target="/ppt/notesMasters/notesMaster1.xml" Id="Rf11f0940403e4c61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9752725d58714b9b" /><Relationship Type="http://schemas.openxmlformats.org/officeDocument/2006/relationships/notesMaster" Target="/ppt/notesMasters/notesMaster1.xml" Id="R64f3bfabd68444fb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57d9fa4834984148" /><Relationship Type="http://schemas.openxmlformats.org/officeDocument/2006/relationships/notesMaster" Target="/ppt/notesMasters/notesMaster1.xml" Id="Re62fd9cf5efd43b9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e598169d318d4f2e" /><Relationship Type="http://schemas.openxmlformats.org/officeDocument/2006/relationships/notesMaster" Target="/ppt/notesMasters/notesMaster1.xml" Id="R654ff42cf2364452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21bee9dc7a724aea" /><Relationship Type="http://schemas.openxmlformats.org/officeDocument/2006/relationships/notesMaster" Target="/ppt/notesMasters/notesMaster1.xml" Id="Ra7c068e825844b93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4c7dde8811ce44e6" /><Relationship Type="http://schemas.openxmlformats.org/officeDocument/2006/relationships/notesMaster" Target="/ppt/notesMasters/notesMaster1.xml" Id="Re6613b5bc176421b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cf5521068503415a" /><Relationship Type="http://schemas.openxmlformats.org/officeDocument/2006/relationships/notesMaster" Target="/ppt/notesMasters/notesMaster1.xml" Id="Re3912f0329844b9d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517578827e294e3f" /><Relationship Type="http://schemas.openxmlformats.org/officeDocument/2006/relationships/notesMaster" Target="/ppt/notesMasters/notesMaster1.xml" Id="Rf88cd4046eb447ba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63d91bc0e6e54a15" /><Relationship Type="http://schemas.openxmlformats.org/officeDocument/2006/relationships/notesMaster" Target="/ppt/notesMasters/notesMaster1.xml" Id="R0582e7f599ed497c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70ab47b22cd94d6e" /><Relationship Type="http://schemas.openxmlformats.org/officeDocument/2006/relationships/notesMaster" Target="/ppt/notesMasters/notesMaster1.xml" Id="Re1c57b8e2e0e4ab6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b72cea41bfa648ec" /><Relationship Type="http://schemas.openxmlformats.org/officeDocument/2006/relationships/notesMaster" Target="/ppt/notesMasters/notesMaster1.xml" Id="Rcb77e1d396e9492c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90fea08a7ccf44b7" /><Relationship Type="http://schemas.openxmlformats.org/officeDocument/2006/relationships/notesMaster" Target="/ppt/notesMasters/notesMaster1.xml" Id="R5b834a906a46432a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efb325e7654c41f0" /><Relationship Type="http://schemas.openxmlformats.org/officeDocument/2006/relationships/notesMaster" Target="/ppt/notesMasters/notesMaster1.xml" Id="R30930efa5d3c4064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bba0b2911a7d4fcf" /><Relationship Type="http://schemas.openxmlformats.org/officeDocument/2006/relationships/notesMaster" Target="/ppt/notesMasters/notesMaster1.xml" Id="R781c543f1f6e4c9d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ec3bb2356ab0477f" /><Relationship Type="http://schemas.openxmlformats.org/officeDocument/2006/relationships/notesMaster" Target="/ppt/notesMasters/notesMaster1.xml" Id="R3a953fec4dbe4a0d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5094e8d87404479a" /><Relationship Type="http://schemas.openxmlformats.org/officeDocument/2006/relationships/notesMaster" Target="/ppt/notesMasters/notesMaster1.xml" Id="Re2d30dae8af84911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06be744ee7944c73" /><Relationship Type="http://schemas.openxmlformats.org/officeDocument/2006/relationships/notesMaster" Target="/ppt/notesMasters/notesMaster1.xml" Id="Rc72fddd5cf764c81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a06d33fba0e94b51" /><Relationship Type="http://schemas.openxmlformats.org/officeDocument/2006/relationships/notesMaster" Target="/ppt/notesMasters/notesMaster1.xml" Id="Rfb9c6a91373948b9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6cbb72fc67d848bc" /><Relationship Type="http://schemas.openxmlformats.org/officeDocument/2006/relationships/notesMaster" Target="/ppt/notesMasters/notesMaster1.xml" Id="R9025b9085ef94d1d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4c76439db37544db" /><Relationship Type="http://schemas.openxmlformats.org/officeDocument/2006/relationships/notesMaster" Target="/ppt/notesMasters/notesMaster1.xml" Id="R55b93daf23f74be6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c88da7fa8fd14e14" /><Relationship Type="http://schemas.openxmlformats.org/officeDocument/2006/relationships/notesMaster" Target="/ppt/notesMasters/notesMaster1.xml" Id="R164f37c9497c4c3c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53393bdbaa77422f" /><Relationship Type="http://schemas.openxmlformats.org/officeDocument/2006/relationships/notesMaster" Target="/ppt/notesMasters/notesMaster1.xml" Id="R49e493af9806488b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2af79699489745b4" /><Relationship Type="http://schemas.openxmlformats.org/officeDocument/2006/relationships/notesMaster" Target="/ppt/notesMasters/notesMaster1.xml" Id="Rb607831dc0914823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ab3ff076d4a24b5d" /><Relationship Type="http://schemas.openxmlformats.org/officeDocument/2006/relationships/notesMaster" Target="/ppt/notesMasters/notesMaster1.xml" Id="Rc2c671dfa7cf410a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f19e4ec8b72c4af7" /><Relationship Type="http://schemas.openxmlformats.org/officeDocument/2006/relationships/notesMaster" Target="/ppt/notesMasters/notesMaster1.xml" Id="R233646231d7b476e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5f8b54320a0d4914" /><Relationship Type="http://schemas.openxmlformats.org/officeDocument/2006/relationships/notesMaster" Target="/ppt/notesMasters/notesMaster1.xml" Id="R0559df4dd47e4765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86fe771cf1a44c93" /><Relationship Type="http://schemas.openxmlformats.org/officeDocument/2006/relationships/notesMaster" Target="/ppt/notesMasters/notesMaster1.xml" Id="R9f40117b12dc43a4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f99a3457e97a4090" /><Relationship Type="http://schemas.openxmlformats.org/officeDocument/2006/relationships/notesMaster" Target="/ppt/notesMasters/notesMaster1.xml" Id="R8f6a53bedae44c54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b79283b58c1540bb" /><Relationship Type="http://schemas.openxmlformats.org/officeDocument/2006/relationships/notesMaster" Target="/ppt/notesMasters/notesMaster1.xml" Id="R42653191b5c14ffe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9c0d677637934736" /><Relationship Type="http://schemas.openxmlformats.org/officeDocument/2006/relationships/notesMaster" Target="/ppt/notesMasters/notesMaster1.xml" Id="R00e54b686fa841c7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9e4986cbe74b4c58" /><Relationship Type="http://schemas.openxmlformats.org/officeDocument/2006/relationships/notesMaster" Target="/ppt/notesMasters/notesMaster1.xml" Id="R5364fcd67bfd4e85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6499a51b378d4c49" /><Relationship Type="http://schemas.openxmlformats.org/officeDocument/2006/relationships/notesMaster" Target="/ppt/notesMasters/notesMaster1.xml" Id="R3382c38611104d0a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452456dfb8be4578" /><Relationship Type="http://schemas.openxmlformats.org/officeDocument/2006/relationships/notesMaster" Target="/ppt/notesMasters/notesMaster1.xml" Id="R49b2dfa999d04052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39e35623983a429c" /><Relationship Type="http://schemas.openxmlformats.org/officeDocument/2006/relationships/notesMaster" Target="/ppt/notesMasters/notesMaster1.xml" Id="R0c70a96df4fc4260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aaad69d7bf67479e" /><Relationship Type="http://schemas.openxmlformats.org/officeDocument/2006/relationships/notesMaster" Target="/ppt/notesMasters/notesMaster1.xml" Id="R8d3aed2f0dc641d8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2f9fc37a54174311" /><Relationship Type="http://schemas.openxmlformats.org/officeDocument/2006/relationships/notesMaster" Target="/ppt/notesMasters/notesMaster1.xml" Id="R559dde92cdd04892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4ad9a99738a646c5" /><Relationship Type="http://schemas.openxmlformats.org/officeDocument/2006/relationships/notesMaster" Target="/ppt/notesMasters/notesMaster1.xml" Id="R599ebe3a97af4ec6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85945c16d7d340e9" /><Relationship Type="http://schemas.openxmlformats.org/officeDocument/2006/relationships/notesMaster" Target="/ppt/notesMasters/notesMaster1.xml" Id="Rd9bd8291e8d54e93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43f1a9ef013b44a5" /><Relationship Type="http://schemas.openxmlformats.org/officeDocument/2006/relationships/notesMaster" Target="/ppt/notesMasters/notesMaster1.xml" Id="Rca219244cd9d41d0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c0ee3a550e1246ec" /><Relationship Type="http://schemas.openxmlformats.org/officeDocument/2006/relationships/notesMaster" Target="/ppt/notesMasters/notesMaster1.xml" Id="R5933e91d2a474bab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970b5b560f7e428e" /><Relationship Type="http://schemas.openxmlformats.org/officeDocument/2006/relationships/notesMaster" Target="/ppt/notesMasters/notesMaster1.xml" Id="Ree28f6c46ef441fe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6f1706bb88494b01" /><Relationship Type="http://schemas.openxmlformats.org/officeDocument/2006/relationships/notesMaster" Target="/ppt/notesMasters/notesMaster1.xml" Id="R27af7a111d2b4086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ec31dcbb12ba4be2" /><Relationship Type="http://schemas.openxmlformats.org/officeDocument/2006/relationships/notesMaster" Target="/ppt/notesMasters/notesMaster1.xml" Id="R18a711f5b63742e3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c76d8eb9bd3f441e" /><Relationship Type="http://schemas.openxmlformats.org/officeDocument/2006/relationships/notesMaster" Target="/ppt/notesMasters/notesMaster1.xml" Id="R2ec616838a6c4979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c44312e23b6947d0" /><Relationship Type="http://schemas.openxmlformats.org/officeDocument/2006/relationships/notesMaster" Target="/ppt/notesMasters/notesMaster1.xml" Id="R777bbd5230b14058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d456a421660e42d4" /><Relationship Type="http://schemas.openxmlformats.org/officeDocument/2006/relationships/notesMaster" Target="/ppt/notesMasters/notesMaster1.xml" Id="R01bfe4bf65324ff4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310792890bb54611" /><Relationship Type="http://schemas.openxmlformats.org/officeDocument/2006/relationships/notesMaster" Target="/ppt/notesMasters/notesMaster1.xml" Id="R8e9d8e6ed42b4880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f1749536a2ea42dd" /><Relationship Type="http://schemas.openxmlformats.org/officeDocument/2006/relationships/notesMaster" Target="/ppt/notesMasters/notesMaster1.xml" Id="R91e98bbb20004f5d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956e5bea4eed40af" /><Relationship Type="http://schemas.openxmlformats.org/officeDocument/2006/relationships/notesMaster" Target="/ppt/notesMasters/notesMaster1.xml" Id="R2330d5d51a3343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r>
              <a:t>Cover visual generated for this course deck. The lecture content follows the official syllabus.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r>
              <a:t>UCI Machine Learning Repository: https://archive.ics.uci.edu/dataset/350/default+of+credit+card+clients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r>
              <a:t>Public teaching data: https://github.com/plotly/datasets/blob/master/finance-charts-apple.csv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r>
              <a:t>Public teaching data: https://github.com/plotly/datasets/blob/master/finance-charts-apple.csv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Descriptive-statistics theory slide. The definitions and library functions are based on standard pandas and NumPy APIs. The following slides run the functions on the included Apple 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r>
              <a:t>Public teaching data: https://github.com/plotly/datasets/blob/master/finance-charts-apple.csv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r>
              <a:t>Public teaching data: https://github.com/plotly/datasets/blob/master/finance-charts-apple.csv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r>
              <a:t>Public teaching data: https://github.com/plotly/datasets/blob/master/finance-charts-apple.csv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r>
              <a:t>Public teaching data: https://github.com/plotly/datasets/blob/master/finance-charts-apple.csv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r>
              <a:t>Public teaching data: https://github.com/plotly/datasets/blob/master/finance-charts-apple.csv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plotly/datasets finance-charts-apple.csv, included in the course package.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chart uses the included finance-charts-apple.csv file. It is an evidence plot for the preceding code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r>
              <a:t>Public teaching data: https://github.com/plotly/datasets/blob/master/finance-charts-apple.csv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plotly/datasets finance-charts-apple.csv, included in the course package.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chart uses the included finance-charts-apple.csv file. It is an evidence plot for the preceding code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plotly/datasets finance-charts-apple.csv, included in the course package.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chart uses the included finance-charts-apple.csv file. It is an evidence plot for the preceding code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r>
              <a:t>Public teaching data: https://github.com/plotly/datasets/blob/master/finance-charts-apple.csv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r>
              <a:t>Public teaching data: https://github.com/plotly/datasets/blob/master/finance-charts-apple.csv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r>
              <a:t>Public teaching data: https://github.com/plotly/datasets/blob/master/finance-charts-apple.csv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r>
              <a:t>Source: plotly/datasets finance-charts-apple.csv | 506 rows | one daily Apple observation | https://github.com/plotly/datasets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r>
              <a:t>Official download: https://archive.ics.uci.edu/static/public/350/default+of+credit+card+clients.zip | Accessed for this package: 2026-10-03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r>
              <a:t>Interpretation follows the official UCI variable documentation. Check coding values and possible out-of-range codes during Week 2 EDA.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r>
              <a:t>Source definition: UCI Default of Credit Card Clients, Additional Variable Information. Do not silently relabel coded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r>
              <a:t>Units and month definitions: UCI official documentation | Amounts are not percentages | Target must not be used as an input feature.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executed Lecture 0–1 Colab, additional worked case.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worked case is also included in the executed Colab notebook. The slide shows the code pattern, a compact output, and the interpretation a student should write after running the cell.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finance-charts-apple.csv; output calculated from the included public file.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worked case is also included in the executed Colab notebook. The slide shows the code pattern, a compact output, and the interpretation a student should write after running the cell.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finance-charts-apple.csv; the output is generated from the included public file.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worked case is also included in the executed Colab notebook. The slide shows the code pattern, a compact output, and the interpretation a student should write after running the cell.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UCI Default of Credit Card Clients, dataset 350; included CSV and data dictionary.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worked case is also included in the executed Colab notebook. The slide shows the code pattern, a compact output, and the interpretation a student should write after running the cell.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UCI Default of Credit Card Clients, dataset 350; included CSV and data dictionary.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worked case is also included in the executed Colab notebook. The slide shows the code pattern, a compact output, and the interpretation a student should write after running the cell.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UCI Default of Credit Card Clients, dataset 350; included CSV and data dictionary.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worked case is also included in the executed Colab notebook. The slide shows the code pattern, a compact output, and the interpretation a student should write after running the cell.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fda6aa7ffe47d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556d0ba7d2404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23ae0354974be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1b3a8e56324f2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6616e0349e479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feb4c0af304c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AA5A81A-52D5-4658-8098-51543E5F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6750176-0678-47EF-A2CA-E69F3D3502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0F60764-BD00-43B9-8D7E-18192B905B3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EBF981E-1399-4376-90AE-9CF24761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49421AA-6510-4007-AAB6-E61438634E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B339582-E7E0-4671-A8E5-386F221C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F404247-7B59-4BE0-988D-DCE6B1B6C6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7746A03-0347-411D-B551-A8D0622E0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9F444D3-E3D8-4E6D-8305-40A50EDF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FEB4667-582A-4943-85C5-603D4A5BC3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CB7DB8-07FF-4932-8EB7-B4BB1186D1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1435E12-196B-4C3D-A91B-FD5681D4995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C2CECD7-6001-4255-BD07-9C2C835E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9C68004-818A-4C5D-B747-944B72ED1C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313370D-9DB0-486F-A8F7-8DD8622A87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f24d259d7f41f8" /><Relationship Type="http://schemas.openxmlformats.org/officeDocument/2006/relationships/slideLayout" Target="/ppt/slideLayouts/slideLayout1.xml" Id="R67c059d45fc44428" /><Relationship Type="http://schemas.openxmlformats.org/officeDocument/2006/relationships/slideLayout" Target="/ppt/slideLayouts/slideLayout2.xml" Id="R6ab464f7e7e14a02" /><Relationship Type="http://schemas.openxmlformats.org/officeDocument/2006/relationships/slideLayout" Target="/ppt/slideLayouts/slideLayout3.xml" Id="Ra5ba0f316ce9485f" /><Relationship Type="http://schemas.openxmlformats.org/officeDocument/2006/relationships/slideLayout" Target="/ppt/slideLayouts/slideLayout4.xml" Id="Rb904c1811b5e424a" /><Relationship Type="http://schemas.openxmlformats.org/officeDocument/2006/relationships/slideLayout" Target="/ppt/slideLayouts/slideLayout5.xml" Id="Rc462e7418c954824" /><Relationship Type="http://schemas.openxmlformats.org/officeDocument/2006/relationships/slideLayout" Target="/ppt/slideLayouts/slideLayout6.xml" Id="R69ac0608846147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c059d45fc44428"/>
    <p:sldLayoutId xmlns:r="http://schemas.openxmlformats.org/officeDocument/2006/relationships" id="2147483650" r:id="R6ab464f7e7e14a02"/>
    <p:sldLayoutId xmlns:r="http://schemas.openxmlformats.org/officeDocument/2006/relationships" id="2147483651" r:id="Ra5ba0f316ce9485f"/>
    <p:sldLayoutId xmlns:r="http://schemas.openxmlformats.org/officeDocument/2006/relationships" id="2147483652" r:id="Rb904c1811b5e424a"/>
    <p:sldLayoutId xmlns:r="http://schemas.openxmlformats.org/officeDocument/2006/relationships" id="2147483653" r:id="Rc462e7418c954824"/>
    <p:sldLayoutId xmlns:r="http://schemas.openxmlformats.org/officeDocument/2006/relationships" id="2147483654" r:id="R69ac0608846147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5d87f7d59b4bf6" /><Relationship Type="http://schemas.openxmlformats.org/officeDocument/2006/relationships/image" Target="/ppt/media/image.png" Id="R1f272a0510804e0f" /><Relationship Type="http://schemas.openxmlformats.org/officeDocument/2006/relationships/notesSlide" Target="/ppt/notesSlides/notesSlide1.xml" Id="R155b60c58a484f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66ee8e077e475e" /><Relationship Type="http://schemas.openxmlformats.org/officeDocument/2006/relationships/notesSlide" Target="/ppt/notesSlides/notesSlide2.xml" Id="Rd4224ce6e82244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837589450b4df1" /><Relationship Type="http://schemas.openxmlformats.org/officeDocument/2006/relationships/notesSlide" Target="/ppt/notesSlides/notesSlide3.xml" Id="R917f54f8109e42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fb0dfe53e3497e" /><Relationship Type="http://schemas.openxmlformats.org/officeDocument/2006/relationships/notesSlide" Target="/ppt/notesSlides/notesSlide4.xml" Id="R5e3772b7ebb04d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d5b411d5d741e2" /><Relationship Type="http://schemas.openxmlformats.org/officeDocument/2006/relationships/notesSlide" Target="/ppt/notesSlides/notesSlide5.xml" Id="R7ad6b529ff904f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8ac3edbf714143" /><Relationship Type="http://schemas.openxmlformats.org/officeDocument/2006/relationships/notesSlide" Target="/ppt/notesSlides/notesSlide6.xml" Id="R01e7aaca05a441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8381929a074ca7" /><Relationship Type="http://schemas.openxmlformats.org/officeDocument/2006/relationships/notesSlide" Target="/ppt/notesSlides/notesSlide7.xml" Id="R1c57f8bc772b4b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77db8a977f417f" /><Relationship Type="http://schemas.openxmlformats.org/officeDocument/2006/relationships/notesSlide" Target="/ppt/notesSlides/notesSlide8.xml" Id="R3695e141ff3440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bc5c81064b4aba" /><Relationship Type="http://schemas.openxmlformats.org/officeDocument/2006/relationships/notesSlide" Target="/ppt/notesSlides/notesSlide9.xml" Id="Ra6cfa0943f5d47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22e06cdf0a450f" /><Relationship Type="http://schemas.openxmlformats.org/officeDocument/2006/relationships/notesSlide" Target="/ppt/notesSlides/notesSlide10.xml" Id="R3c0db72df24f45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4977d9bc63469d" /><Relationship Type="http://schemas.openxmlformats.org/officeDocument/2006/relationships/notesSlide" Target="/ppt/notesSlides/notesSlide11.xml" Id="R8d18ad05e9f143b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059a0af2044c7b" /><Relationship Type="http://schemas.openxmlformats.org/officeDocument/2006/relationships/notesSlide" Target="/ppt/notesSlides/notesSlide12.xml" Id="R5a0df9635ea24c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ad87af66a84035" /><Relationship Type="http://schemas.openxmlformats.org/officeDocument/2006/relationships/notesSlide" Target="/ppt/notesSlides/notesSlide13.xml" Id="Reb5fd8b2b1b14ce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baf0291a664bfc" /><Relationship Type="http://schemas.openxmlformats.org/officeDocument/2006/relationships/notesSlide" Target="/ppt/notesSlides/notesSlide14.xml" Id="Rdc3752efcf0148e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f19578ab3f45da" /><Relationship Type="http://schemas.openxmlformats.org/officeDocument/2006/relationships/notesSlide" Target="/ppt/notesSlides/notesSlide15.xml" Id="R79a6dbe9075d451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db08d0e1ba4240" /><Relationship Type="http://schemas.openxmlformats.org/officeDocument/2006/relationships/notesSlide" Target="/ppt/notesSlides/notesSlide16.xml" Id="R9cde7ee046a341f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b63a9330b34d1b" /><Relationship Type="http://schemas.openxmlformats.org/officeDocument/2006/relationships/notesSlide" Target="/ppt/notesSlides/notesSlide17.xml" Id="R001a4ab502b3409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fe047275fa42bc" /><Relationship Type="http://schemas.openxmlformats.org/officeDocument/2006/relationships/notesSlide" Target="/ppt/notesSlides/notesSlide18.xml" Id="R2bdb3de0cee4418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c347928db84721" /><Relationship Type="http://schemas.openxmlformats.org/officeDocument/2006/relationships/notesSlide" Target="/ppt/notesSlides/notesSlide19.xml" Id="R511476baa3df4e5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6e9919d64446da" /><Relationship Type="http://schemas.openxmlformats.org/officeDocument/2006/relationships/notesSlide" Target="/ppt/notesSlides/notesSlide20.xml" Id="Rbdd29b58240845b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b49749bdd545bc" /><Relationship Type="http://schemas.openxmlformats.org/officeDocument/2006/relationships/notesSlide" Target="/ppt/notesSlides/notesSlide21.xml" Id="R2db53995641641d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45ff47d5eb461d" /><Relationship Type="http://schemas.openxmlformats.org/officeDocument/2006/relationships/notesSlide" Target="/ppt/notesSlides/notesSlide22.xml" Id="R0e0b31d32bca4a3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fac629d36545a3" /><Relationship Type="http://schemas.openxmlformats.org/officeDocument/2006/relationships/notesSlide" Target="/ppt/notesSlides/notesSlide23.xml" Id="R342bcec558224c9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15f0d05d90435c" /><Relationship Type="http://schemas.openxmlformats.org/officeDocument/2006/relationships/notesSlide" Target="/ppt/notesSlides/notesSlide24.xml" Id="R98f66d866754468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1d35727f7b44b0" /><Relationship Type="http://schemas.openxmlformats.org/officeDocument/2006/relationships/notesSlide" Target="/ppt/notesSlides/notesSlide25.xml" Id="R7e3205ec1861440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0ecf491bfa42db" /><Relationship Type="http://schemas.openxmlformats.org/officeDocument/2006/relationships/notesSlide" Target="/ppt/notesSlides/notesSlide26.xml" Id="R7f514f5fa848406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ea3eac09ad45a0" /><Relationship Type="http://schemas.openxmlformats.org/officeDocument/2006/relationships/notesSlide" Target="/ppt/notesSlides/notesSlide27.xml" Id="Rf911b032da4e4d3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3cfd642fcf4ee9" /><Relationship Type="http://schemas.openxmlformats.org/officeDocument/2006/relationships/notesSlide" Target="/ppt/notesSlides/notesSlide28.xml" Id="R3a77880cbe904eb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27764fda3c4548" /><Relationship Type="http://schemas.openxmlformats.org/officeDocument/2006/relationships/notesSlide" Target="/ppt/notesSlides/notesSlide29.xml" Id="R05cd3ab1cd78452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fb34288d1d4aa2" /><Relationship Type="http://schemas.openxmlformats.org/officeDocument/2006/relationships/notesSlide" Target="/ppt/notesSlides/notesSlide30.xml" Id="R9996c21b4667439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33faae08ae4375" /><Relationship Type="http://schemas.openxmlformats.org/officeDocument/2006/relationships/notesSlide" Target="/ppt/notesSlides/notesSlide31.xml" Id="R0a0b7f63d865416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a181b21fbb481f" /><Relationship Type="http://schemas.openxmlformats.org/officeDocument/2006/relationships/notesSlide" Target="/ppt/notesSlides/notesSlide32.xml" Id="Rb0121d06ee7447d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a2de1058c84500" /><Relationship Type="http://schemas.openxmlformats.org/officeDocument/2006/relationships/notesSlide" Target="/ppt/notesSlides/notesSlide33.xml" Id="R9cec6beb14bd486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16548117c8437f" /><Relationship Type="http://schemas.openxmlformats.org/officeDocument/2006/relationships/notesSlide" Target="/ppt/notesSlides/notesSlide34.xml" Id="Rc06d8b5531d44f9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b9732689b64273" /><Relationship Type="http://schemas.openxmlformats.org/officeDocument/2006/relationships/notesSlide" Target="/ppt/notesSlides/notesSlide35.xml" Id="R1510bcb01b57488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477dbbfc024169" /><Relationship Type="http://schemas.openxmlformats.org/officeDocument/2006/relationships/notesSlide" Target="/ppt/notesSlides/notesSlide36.xml" Id="R43f5f456f14948d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e33e5faa484fa1" /><Relationship Type="http://schemas.openxmlformats.org/officeDocument/2006/relationships/notesSlide" Target="/ppt/notesSlides/notesSlide37.xml" Id="R95ae74a747d3485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d3650b820a4eb9" /><Relationship Type="http://schemas.openxmlformats.org/officeDocument/2006/relationships/notesSlide" Target="/ppt/notesSlides/notesSlide38.xml" Id="Reb7110fccc634da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64737395fa4ea5" /><Relationship Type="http://schemas.openxmlformats.org/officeDocument/2006/relationships/notesSlide" Target="/ppt/notesSlides/notesSlide39.xml" Id="R3fffe3a02079440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30d818e754426d" /><Relationship Type="http://schemas.openxmlformats.org/officeDocument/2006/relationships/notesSlide" Target="/ppt/notesSlides/notesSlide40.xml" Id="R094bb66e2e72421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f06a616c9241f0" /><Relationship Type="http://schemas.openxmlformats.org/officeDocument/2006/relationships/notesSlide" Target="/ppt/notesSlides/notesSlide41.xml" Id="R49c13f655ea74a0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93ee6371a9489f" /><Relationship Type="http://schemas.openxmlformats.org/officeDocument/2006/relationships/notesSlide" Target="/ppt/notesSlides/notesSlide42.xml" Id="R5b307d3698e64c9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3ecbb15f7a4704" /><Relationship Type="http://schemas.openxmlformats.org/officeDocument/2006/relationships/notesSlide" Target="/ppt/notesSlides/notesSlide43.xml" Id="Re06fd2c7908d497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367c9ce7894cae" /><Relationship Type="http://schemas.openxmlformats.org/officeDocument/2006/relationships/notesSlide" Target="/ppt/notesSlides/notesSlide44.xml" Id="Rafb7059309284a24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ff970bda17430f" /><Relationship Type="http://schemas.openxmlformats.org/officeDocument/2006/relationships/notesSlide" Target="/ppt/notesSlides/notesSlide45.xml" Id="R8a3b5f31bbae4a90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22bb1084224578" /><Relationship Type="http://schemas.openxmlformats.org/officeDocument/2006/relationships/notesSlide" Target="/ppt/notesSlides/notesSlide46.xml" Id="R07aab6c0f3a44252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08a7a9833042ec" /><Relationship Type="http://schemas.openxmlformats.org/officeDocument/2006/relationships/notesSlide" Target="/ppt/notesSlides/notesSlide47.xml" Id="Rc9cdd0f67e824f96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376b76eea4442e" /><Relationship Type="http://schemas.openxmlformats.org/officeDocument/2006/relationships/notesSlide" Target="/ppt/notesSlides/notesSlide48.xml" Id="R2f4fd17390914334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b87cad872e4257" /><Relationship Type="http://schemas.openxmlformats.org/officeDocument/2006/relationships/notesSlide" Target="/ppt/notesSlides/notesSlide49.xml" Id="Rca7aa03a3cfe4fbf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cfa7779be54763" /><Relationship Type="http://schemas.openxmlformats.org/officeDocument/2006/relationships/notesSlide" Target="/ppt/notesSlides/notesSlide50.xml" Id="R992e2336435c4403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cf55ae163345b7" /><Relationship Type="http://schemas.openxmlformats.org/officeDocument/2006/relationships/notesSlide" Target="/ppt/notesSlides/notesSlide51.xml" Id="R26c172c63a7e4d8d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c241ebd4894191" /><Relationship Type="http://schemas.openxmlformats.org/officeDocument/2006/relationships/notesSlide" Target="/ppt/notesSlides/notesSlide52.xml" Id="Re62dc5019b02450f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ccee70ce7743ac" /><Relationship Type="http://schemas.openxmlformats.org/officeDocument/2006/relationships/notesSlide" Target="/ppt/notesSlides/notesSlide53.xml" Id="Rec689748950b4d4b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ea562d1ef849cd" /><Relationship Type="http://schemas.openxmlformats.org/officeDocument/2006/relationships/notesSlide" Target="/ppt/notesSlides/notesSlide54.xml" Id="R96a9d5003a0842b2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2e8ec213a94e39" /><Relationship Type="http://schemas.openxmlformats.org/officeDocument/2006/relationships/notesSlide" Target="/ppt/notesSlides/notesSlide55.xml" Id="R2ed4f307a0114ba3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018cc91b784ad2" /><Relationship Type="http://schemas.openxmlformats.org/officeDocument/2006/relationships/notesSlide" Target="/ppt/notesSlides/notesSlide56.xml" Id="Rfd117c572c554198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dfdc81c54f40a3" /><Relationship Type="http://schemas.openxmlformats.org/officeDocument/2006/relationships/notesSlide" Target="/ppt/notesSlides/notesSlide57.xml" Id="R4ac603b58cb34944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3e2f376823456f" /><Relationship Type="http://schemas.openxmlformats.org/officeDocument/2006/relationships/notesSlide" Target="/ppt/notesSlides/notesSlide58.xml" Id="Redfeb4479aa042c0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dd1eb4dfc54b97" /><Relationship Type="http://schemas.openxmlformats.org/officeDocument/2006/relationships/notesSlide" Target="/ppt/notesSlides/notesSlide59.xml" Id="Rff47d97562cd43c7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5493448f404c31" /><Relationship Type="http://schemas.openxmlformats.org/officeDocument/2006/relationships/notesSlide" Target="/ppt/notesSlides/notesSlide60.xml" Id="R7f74e9ed5ffe4441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4ac322e9854669" /><Relationship Type="http://schemas.openxmlformats.org/officeDocument/2006/relationships/notesSlide" Target="/ppt/notesSlides/notesSlide61.xml" Id="R5af1f11ffe234f9c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2e2f5bfe7447d9" /><Relationship Type="http://schemas.openxmlformats.org/officeDocument/2006/relationships/notesSlide" Target="/ppt/notesSlides/notesSlide62.xml" Id="R04f5ea1a108d4770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062c7625b74ad0" /><Relationship Type="http://schemas.openxmlformats.org/officeDocument/2006/relationships/notesSlide" Target="/ppt/notesSlides/notesSlide63.xml" Id="Rb91ef1149ca54c22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3dd2d67dcd41df" /><Relationship Type="http://schemas.openxmlformats.org/officeDocument/2006/relationships/notesSlide" Target="/ppt/notesSlides/notesSlide64.xml" Id="Rd59f96b9e02f47ff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e735e5855a4e56" /><Relationship Type="http://schemas.openxmlformats.org/officeDocument/2006/relationships/notesSlide" Target="/ppt/notesSlides/notesSlide65.xml" Id="Rb095eed8a1dd4a7f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e40090268d44fa" /><Relationship Type="http://schemas.openxmlformats.org/officeDocument/2006/relationships/notesSlide" Target="/ppt/notesSlides/notesSlide66.xml" Id="R3044c68415a54074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2b70ab00f34d6d" /><Relationship Type="http://schemas.openxmlformats.org/officeDocument/2006/relationships/notesSlide" Target="/ppt/notesSlides/notesSlide67.xml" Id="R00eea341de284b90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e05597045744a1" /><Relationship Type="http://schemas.openxmlformats.org/officeDocument/2006/relationships/notesSlide" Target="/ppt/notesSlides/notesSlide68.xml" Id="R3c44e48dd13b4781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8e12e2d6cf4c35" /><Relationship Type="http://schemas.openxmlformats.org/officeDocument/2006/relationships/notesSlide" Target="/ppt/notesSlides/notesSlide69.xml" Id="R420f5d737af6477d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239d04f2ba4f4f" /><Relationship Type="http://schemas.openxmlformats.org/officeDocument/2006/relationships/notesSlide" Target="/ppt/notesSlides/notesSlide70.xml" Id="R8e7c09f6cd884710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5c8576340d43ee" /><Relationship Type="http://schemas.openxmlformats.org/officeDocument/2006/relationships/image" Target="/ppt/media/image.svg" Id="Rcbcf03b2b9c84575" /><Relationship Type="http://schemas.openxmlformats.org/officeDocument/2006/relationships/image" Target="/ppt/media/image.png" Id="Rc95c4e8b7bf44da0" /><Relationship Type="http://schemas.openxmlformats.org/officeDocument/2006/relationships/notesSlide" Target="/ppt/notesSlides/notesSlide71.xml" Id="R6366976dacc64298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2daba55e9b49ef" /><Relationship Type="http://schemas.openxmlformats.org/officeDocument/2006/relationships/image" Target="/ppt/media/image2.png" Id="Re5290c67d2964171" /><Relationship Type="http://schemas.openxmlformats.org/officeDocument/2006/relationships/image" Target="/ppt/media/image2.svg" Id="R8649cf8f746c42cc" /><Relationship Type="http://schemas.openxmlformats.org/officeDocument/2006/relationships/notesSlide" Target="/ppt/notesSlides/notesSlide72.xml" Id="R1a49d8e38d624eb2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892b625c0d4e77" /><Relationship Type="http://schemas.openxmlformats.org/officeDocument/2006/relationships/notesSlide" Target="/ppt/notesSlides/notesSlide73.xml" Id="R8bc9a7c043604f93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bc451012e74214" /><Relationship Type="http://schemas.openxmlformats.org/officeDocument/2006/relationships/image" Target="/ppt/media/image3.png" Id="R314ff8b14b6b48f1" /><Relationship Type="http://schemas.openxmlformats.org/officeDocument/2006/relationships/image" Target="/ppt/media/image3.svg" Id="Rbbc36c82b7c0488c" /><Relationship Type="http://schemas.openxmlformats.org/officeDocument/2006/relationships/notesSlide" Target="/ppt/notesSlides/notesSlide74.xml" Id="Rbbbf54e039ab43f7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81fbe81c984c8f" /><Relationship Type="http://schemas.openxmlformats.org/officeDocument/2006/relationships/notesSlide" Target="/ppt/notesSlides/notesSlide75.xml" Id="R9e57ad3f18d7402b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c905e5d5bf463b" /><Relationship Type="http://schemas.openxmlformats.org/officeDocument/2006/relationships/notesSlide" Target="/ppt/notesSlides/notesSlide76.xml" Id="R0e8eb62b8e864dae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9115dc877349c9" /><Relationship Type="http://schemas.openxmlformats.org/officeDocument/2006/relationships/notesSlide" Target="/ppt/notesSlides/notesSlide77.xml" Id="Rc1629385eb594518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3507f98fb344ab" /><Relationship Type="http://schemas.openxmlformats.org/officeDocument/2006/relationships/notesSlide" Target="/ppt/notesSlides/notesSlide78.xml" Id="R48271e198c354eea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c64d889e98435e" /><Relationship Type="http://schemas.openxmlformats.org/officeDocument/2006/relationships/notesSlide" Target="/ppt/notesSlides/notesSlide79.xml" Id="R80bd91261d8c46bf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d369f3d296440b" /><Relationship Type="http://schemas.openxmlformats.org/officeDocument/2006/relationships/chart" Target="/ppt/slides/charts/chart1.xml" Id="R8cb51e99a674405b" /><Relationship Type="http://schemas.openxmlformats.org/officeDocument/2006/relationships/notesSlide" Target="/ppt/notesSlides/notesSlide80.xml" Id="R38c396b422f74fab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145e5eab644142" /><Relationship Type="http://schemas.openxmlformats.org/officeDocument/2006/relationships/notesSlide" Target="/ppt/notesSlides/notesSlide81.xml" Id="Rf8aeead4630b4cbe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ca575b71ea4ce5" /><Relationship Type="http://schemas.openxmlformats.org/officeDocument/2006/relationships/notesSlide" Target="/ppt/notesSlides/notesSlide82.xml" Id="R1da698c51e8b4428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c43ecc72fa4361" /><Relationship Type="http://schemas.openxmlformats.org/officeDocument/2006/relationships/chart" Target="/ppt/slides/charts/chart2.xml" Id="R1612da66ce034f62" /><Relationship Type="http://schemas.openxmlformats.org/officeDocument/2006/relationships/notesSlide" Target="/ppt/notesSlides/notesSlide83.xml" Id="Re34c00de55c245b7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1229d99ac84097" /><Relationship Type="http://schemas.openxmlformats.org/officeDocument/2006/relationships/chart" Target="/ppt/slides/charts/chart3.xml" Id="R2e7c5101946b44c6" /><Relationship Type="http://schemas.openxmlformats.org/officeDocument/2006/relationships/notesSlide" Target="/ppt/notesSlides/notesSlide84.xml" Id="R2d7b04d7fc724cfd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874a4dac994f11" /><Relationship Type="http://schemas.openxmlformats.org/officeDocument/2006/relationships/notesSlide" Target="/ppt/notesSlides/notesSlide85.xml" Id="Rbc6e7b2848e344fa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f1d515c0f24222" /><Relationship Type="http://schemas.openxmlformats.org/officeDocument/2006/relationships/notesSlide" Target="/ppt/notesSlides/notesSlide86.xml" Id="R578d37cc10f84ee2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e11e6656b34583" /><Relationship Type="http://schemas.openxmlformats.org/officeDocument/2006/relationships/notesSlide" Target="/ppt/notesSlides/notesSlide87.xml" Id="R1e22456a9a9f42ec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bd42e8b4684e7a" /><Relationship Type="http://schemas.openxmlformats.org/officeDocument/2006/relationships/notesSlide" Target="/ppt/notesSlides/notesSlide88.xml" Id="R3c0248b549a24b72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b3d6ac2a704481" /><Relationship Type="http://schemas.openxmlformats.org/officeDocument/2006/relationships/notesSlide" Target="/ppt/notesSlides/notesSlide89.xml" Id="R6e04cf6059104897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b5443622a14802" /><Relationship Type="http://schemas.openxmlformats.org/officeDocument/2006/relationships/notesSlide" Target="/ppt/notesSlides/notesSlide90.xml" Id="R562468acdb1f4a85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0efed59c9748d6" /><Relationship Type="http://schemas.openxmlformats.org/officeDocument/2006/relationships/notesSlide" Target="/ppt/notesSlides/notesSlide91.xml" Id="R1b18a5e623584f97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aa3ea00e064e27" /><Relationship Type="http://schemas.openxmlformats.org/officeDocument/2006/relationships/notesSlide" Target="/ppt/notesSlides/notesSlide92.xml" Id="Rdc74cdd5a03a4bf2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da9ad383b34735" /><Relationship Type="http://schemas.openxmlformats.org/officeDocument/2006/relationships/notesSlide" Target="/ppt/notesSlides/notesSlide93.xml" Id="Read7404871654022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f70a94897842d3" /><Relationship Type="http://schemas.openxmlformats.org/officeDocument/2006/relationships/notesSlide" Target="/ppt/notesSlides/notesSlide94.xml" Id="Rd06615d954e54270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3026bec87a4e7b" /><Relationship Type="http://schemas.openxmlformats.org/officeDocument/2006/relationships/notesSlide" Target="/ppt/notesSlides/notesSlide95.xml" Id="R64ffa7a39cc245cb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b008634f0b403a" /><Relationship Type="http://schemas.openxmlformats.org/officeDocument/2006/relationships/notesSlide" Target="/ppt/notesSlides/notesSlide96.xml" Id="Rebb8db369a5d4761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7d60c4675044e0" /><Relationship Type="http://schemas.openxmlformats.org/officeDocument/2006/relationships/notesSlide" Target="/ppt/notesSlides/notesSlide97.xml" Id="Rfd8600c8aa1b4cd4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d7aec6100c43dd" /><Relationship Type="http://schemas.openxmlformats.org/officeDocument/2006/relationships/notesSlide" Target="/ppt/notesSlides/notesSlide98.xml" Id="R17e812738a854b79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a8cf0432b148da" /><Relationship Type="http://schemas.openxmlformats.org/officeDocument/2006/relationships/notesSlide" Target="/ppt/notesSlides/notesSlide99.xml" Id="R4d2e1d0a96ce4ab3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cf37c925684fc7" /><Relationship Type="http://schemas.openxmlformats.org/officeDocument/2006/relationships/notesSlide" Target="/ppt/notesSlides/notesSlide100.xml" Id="R53e592457f3c4047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566e0447214c29" /><Relationship Type="http://schemas.openxmlformats.org/officeDocument/2006/relationships/notesSlide" Target="/ppt/notesSlides/notesSlide101.xml" Id="Rcc4dbdc12bb54044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f146fc8684476c" /><Relationship Type="http://schemas.openxmlformats.org/officeDocument/2006/relationships/notesSlide" Target="/ppt/notesSlides/notesSlide102.xml" Id="Rbdcf3c42a1764079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72ab66a5ca48e3" /><Relationship Type="http://schemas.openxmlformats.org/officeDocument/2006/relationships/notesSlide" Target="/ppt/notesSlides/notesSlide103.xml" Id="R526e30e286694c97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3fca35c23349dd" /><Relationship Type="http://schemas.openxmlformats.org/officeDocument/2006/relationships/notesSlide" Target="/ppt/notesSlides/notesSlide104.xml" Id="R6b04dee9dd064358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313727cd4d4a47" /><Relationship Type="http://schemas.openxmlformats.org/officeDocument/2006/relationships/notesSlide" Target="/ppt/notesSlides/notesSlide105.xml" Id="R12fb47d73a154df6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9a66c5e3184b9c" /><Relationship Type="http://schemas.openxmlformats.org/officeDocument/2006/relationships/notesSlide" Target="/ppt/notesSlides/notesSlide106.xml" Id="Raf163cbfe709438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Trading days</c:v>
          </c:tx>
          <c:spPr>
            <a:solidFill xmlns:a="http://schemas.openxmlformats.org/drawingml/2006/main">
              <a:srgbClr val="1B6FB8"/>
            </a:solidFill>
          </c:spPr>
          <c:cat>
            <c:strRef>
              <c:f>'Chart Data'!$A$2:$A$13</c:f>
              <c:strCache>
                <c:ptCount val="12"/>
                <c:pt idx="0">
                  <c:v>90–94</c:v>
                </c:pt>
                <c:pt idx="1">
                  <c:v>94–98</c:v>
                </c:pt>
                <c:pt idx="2">
                  <c:v>98–102</c:v>
                </c:pt>
                <c:pt idx="3">
                  <c:v>102–105</c:v>
                </c:pt>
                <c:pt idx="4">
                  <c:v>105–109</c:v>
                </c:pt>
                <c:pt idx="5">
                  <c:v>109–113</c:v>
                </c:pt>
                <c:pt idx="6">
                  <c:v>113–117</c:v>
                </c:pt>
                <c:pt idx="7">
                  <c:v>117–120</c:v>
                </c:pt>
                <c:pt idx="8">
                  <c:v>120–124</c:v>
                </c:pt>
                <c:pt idx="9">
                  <c:v>124–128</c:v>
                </c:pt>
                <c:pt idx="10">
                  <c:v>128–132</c:v>
                </c:pt>
                <c:pt idx="11">
                  <c:v>132–136</c:v>
                </c:pt>
              </c:strCache>
            </c:strRef>
          </c:cat>
          <c:val>
            <c:numRef>
              <c:f>'Chart Data'!$B$2:$B$13</c:f>
              <c:numCache>
                <c:formatCode>0</c:formatCode>
                <c:ptCount val="12"/>
                <c:pt idx="0">
                  <c:v>19</c:v>
                </c:pt>
                <c:pt idx="1">
                  <c:v>54</c:v>
                </c:pt>
                <c:pt idx="2">
                  <c:v>33</c:v>
                </c:pt>
                <c:pt idx="3">
                  <c:v>18</c:v>
                </c:pt>
                <c:pt idx="4">
                  <c:v>60</c:v>
                </c:pt>
                <c:pt idx="5">
                  <c:v>68</c:v>
                </c:pt>
                <c:pt idx="6">
                  <c:v>69</c:v>
                </c:pt>
                <c:pt idx="7">
                  <c:v>46</c:v>
                </c:pt>
                <c:pt idx="8">
                  <c:v>23</c:v>
                </c:pt>
                <c:pt idx="9">
                  <c:v>61</c:v>
                </c:pt>
                <c:pt idx="10">
                  <c:v>41</c:v>
                </c:pt>
                <c:pt idx="11">
                  <c:v>14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Bitstream Charter"/>
                    <a:ea typeface="Bitstream Charter"/>
                    <a:cs typeface="Bitstream Charter"/>
                  </a:rPr>
                  <a:t>Closing-price interval (USD)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Bitstream Charter"/>
                    <a:ea typeface="Bitstream Charter"/>
                    <a:cs typeface="Bitstream Charter"/>
                  </a:rPr>
                  <a:t>Trading days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AAPL close</c:v>
          </c:tx>
          <c:spPr>
            <a:ln xmlns:a="http://schemas.openxmlformats.org/drawingml/2006/main" w="19050">
              <a:solidFill>
                <a:srgbClr val="10AFC0"/>
              </a:solidFill>
            </a:ln>
          </c:spPr>
          <c:marker>
            <c:symbol val="none"/>
          </c:marker>
          <c:cat>
            <c:strRef>
              <c:f>'Chart Data'!$A$2:$A$507</c:f>
              <c:strCache>
                <c:ptCount val="506"/>
                <c:pt idx="0">
                  <c:v>2015-02-17</c:v>
                </c:pt>
                <c:pt idx="1">
                  <c:v>2015-02-18</c:v>
                </c:pt>
                <c:pt idx="2">
                  <c:v>2015-02-19</c:v>
                </c:pt>
                <c:pt idx="3">
                  <c:v>2015-02-20</c:v>
                </c:pt>
                <c:pt idx="4">
                  <c:v>2015-02-23</c:v>
                </c:pt>
                <c:pt idx="5">
                  <c:v>2015-02-24</c:v>
                </c:pt>
                <c:pt idx="6">
                  <c:v>2015-02-25</c:v>
                </c:pt>
                <c:pt idx="7">
                  <c:v>2015-02-26</c:v>
                </c:pt>
                <c:pt idx="8">
                  <c:v>2015-02-27</c:v>
                </c:pt>
                <c:pt idx="9">
                  <c:v>2015-03-02</c:v>
                </c:pt>
                <c:pt idx="10">
                  <c:v>2015-03-03</c:v>
                </c:pt>
                <c:pt idx="11">
                  <c:v>2015-03-04</c:v>
                </c:pt>
                <c:pt idx="12">
                  <c:v>2015-03-05</c:v>
                </c:pt>
                <c:pt idx="13">
                  <c:v>2015-03-06</c:v>
                </c:pt>
                <c:pt idx="14">
                  <c:v>2015-03-09</c:v>
                </c:pt>
                <c:pt idx="15">
                  <c:v>2015-03-10</c:v>
                </c:pt>
                <c:pt idx="16">
                  <c:v>2015-03-11</c:v>
                </c:pt>
                <c:pt idx="17">
                  <c:v>2015-03-12</c:v>
                </c:pt>
                <c:pt idx="18">
                  <c:v>2015-03-13</c:v>
                </c:pt>
                <c:pt idx="19">
                  <c:v>2015-03-16</c:v>
                </c:pt>
                <c:pt idx="20">
                  <c:v>2015-03-17</c:v>
                </c:pt>
                <c:pt idx="21">
                  <c:v>2015-03-18</c:v>
                </c:pt>
                <c:pt idx="22">
                  <c:v>2015-03-19</c:v>
                </c:pt>
                <c:pt idx="23">
                  <c:v>2015-03-20</c:v>
                </c:pt>
                <c:pt idx="24">
                  <c:v>2015-03-23</c:v>
                </c:pt>
                <c:pt idx="25">
                  <c:v>2015-03-24</c:v>
                </c:pt>
                <c:pt idx="26">
                  <c:v>2015-03-25</c:v>
                </c:pt>
                <c:pt idx="27">
                  <c:v>2015-03-26</c:v>
                </c:pt>
                <c:pt idx="28">
                  <c:v>2015-03-27</c:v>
                </c:pt>
                <c:pt idx="29">
                  <c:v>2015-03-30</c:v>
                </c:pt>
                <c:pt idx="30">
                  <c:v>2015-03-31</c:v>
                </c:pt>
                <c:pt idx="31">
                  <c:v>2015-04-01</c:v>
                </c:pt>
                <c:pt idx="32">
                  <c:v>2015-04-02</c:v>
                </c:pt>
                <c:pt idx="33">
                  <c:v>2015-04-06</c:v>
                </c:pt>
                <c:pt idx="34">
                  <c:v>2015-04-07</c:v>
                </c:pt>
                <c:pt idx="35">
                  <c:v>2015-04-08</c:v>
                </c:pt>
                <c:pt idx="36">
                  <c:v>2015-04-09</c:v>
                </c:pt>
                <c:pt idx="37">
                  <c:v>2015-04-10</c:v>
                </c:pt>
                <c:pt idx="38">
                  <c:v>2015-04-13</c:v>
                </c:pt>
                <c:pt idx="39">
                  <c:v>2015-04-14</c:v>
                </c:pt>
                <c:pt idx="40">
                  <c:v>2015-04-15</c:v>
                </c:pt>
                <c:pt idx="41">
                  <c:v>2015-04-16</c:v>
                </c:pt>
                <c:pt idx="42">
                  <c:v>2015-04-17</c:v>
                </c:pt>
                <c:pt idx="43">
                  <c:v>2015-04-20</c:v>
                </c:pt>
                <c:pt idx="44">
                  <c:v>2015-04-21</c:v>
                </c:pt>
                <c:pt idx="45">
                  <c:v>2015-04-22</c:v>
                </c:pt>
                <c:pt idx="46">
                  <c:v>2015-04-23</c:v>
                </c:pt>
                <c:pt idx="47">
                  <c:v>2015-04-24</c:v>
                </c:pt>
                <c:pt idx="48">
                  <c:v>2015-04-27</c:v>
                </c:pt>
                <c:pt idx="49">
                  <c:v>2015-04-28</c:v>
                </c:pt>
                <c:pt idx="50">
                  <c:v>2015-04-29</c:v>
                </c:pt>
                <c:pt idx="51">
                  <c:v>2015-04-30</c:v>
                </c:pt>
                <c:pt idx="52">
                  <c:v>2015-05-01</c:v>
                </c:pt>
                <c:pt idx="53">
                  <c:v>2015-05-04</c:v>
                </c:pt>
                <c:pt idx="54">
                  <c:v>2015-05-05</c:v>
                </c:pt>
                <c:pt idx="55">
                  <c:v>2015-05-06</c:v>
                </c:pt>
                <c:pt idx="56">
                  <c:v>2015-05-07</c:v>
                </c:pt>
                <c:pt idx="57">
                  <c:v>2015-05-08</c:v>
                </c:pt>
                <c:pt idx="58">
                  <c:v>2015-05-11</c:v>
                </c:pt>
                <c:pt idx="59">
                  <c:v>2015-05-12</c:v>
                </c:pt>
                <c:pt idx="60">
                  <c:v>2015-05-13</c:v>
                </c:pt>
                <c:pt idx="61">
                  <c:v>2015-05-14</c:v>
                </c:pt>
                <c:pt idx="62">
                  <c:v>2015-05-15</c:v>
                </c:pt>
                <c:pt idx="63">
                  <c:v>2015-05-18</c:v>
                </c:pt>
                <c:pt idx="64">
                  <c:v>2015-05-19</c:v>
                </c:pt>
                <c:pt idx="65">
                  <c:v>2015-05-20</c:v>
                </c:pt>
                <c:pt idx="66">
                  <c:v>2015-05-21</c:v>
                </c:pt>
                <c:pt idx="67">
                  <c:v>2015-05-22</c:v>
                </c:pt>
                <c:pt idx="68">
                  <c:v>2015-05-26</c:v>
                </c:pt>
                <c:pt idx="69">
                  <c:v>2015-05-27</c:v>
                </c:pt>
                <c:pt idx="70">
                  <c:v>2015-05-28</c:v>
                </c:pt>
                <c:pt idx="71">
                  <c:v>2015-05-29</c:v>
                </c:pt>
                <c:pt idx="72">
                  <c:v>2015-06-01</c:v>
                </c:pt>
                <c:pt idx="73">
                  <c:v>2015-06-02</c:v>
                </c:pt>
                <c:pt idx="74">
                  <c:v>2015-06-03</c:v>
                </c:pt>
                <c:pt idx="75">
                  <c:v>2015-06-04</c:v>
                </c:pt>
                <c:pt idx="76">
                  <c:v>2015-06-05</c:v>
                </c:pt>
                <c:pt idx="77">
                  <c:v>2015-06-08</c:v>
                </c:pt>
                <c:pt idx="78">
                  <c:v>2015-06-09</c:v>
                </c:pt>
                <c:pt idx="79">
                  <c:v>2015-06-10</c:v>
                </c:pt>
                <c:pt idx="80">
                  <c:v>2015-06-11</c:v>
                </c:pt>
                <c:pt idx="81">
                  <c:v>2015-06-12</c:v>
                </c:pt>
                <c:pt idx="82">
                  <c:v>2015-06-15</c:v>
                </c:pt>
                <c:pt idx="83">
                  <c:v>2015-06-16</c:v>
                </c:pt>
                <c:pt idx="84">
                  <c:v>2015-06-17</c:v>
                </c:pt>
                <c:pt idx="85">
                  <c:v>2015-06-18</c:v>
                </c:pt>
                <c:pt idx="86">
                  <c:v>2015-06-19</c:v>
                </c:pt>
                <c:pt idx="87">
                  <c:v>2015-06-22</c:v>
                </c:pt>
                <c:pt idx="88">
                  <c:v>2015-06-23</c:v>
                </c:pt>
                <c:pt idx="89">
                  <c:v>2015-06-24</c:v>
                </c:pt>
                <c:pt idx="90">
                  <c:v>2015-06-25</c:v>
                </c:pt>
                <c:pt idx="91">
                  <c:v>2015-06-26</c:v>
                </c:pt>
                <c:pt idx="92">
                  <c:v>2015-06-29</c:v>
                </c:pt>
                <c:pt idx="93">
                  <c:v>2015-06-30</c:v>
                </c:pt>
                <c:pt idx="94">
                  <c:v>2015-07-01</c:v>
                </c:pt>
                <c:pt idx="95">
                  <c:v>2015-07-02</c:v>
                </c:pt>
                <c:pt idx="96">
                  <c:v>2015-07-06</c:v>
                </c:pt>
                <c:pt idx="97">
                  <c:v>2015-07-07</c:v>
                </c:pt>
                <c:pt idx="98">
                  <c:v>2015-07-08</c:v>
                </c:pt>
                <c:pt idx="99">
                  <c:v>2015-07-09</c:v>
                </c:pt>
                <c:pt idx="100">
                  <c:v>2015-07-10</c:v>
                </c:pt>
                <c:pt idx="101">
                  <c:v>2015-07-13</c:v>
                </c:pt>
                <c:pt idx="102">
                  <c:v>2015-07-14</c:v>
                </c:pt>
                <c:pt idx="103">
                  <c:v>2015-07-15</c:v>
                </c:pt>
                <c:pt idx="104">
                  <c:v>2015-07-16</c:v>
                </c:pt>
                <c:pt idx="105">
                  <c:v>2015-07-17</c:v>
                </c:pt>
                <c:pt idx="106">
                  <c:v>2015-07-20</c:v>
                </c:pt>
                <c:pt idx="107">
                  <c:v>2015-07-21</c:v>
                </c:pt>
                <c:pt idx="108">
                  <c:v>2015-07-22</c:v>
                </c:pt>
                <c:pt idx="109">
                  <c:v>2015-07-23</c:v>
                </c:pt>
                <c:pt idx="110">
                  <c:v>2015-07-24</c:v>
                </c:pt>
                <c:pt idx="111">
                  <c:v>2015-07-27</c:v>
                </c:pt>
                <c:pt idx="112">
                  <c:v>2015-07-28</c:v>
                </c:pt>
                <c:pt idx="113">
                  <c:v>2015-07-29</c:v>
                </c:pt>
                <c:pt idx="114">
                  <c:v>2015-07-30</c:v>
                </c:pt>
                <c:pt idx="115">
                  <c:v>2015-07-31</c:v>
                </c:pt>
                <c:pt idx="116">
                  <c:v>2015-08-03</c:v>
                </c:pt>
                <c:pt idx="117">
                  <c:v>2015-08-04</c:v>
                </c:pt>
                <c:pt idx="118">
                  <c:v>2015-08-05</c:v>
                </c:pt>
                <c:pt idx="119">
                  <c:v>2015-08-06</c:v>
                </c:pt>
                <c:pt idx="120">
                  <c:v>2015-08-07</c:v>
                </c:pt>
                <c:pt idx="121">
                  <c:v>2015-08-10</c:v>
                </c:pt>
                <c:pt idx="122">
                  <c:v>2015-08-11</c:v>
                </c:pt>
                <c:pt idx="123">
                  <c:v>2015-08-12</c:v>
                </c:pt>
                <c:pt idx="124">
                  <c:v>2015-08-13</c:v>
                </c:pt>
                <c:pt idx="125">
                  <c:v>2015-08-14</c:v>
                </c:pt>
                <c:pt idx="126">
                  <c:v>2015-08-17</c:v>
                </c:pt>
                <c:pt idx="127">
                  <c:v>2015-08-18</c:v>
                </c:pt>
                <c:pt idx="128">
                  <c:v>2015-08-19</c:v>
                </c:pt>
                <c:pt idx="129">
                  <c:v>2015-08-20</c:v>
                </c:pt>
                <c:pt idx="130">
                  <c:v>2015-08-21</c:v>
                </c:pt>
                <c:pt idx="131">
                  <c:v>2015-08-24</c:v>
                </c:pt>
                <c:pt idx="132">
                  <c:v>2015-08-25</c:v>
                </c:pt>
                <c:pt idx="133">
                  <c:v>2015-08-26</c:v>
                </c:pt>
                <c:pt idx="134">
                  <c:v>2015-08-27</c:v>
                </c:pt>
                <c:pt idx="135">
                  <c:v>2015-08-28</c:v>
                </c:pt>
                <c:pt idx="136">
                  <c:v>2015-08-31</c:v>
                </c:pt>
                <c:pt idx="137">
                  <c:v>2015-09-01</c:v>
                </c:pt>
                <c:pt idx="138">
                  <c:v>2015-09-02</c:v>
                </c:pt>
                <c:pt idx="139">
                  <c:v>2015-09-03</c:v>
                </c:pt>
                <c:pt idx="140">
                  <c:v>2015-09-04</c:v>
                </c:pt>
                <c:pt idx="141">
                  <c:v>2015-09-08</c:v>
                </c:pt>
                <c:pt idx="142">
                  <c:v>2015-09-09</c:v>
                </c:pt>
                <c:pt idx="143">
                  <c:v>2015-09-10</c:v>
                </c:pt>
                <c:pt idx="144">
                  <c:v>2015-09-11</c:v>
                </c:pt>
                <c:pt idx="145">
                  <c:v>2015-09-14</c:v>
                </c:pt>
                <c:pt idx="146">
                  <c:v>2015-09-15</c:v>
                </c:pt>
                <c:pt idx="147">
                  <c:v>2015-09-16</c:v>
                </c:pt>
                <c:pt idx="148">
                  <c:v>2015-09-17</c:v>
                </c:pt>
                <c:pt idx="149">
                  <c:v>2015-09-18</c:v>
                </c:pt>
                <c:pt idx="150">
                  <c:v>2015-09-21</c:v>
                </c:pt>
                <c:pt idx="151">
                  <c:v>2015-09-22</c:v>
                </c:pt>
                <c:pt idx="152">
                  <c:v>2015-09-23</c:v>
                </c:pt>
                <c:pt idx="153">
                  <c:v>2015-09-24</c:v>
                </c:pt>
                <c:pt idx="154">
                  <c:v>2015-09-25</c:v>
                </c:pt>
                <c:pt idx="155">
                  <c:v>2015-09-28</c:v>
                </c:pt>
                <c:pt idx="156">
                  <c:v>2015-09-29</c:v>
                </c:pt>
                <c:pt idx="157">
                  <c:v>2015-09-30</c:v>
                </c:pt>
                <c:pt idx="158">
                  <c:v>2015-10-01</c:v>
                </c:pt>
                <c:pt idx="159">
                  <c:v>2015-10-02</c:v>
                </c:pt>
                <c:pt idx="160">
                  <c:v>2015-10-05</c:v>
                </c:pt>
                <c:pt idx="161">
                  <c:v>2015-10-06</c:v>
                </c:pt>
                <c:pt idx="162">
                  <c:v>2015-10-07</c:v>
                </c:pt>
                <c:pt idx="163">
                  <c:v>2015-10-08</c:v>
                </c:pt>
                <c:pt idx="164">
                  <c:v>2015-10-09</c:v>
                </c:pt>
                <c:pt idx="165">
                  <c:v>2015-10-12</c:v>
                </c:pt>
                <c:pt idx="166">
                  <c:v>2015-10-13</c:v>
                </c:pt>
                <c:pt idx="167">
                  <c:v>2015-10-14</c:v>
                </c:pt>
                <c:pt idx="168">
                  <c:v>2015-10-15</c:v>
                </c:pt>
                <c:pt idx="169">
                  <c:v>2015-10-16</c:v>
                </c:pt>
                <c:pt idx="170">
                  <c:v>2015-10-19</c:v>
                </c:pt>
                <c:pt idx="171">
                  <c:v>2015-10-20</c:v>
                </c:pt>
                <c:pt idx="172">
                  <c:v>2015-10-21</c:v>
                </c:pt>
                <c:pt idx="173">
                  <c:v>2015-10-22</c:v>
                </c:pt>
                <c:pt idx="174">
                  <c:v>2015-10-23</c:v>
                </c:pt>
                <c:pt idx="175">
                  <c:v>2015-10-26</c:v>
                </c:pt>
                <c:pt idx="176">
                  <c:v>2015-10-27</c:v>
                </c:pt>
                <c:pt idx="177">
                  <c:v>2015-10-28</c:v>
                </c:pt>
                <c:pt idx="178">
                  <c:v>2015-10-29</c:v>
                </c:pt>
                <c:pt idx="179">
                  <c:v>2015-10-30</c:v>
                </c:pt>
                <c:pt idx="180">
                  <c:v>2015-11-02</c:v>
                </c:pt>
                <c:pt idx="181">
                  <c:v>2015-11-03</c:v>
                </c:pt>
                <c:pt idx="182">
                  <c:v>2015-11-04</c:v>
                </c:pt>
                <c:pt idx="183">
                  <c:v>2015-11-05</c:v>
                </c:pt>
                <c:pt idx="184">
                  <c:v>2015-11-06</c:v>
                </c:pt>
                <c:pt idx="185">
                  <c:v>2015-11-09</c:v>
                </c:pt>
                <c:pt idx="186">
                  <c:v>2015-11-10</c:v>
                </c:pt>
                <c:pt idx="187">
                  <c:v>2015-11-11</c:v>
                </c:pt>
                <c:pt idx="188">
                  <c:v>2015-11-12</c:v>
                </c:pt>
                <c:pt idx="189">
                  <c:v>2015-11-13</c:v>
                </c:pt>
                <c:pt idx="190">
                  <c:v>2015-11-16</c:v>
                </c:pt>
                <c:pt idx="191">
                  <c:v>2015-11-17</c:v>
                </c:pt>
                <c:pt idx="192">
                  <c:v>2015-11-18</c:v>
                </c:pt>
                <c:pt idx="193">
                  <c:v>2015-11-19</c:v>
                </c:pt>
                <c:pt idx="194">
                  <c:v>2015-11-20</c:v>
                </c:pt>
                <c:pt idx="195">
                  <c:v>2015-11-23</c:v>
                </c:pt>
                <c:pt idx="196">
                  <c:v>2015-11-24</c:v>
                </c:pt>
                <c:pt idx="197">
                  <c:v>2015-11-25</c:v>
                </c:pt>
                <c:pt idx="198">
                  <c:v>2015-11-27</c:v>
                </c:pt>
                <c:pt idx="199">
                  <c:v>2015-11-30</c:v>
                </c:pt>
                <c:pt idx="200">
                  <c:v>2015-12-01</c:v>
                </c:pt>
                <c:pt idx="201">
                  <c:v>2015-12-02</c:v>
                </c:pt>
                <c:pt idx="202">
                  <c:v>2015-12-03</c:v>
                </c:pt>
                <c:pt idx="203">
                  <c:v>2015-12-04</c:v>
                </c:pt>
                <c:pt idx="204">
                  <c:v>2015-12-07</c:v>
                </c:pt>
                <c:pt idx="205">
                  <c:v>2015-12-08</c:v>
                </c:pt>
                <c:pt idx="206">
                  <c:v>2015-12-09</c:v>
                </c:pt>
                <c:pt idx="207">
                  <c:v>2015-12-10</c:v>
                </c:pt>
                <c:pt idx="208">
                  <c:v>2015-12-11</c:v>
                </c:pt>
                <c:pt idx="209">
                  <c:v>2015-12-14</c:v>
                </c:pt>
                <c:pt idx="210">
                  <c:v>2015-12-15</c:v>
                </c:pt>
                <c:pt idx="211">
                  <c:v>2015-12-16</c:v>
                </c:pt>
                <c:pt idx="212">
                  <c:v>2015-12-17</c:v>
                </c:pt>
                <c:pt idx="213">
                  <c:v>2015-12-18</c:v>
                </c:pt>
                <c:pt idx="214">
                  <c:v>2015-12-21</c:v>
                </c:pt>
                <c:pt idx="215">
                  <c:v>2015-12-22</c:v>
                </c:pt>
                <c:pt idx="216">
                  <c:v>2015-12-23</c:v>
                </c:pt>
                <c:pt idx="217">
                  <c:v>2015-12-24</c:v>
                </c:pt>
                <c:pt idx="218">
                  <c:v>2015-12-28</c:v>
                </c:pt>
                <c:pt idx="219">
                  <c:v>2015-12-29</c:v>
                </c:pt>
                <c:pt idx="220">
                  <c:v>2015-12-30</c:v>
                </c:pt>
                <c:pt idx="221">
                  <c:v>2015-12-31</c:v>
                </c:pt>
                <c:pt idx="222">
                  <c:v>2016-01-04</c:v>
                </c:pt>
                <c:pt idx="223">
                  <c:v>2016-01-05</c:v>
                </c:pt>
                <c:pt idx="224">
                  <c:v>2016-01-06</c:v>
                </c:pt>
                <c:pt idx="225">
                  <c:v>2016-01-07</c:v>
                </c:pt>
                <c:pt idx="226">
                  <c:v>2016-01-08</c:v>
                </c:pt>
                <c:pt idx="227">
                  <c:v>2016-01-11</c:v>
                </c:pt>
                <c:pt idx="228">
                  <c:v>2016-01-12</c:v>
                </c:pt>
                <c:pt idx="229">
                  <c:v>2016-01-13</c:v>
                </c:pt>
                <c:pt idx="230">
                  <c:v>2016-01-14</c:v>
                </c:pt>
                <c:pt idx="231">
                  <c:v>2016-01-15</c:v>
                </c:pt>
                <c:pt idx="232">
                  <c:v>2016-01-19</c:v>
                </c:pt>
                <c:pt idx="233">
                  <c:v>2016-01-20</c:v>
                </c:pt>
                <c:pt idx="234">
                  <c:v>2016-01-21</c:v>
                </c:pt>
                <c:pt idx="235">
                  <c:v>2016-01-22</c:v>
                </c:pt>
                <c:pt idx="236">
                  <c:v>2016-01-25</c:v>
                </c:pt>
                <c:pt idx="237">
                  <c:v>2016-01-26</c:v>
                </c:pt>
                <c:pt idx="238">
                  <c:v>2016-01-27</c:v>
                </c:pt>
                <c:pt idx="239">
                  <c:v>2016-01-28</c:v>
                </c:pt>
                <c:pt idx="240">
                  <c:v>2016-01-29</c:v>
                </c:pt>
                <c:pt idx="241">
                  <c:v>2016-02-01</c:v>
                </c:pt>
                <c:pt idx="242">
                  <c:v>2016-02-02</c:v>
                </c:pt>
                <c:pt idx="243">
                  <c:v>2016-02-03</c:v>
                </c:pt>
                <c:pt idx="244">
                  <c:v>2016-02-04</c:v>
                </c:pt>
                <c:pt idx="245">
                  <c:v>2016-02-05</c:v>
                </c:pt>
                <c:pt idx="246">
                  <c:v>2016-02-08</c:v>
                </c:pt>
                <c:pt idx="247">
                  <c:v>2016-02-09</c:v>
                </c:pt>
                <c:pt idx="248">
                  <c:v>2016-02-10</c:v>
                </c:pt>
                <c:pt idx="249">
                  <c:v>2016-02-11</c:v>
                </c:pt>
                <c:pt idx="250">
                  <c:v>2016-02-12</c:v>
                </c:pt>
                <c:pt idx="251">
                  <c:v>2016-02-16</c:v>
                </c:pt>
                <c:pt idx="252">
                  <c:v>2016-02-17</c:v>
                </c:pt>
                <c:pt idx="253">
                  <c:v>2016-02-18</c:v>
                </c:pt>
                <c:pt idx="254">
                  <c:v>2016-02-19</c:v>
                </c:pt>
                <c:pt idx="255">
                  <c:v>2016-02-22</c:v>
                </c:pt>
                <c:pt idx="256">
                  <c:v>2016-02-23</c:v>
                </c:pt>
                <c:pt idx="257">
                  <c:v>2016-02-24</c:v>
                </c:pt>
                <c:pt idx="258">
                  <c:v>2016-02-25</c:v>
                </c:pt>
                <c:pt idx="259">
                  <c:v>2016-02-26</c:v>
                </c:pt>
                <c:pt idx="260">
                  <c:v>2016-02-29</c:v>
                </c:pt>
                <c:pt idx="261">
                  <c:v>2016-03-01</c:v>
                </c:pt>
                <c:pt idx="262">
                  <c:v>2016-03-02</c:v>
                </c:pt>
                <c:pt idx="263">
                  <c:v>2016-03-03</c:v>
                </c:pt>
                <c:pt idx="264">
                  <c:v>2016-03-04</c:v>
                </c:pt>
                <c:pt idx="265">
                  <c:v>2016-03-07</c:v>
                </c:pt>
                <c:pt idx="266">
                  <c:v>2016-03-08</c:v>
                </c:pt>
                <c:pt idx="267">
                  <c:v>2016-03-09</c:v>
                </c:pt>
                <c:pt idx="268">
                  <c:v>2016-03-10</c:v>
                </c:pt>
                <c:pt idx="269">
                  <c:v>2016-03-11</c:v>
                </c:pt>
                <c:pt idx="270">
                  <c:v>2016-03-14</c:v>
                </c:pt>
                <c:pt idx="271">
                  <c:v>2016-03-15</c:v>
                </c:pt>
                <c:pt idx="272">
                  <c:v>2016-03-16</c:v>
                </c:pt>
                <c:pt idx="273">
                  <c:v>2016-03-17</c:v>
                </c:pt>
                <c:pt idx="274">
                  <c:v>2016-03-18</c:v>
                </c:pt>
                <c:pt idx="275">
                  <c:v>2016-03-21</c:v>
                </c:pt>
                <c:pt idx="276">
                  <c:v>2016-03-22</c:v>
                </c:pt>
                <c:pt idx="277">
                  <c:v>2016-03-23</c:v>
                </c:pt>
                <c:pt idx="278">
                  <c:v>2016-03-24</c:v>
                </c:pt>
                <c:pt idx="279">
                  <c:v>2016-03-28</c:v>
                </c:pt>
                <c:pt idx="280">
                  <c:v>2016-03-29</c:v>
                </c:pt>
                <c:pt idx="281">
                  <c:v>2016-03-30</c:v>
                </c:pt>
                <c:pt idx="282">
                  <c:v>2016-03-31</c:v>
                </c:pt>
                <c:pt idx="283">
                  <c:v>2016-04-01</c:v>
                </c:pt>
                <c:pt idx="284">
                  <c:v>2016-04-04</c:v>
                </c:pt>
                <c:pt idx="285">
                  <c:v>2016-04-05</c:v>
                </c:pt>
                <c:pt idx="286">
                  <c:v>2016-04-06</c:v>
                </c:pt>
                <c:pt idx="287">
                  <c:v>2016-04-07</c:v>
                </c:pt>
                <c:pt idx="288">
                  <c:v>2016-04-08</c:v>
                </c:pt>
                <c:pt idx="289">
                  <c:v>2016-04-11</c:v>
                </c:pt>
                <c:pt idx="290">
                  <c:v>2016-04-12</c:v>
                </c:pt>
                <c:pt idx="291">
                  <c:v>2016-04-13</c:v>
                </c:pt>
                <c:pt idx="292">
                  <c:v>2016-04-14</c:v>
                </c:pt>
                <c:pt idx="293">
                  <c:v>2016-04-15</c:v>
                </c:pt>
                <c:pt idx="294">
                  <c:v>2016-04-18</c:v>
                </c:pt>
                <c:pt idx="295">
                  <c:v>2016-04-19</c:v>
                </c:pt>
                <c:pt idx="296">
                  <c:v>2016-04-20</c:v>
                </c:pt>
                <c:pt idx="297">
                  <c:v>2016-04-21</c:v>
                </c:pt>
                <c:pt idx="298">
                  <c:v>2016-04-22</c:v>
                </c:pt>
                <c:pt idx="299">
                  <c:v>2016-04-25</c:v>
                </c:pt>
                <c:pt idx="300">
                  <c:v>2016-04-26</c:v>
                </c:pt>
                <c:pt idx="301">
                  <c:v>2016-04-27</c:v>
                </c:pt>
                <c:pt idx="302">
                  <c:v>2016-04-28</c:v>
                </c:pt>
                <c:pt idx="303">
                  <c:v>2016-04-29</c:v>
                </c:pt>
                <c:pt idx="304">
                  <c:v>2016-05-02</c:v>
                </c:pt>
                <c:pt idx="305">
                  <c:v>2016-05-03</c:v>
                </c:pt>
                <c:pt idx="306">
                  <c:v>2016-05-04</c:v>
                </c:pt>
                <c:pt idx="307">
                  <c:v>2016-05-05</c:v>
                </c:pt>
                <c:pt idx="308">
                  <c:v>2016-05-06</c:v>
                </c:pt>
                <c:pt idx="309">
                  <c:v>2016-05-09</c:v>
                </c:pt>
                <c:pt idx="310">
                  <c:v>2016-05-10</c:v>
                </c:pt>
                <c:pt idx="311">
                  <c:v>2016-05-11</c:v>
                </c:pt>
                <c:pt idx="312">
                  <c:v>2016-05-12</c:v>
                </c:pt>
                <c:pt idx="313">
                  <c:v>2016-05-13</c:v>
                </c:pt>
                <c:pt idx="314">
                  <c:v>2016-05-16</c:v>
                </c:pt>
                <c:pt idx="315">
                  <c:v>2016-05-17</c:v>
                </c:pt>
                <c:pt idx="316">
                  <c:v>2016-05-18</c:v>
                </c:pt>
                <c:pt idx="317">
                  <c:v>2016-05-19</c:v>
                </c:pt>
                <c:pt idx="318">
                  <c:v>2016-05-20</c:v>
                </c:pt>
                <c:pt idx="319">
                  <c:v>2016-05-23</c:v>
                </c:pt>
                <c:pt idx="320">
                  <c:v>2016-05-24</c:v>
                </c:pt>
                <c:pt idx="321">
                  <c:v>2016-05-25</c:v>
                </c:pt>
                <c:pt idx="322">
                  <c:v>2016-05-26</c:v>
                </c:pt>
                <c:pt idx="323">
                  <c:v>2016-05-27</c:v>
                </c:pt>
                <c:pt idx="324">
                  <c:v>2016-05-31</c:v>
                </c:pt>
                <c:pt idx="325">
                  <c:v>2016-06-01</c:v>
                </c:pt>
                <c:pt idx="326">
                  <c:v>2016-06-02</c:v>
                </c:pt>
                <c:pt idx="327">
                  <c:v>2016-06-03</c:v>
                </c:pt>
                <c:pt idx="328">
                  <c:v>2016-06-06</c:v>
                </c:pt>
                <c:pt idx="329">
                  <c:v>2016-06-07</c:v>
                </c:pt>
                <c:pt idx="330">
                  <c:v>2016-06-08</c:v>
                </c:pt>
                <c:pt idx="331">
                  <c:v>2016-06-09</c:v>
                </c:pt>
                <c:pt idx="332">
                  <c:v>2016-06-10</c:v>
                </c:pt>
                <c:pt idx="333">
                  <c:v>2016-06-13</c:v>
                </c:pt>
                <c:pt idx="334">
                  <c:v>2016-06-14</c:v>
                </c:pt>
                <c:pt idx="335">
                  <c:v>2016-06-15</c:v>
                </c:pt>
                <c:pt idx="336">
                  <c:v>2016-06-16</c:v>
                </c:pt>
                <c:pt idx="337">
                  <c:v>2016-06-17</c:v>
                </c:pt>
                <c:pt idx="338">
                  <c:v>2016-06-20</c:v>
                </c:pt>
                <c:pt idx="339">
                  <c:v>2016-06-21</c:v>
                </c:pt>
                <c:pt idx="340">
                  <c:v>2016-06-22</c:v>
                </c:pt>
                <c:pt idx="341">
                  <c:v>2016-06-23</c:v>
                </c:pt>
                <c:pt idx="342">
                  <c:v>2016-06-24</c:v>
                </c:pt>
                <c:pt idx="343">
                  <c:v>2016-06-27</c:v>
                </c:pt>
                <c:pt idx="344">
                  <c:v>2016-06-28</c:v>
                </c:pt>
                <c:pt idx="345">
                  <c:v>2016-06-29</c:v>
                </c:pt>
                <c:pt idx="346">
                  <c:v>2016-06-30</c:v>
                </c:pt>
                <c:pt idx="347">
                  <c:v>2016-07-01</c:v>
                </c:pt>
                <c:pt idx="348">
                  <c:v>2016-07-05</c:v>
                </c:pt>
                <c:pt idx="349">
                  <c:v>2016-07-06</c:v>
                </c:pt>
                <c:pt idx="350">
                  <c:v>2016-07-07</c:v>
                </c:pt>
                <c:pt idx="351">
                  <c:v>2016-07-08</c:v>
                </c:pt>
                <c:pt idx="352">
                  <c:v>2016-07-11</c:v>
                </c:pt>
                <c:pt idx="353">
                  <c:v>2016-07-12</c:v>
                </c:pt>
                <c:pt idx="354">
                  <c:v>2016-07-13</c:v>
                </c:pt>
                <c:pt idx="355">
                  <c:v>2016-07-14</c:v>
                </c:pt>
                <c:pt idx="356">
                  <c:v>2016-07-15</c:v>
                </c:pt>
                <c:pt idx="357">
                  <c:v>2016-07-18</c:v>
                </c:pt>
                <c:pt idx="358">
                  <c:v>2016-07-19</c:v>
                </c:pt>
                <c:pt idx="359">
                  <c:v>2016-07-20</c:v>
                </c:pt>
                <c:pt idx="360">
                  <c:v>2016-07-21</c:v>
                </c:pt>
                <c:pt idx="361">
                  <c:v>2016-07-22</c:v>
                </c:pt>
                <c:pt idx="362">
                  <c:v>2016-07-25</c:v>
                </c:pt>
                <c:pt idx="363">
                  <c:v>2016-07-26</c:v>
                </c:pt>
                <c:pt idx="364">
                  <c:v>2016-07-27</c:v>
                </c:pt>
                <c:pt idx="365">
                  <c:v>2016-07-28</c:v>
                </c:pt>
                <c:pt idx="366">
                  <c:v>2016-07-29</c:v>
                </c:pt>
                <c:pt idx="367">
                  <c:v>2016-08-01</c:v>
                </c:pt>
                <c:pt idx="368">
                  <c:v>2016-08-02</c:v>
                </c:pt>
                <c:pt idx="369">
                  <c:v>2016-08-03</c:v>
                </c:pt>
                <c:pt idx="370">
                  <c:v>2016-08-04</c:v>
                </c:pt>
                <c:pt idx="371">
                  <c:v>2016-08-05</c:v>
                </c:pt>
                <c:pt idx="372">
                  <c:v>2016-08-08</c:v>
                </c:pt>
                <c:pt idx="373">
                  <c:v>2016-08-09</c:v>
                </c:pt>
                <c:pt idx="374">
                  <c:v>2016-08-10</c:v>
                </c:pt>
                <c:pt idx="375">
                  <c:v>2016-08-11</c:v>
                </c:pt>
                <c:pt idx="376">
                  <c:v>2016-08-12</c:v>
                </c:pt>
                <c:pt idx="377">
                  <c:v>2016-08-15</c:v>
                </c:pt>
                <c:pt idx="378">
                  <c:v>2016-08-16</c:v>
                </c:pt>
                <c:pt idx="379">
                  <c:v>2016-08-17</c:v>
                </c:pt>
                <c:pt idx="380">
                  <c:v>2016-08-18</c:v>
                </c:pt>
                <c:pt idx="381">
                  <c:v>2016-08-19</c:v>
                </c:pt>
                <c:pt idx="382">
                  <c:v>2016-08-22</c:v>
                </c:pt>
                <c:pt idx="383">
                  <c:v>2016-08-23</c:v>
                </c:pt>
                <c:pt idx="384">
                  <c:v>2016-08-24</c:v>
                </c:pt>
                <c:pt idx="385">
                  <c:v>2016-08-25</c:v>
                </c:pt>
                <c:pt idx="386">
                  <c:v>2016-08-26</c:v>
                </c:pt>
                <c:pt idx="387">
                  <c:v>2016-08-29</c:v>
                </c:pt>
                <c:pt idx="388">
                  <c:v>2016-08-30</c:v>
                </c:pt>
                <c:pt idx="389">
                  <c:v>2016-08-31</c:v>
                </c:pt>
                <c:pt idx="390">
                  <c:v>2016-09-01</c:v>
                </c:pt>
                <c:pt idx="391">
                  <c:v>2016-09-02</c:v>
                </c:pt>
                <c:pt idx="392">
                  <c:v>2016-09-06</c:v>
                </c:pt>
                <c:pt idx="393">
                  <c:v>2016-09-07</c:v>
                </c:pt>
                <c:pt idx="394">
                  <c:v>2016-09-08</c:v>
                </c:pt>
                <c:pt idx="395">
                  <c:v>2016-09-09</c:v>
                </c:pt>
                <c:pt idx="396">
                  <c:v>2016-09-12</c:v>
                </c:pt>
                <c:pt idx="397">
                  <c:v>2016-09-13</c:v>
                </c:pt>
                <c:pt idx="398">
                  <c:v>2016-09-14</c:v>
                </c:pt>
                <c:pt idx="399">
                  <c:v>2016-09-15</c:v>
                </c:pt>
                <c:pt idx="400">
                  <c:v>2016-09-16</c:v>
                </c:pt>
                <c:pt idx="401">
                  <c:v>2016-09-19</c:v>
                </c:pt>
                <c:pt idx="402">
                  <c:v>2016-09-20</c:v>
                </c:pt>
                <c:pt idx="403">
                  <c:v>2016-09-21</c:v>
                </c:pt>
                <c:pt idx="404">
                  <c:v>2016-09-22</c:v>
                </c:pt>
                <c:pt idx="405">
                  <c:v>2016-09-23</c:v>
                </c:pt>
                <c:pt idx="406">
                  <c:v>2016-09-26</c:v>
                </c:pt>
                <c:pt idx="407">
                  <c:v>2016-09-27</c:v>
                </c:pt>
                <c:pt idx="408">
                  <c:v>2016-09-28</c:v>
                </c:pt>
                <c:pt idx="409">
                  <c:v>2016-09-29</c:v>
                </c:pt>
                <c:pt idx="410">
                  <c:v>2016-09-30</c:v>
                </c:pt>
                <c:pt idx="411">
                  <c:v>2016-10-03</c:v>
                </c:pt>
                <c:pt idx="412">
                  <c:v>2016-10-04</c:v>
                </c:pt>
                <c:pt idx="413">
                  <c:v>2016-10-05</c:v>
                </c:pt>
                <c:pt idx="414">
                  <c:v>2016-10-06</c:v>
                </c:pt>
                <c:pt idx="415">
                  <c:v>2016-10-07</c:v>
                </c:pt>
                <c:pt idx="416">
                  <c:v>2016-10-10</c:v>
                </c:pt>
                <c:pt idx="417">
                  <c:v>2016-10-11</c:v>
                </c:pt>
                <c:pt idx="418">
                  <c:v>2016-10-12</c:v>
                </c:pt>
                <c:pt idx="419">
                  <c:v>2016-10-13</c:v>
                </c:pt>
                <c:pt idx="420">
                  <c:v>2016-10-14</c:v>
                </c:pt>
                <c:pt idx="421">
                  <c:v>2016-10-17</c:v>
                </c:pt>
                <c:pt idx="422">
                  <c:v>2016-10-18</c:v>
                </c:pt>
                <c:pt idx="423">
                  <c:v>2016-10-19</c:v>
                </c:pt>
                <c:pt idx="424">
                  <c:v>2016-10-20</c:v>
                </c:pt>
                <c:pt idx="425">
                  <c:v>2016-10-21</c:v>
                </c:pt>
                <c:pt idx="426">
                  <c:v>2016-10-24</c:v>
                </c:pt>
                <c:pt idx="427">
                  <c:v>2016-10-25</c:v>
                </c:pt>
                <c:pt idx="428">
                  <c:v>2016-10-26</c:v>
                </c:pt>
                <c:pt idx="429">
                  <c:v>2016-10-27</c:v>
                </c:pt>
                <c:pt idx="430">
                  <c:v>2016-10-28</c:v>
                </c:pt>
                <c:pt idx="431">
                  <c:v>2016-10-31</c:v>
                </c:pt>
                <c:pt idx="432">
                  <c:v>2016-11-01</c:v>
                </c:pt>
                <c:pt idx="433">
                  <c:v>2016-11-02</c:v>
                </c:pt>
                <c:pt idx="434">
                  <c:v>2016-11-03</c:v>
                </c:pt>
                <c:pt idx="435">
                  <c:v>2016-11-04</c:v>
                </c:pt>
                <c:pt idx="436">
                  <c:v>2016-11-07</c:v>
                </c:pt>
                <c:pt idx="437">
                  <c:v>2016-11-08</c:v>
                </c:pt>
                <c:pt idx="438">
                  <c:v>2016-11-09</c:v>
                </c:pt>
                <c:pt idx="439">
                  <c:v>2016-11-10</c:v>
                </c:pt>
                <c:pt idx="440">
                  <c:v>2016-11-11</c:v>
                </c:pt>
                <c:pt idx="441">
                  <c:v>2016-11-14</c:v>
                </c:pt>
                <c:pt idx="442">
                  <c:v>2016-11-15</c:v>
                </c:pt>
                <c:pt idx="443">
                  <c:v>2016-11-16</c:v>
                </c:pt>
                <c:pt idx="444">
                  <c:v>2016-11-17</c:v>
                </c:pt>
                <c:pt idx="445">
                  <c:v>2016-11-18</c:v>
                </c:pt>
                <c:pt idx="446">
                  <c:v>2016-11-21</c:v>
                </c:pt>
                <c:pt idx="447">
                  <c:v>2016-11-22</c:v>
                </c:pt>
                <c:pt idx="448">
                  <c:v>2016-11-23</c:v>
                </c:pt>
                <c:pt idx="449">
                  <c:v>2016-11-25</c:v>
                </c:pt>
                <c:pt idx="450">
                  <c:v>2016-11-28</c:v>
                </c:pt>
                <c:pt idx="451">
                  <c:v>2016-11-29</c:v>
                </c:pt>
                <c:pt idx="452">
                  <c:v>2016-11-30</c:v>
                </c:pt>
                <c:pt idx="453">
                  <c:v>2016-12-01</c:v>
                </c:pt>
                <c:pt idx="454">
                  <c:v>2016-12-02</c:v>
                </c:pt>
                <c:pt idx="455">
                  <c:v>2016-12-05</c:v>
                </c:pt>
                <c:pt idx="456">
                  <c:v>2016-12-06</c:v>
                </c:pt>
                <c:pt idx="457">
                  <c:v>2016-12-07</c:v>
                </c:pt>
                <c:pt idx="458">
                  <c:v>2016-12-08</c:v>
                </c:pt>
                <c:pt idx="459">
                  <c:v>2016-12-09</c:v>
                </c:pt>
                <c:pt idx="460">
                  <c:v>2016-12-12</c:v>
                </c:pt>
                <c:pt idx="461">
                  <c:v>2016-12-13</c:v>
                </c:pt>
                <c:pt idx="462">
                  <c:v>2016-12-14</c:v>
                </c:pt>
                <c:pt idx="463">
                  <c:v>2016-12-15</c:v>
                </c:pt>
                <c:pt idx="464">
                  <c:v>2016-12-16</c:v>
                </c:pt>
                <c:pt idx="465">
                  <c:v>2016-12-19</c:v>
                </c:pt>
                <c:pt idx="466">
                  <c:v>2016-12-20</c:v>
                </c:pt>
                <c:pt idx="467">
                  <c:v>2016-12-21</c:v>
                </c:pt>
                <c:pt idx="468">
                  <c:v>2016-12-22</c:v>
                </c:pt>
                <c:pt idx="469">
                  <c:v>2016-12-23</c:v>
                </c:pt>
                <c:pt idx="470">
                  <c:v>2016-12-27</c:v>
                </c:pt>
                <c:pt idx="471">
                  <c:v>2016-12-28</c:v>
                </c:pt>
                <c:pt idx="472">
                  <c:v>2016-12-29</c:v>
                </c:pt>
                <c:pt idx="473">
                  <c:v>2016-12-30</c:v>
                </c:pt>
                <c:pt idx="474">
                  <c:v>2017-01-03</c:v>
                </c:pt>
                <c:pt idx="475">
                  <c:v>2017-01-04</c:v>
                </c:pt>
                <c:pt idx="476">
                  <c:v>2017-01-05</c:v>
                </c:pt>
                <c:pt idx="477">
                  <c:v>2017-01-06</c:v>
                </c:pt>
                <c:pt idx="478">
                  <c:v>2017-01-09</c:v>
                </c:pt>
                <c:pt idx="479">
                  <c:v>2017-01-10</c:v>
                </c:pt>
                <c:pt idx="480">
                  <c:v>2017-01-11</c:v>
                </c:pt>
                <c:pt idx="481">
                  <c:v>2017-01-12</c:v>
                </c:pt>
                <c:pt idx="482">
                  <c:v>2017-01-13</c:v>
                </c:pt>
                <c:pt idx="483">
                  <c:v>2017-01-17</c:v>
                </c:pt>
                <c:pt idx="484">
                  <c:v>2017-01-18</c:v>
                </c:pt>
                <c:pt idx="485">
                  <c:v>2017-01-19</c:v>
                </c:pt>
                <c:pt idx="486">
                  <c:v>2017-01-20</c:v>
                </c:pt>
                <c:pt idx="487">
                  <c:v>2017-01-23</c:v>
                </c:pt>
                <c:pt idx="488">
                  <c:v>2017-01-24</c:v>
                </c:pt>
                <c:pt idx="489">
                  <c:v>2017-01-25</c:v>
                </c:pt>
                <c:pt idx="490">
                  <c:v>2017-01-26</c:v>
                </c:pt>
                <c:pt idx="491">
                  <c:v>2017-01-27</c:v>
                </c:pt>
                <c:pt idx="492">
                  <c:v>2017-01-30</c:v>
                </c:pt>
                <c:pt idx="493">
                  <c:v>2017-01-31</c:v>
                </c:pt>
                <c:pt idx="494">
                  <c:v>2017-02-01</c:v>
                </c:pt>
                <c:pt idx="495">
                  <c:v>2017-02-02</c:v>
                </c:pt>
                <c:pt idx="496">
                  <c:v>2017-02-03</c:v>
                </c:pt>
                <c:pt idx="497">
                  <c:v>2017-02-06</c:v>
                </c:pt>
                <c:pt idx="498">
                  <c:v>2017-02-07</c:v>
                </c:pt>
                <c:pt idx="499">
                  <c:v>2017-02-08</c:v>
                </c:pt>
                <c:pt idx="500">
                  <c:v>2017-02-09</c:v>
                </c:pt>
                <c:pt idx="501">
                  <c:v>2017-02-10</c:v>
                </c:pt>
                <c:pt idx="502">
                  <c:v>2017-02-13</c:v>
                </c:pt>
                <c:pt idx="503">
                  <c:v>2017-02-14</c:v>
                </c:pt>
                <c:pt idx="504">
                  <c:v>2017-02-15</c:v>
                </c:pt>
                <c:pt idx="505">
                  <c:v>2017-02-16</c:v>
                </c:pt>
              </c:strCache>
            </c:strRef>
          </c:cat>
          <c:val>
            <c:numRef>
              <c:f>'Chart Data'!$B$2:$B$507</c:f>
              <c:numCache>
                <c:formatCode>$0</c:formatCode>
                <c:ptCount val="506"/>
                <c:pt idx="0">
                  <c:v>127.830002</c:v>
                </c:pt>
                <c:pt idx="1">
                  <c:v>128.720001</c:v>
                </c:pt>
                <c:pt idx="2">
                  <c:v>128.449997</c:v>
                </c:pt>
                <c:pt idx="3">
                  <c:v>129.5</c:v>
                </c:pt>
                <c:pt idx="4">
                  <c:v>133</c:v>
                </c:pt>
                <c:pt idx="5">
                  <c:v>132.169998</c:v>
                </c:pt>
                <c:pt idx="6">
                  <c:v>128.789993</c:v>
                </c:pt>
                <c:pt idx="7">
                  <c:v>130.419998</c:v>
                </c:pt>
                <c:pt idx="8">
                  <c:v>128.460007</c:v>
                </c:pt>
                <c:pt idx="9">
                  <c:v>129.089996</c:v>
                </c:pt>
                <c:pt idx="10">
                  <c:v>129.360001</c:v>
                </c:pt>
                <c:pt idx="11">
                  <c:v>128.539993</c:v>
                </c:pt>
                <c:pt idx="12">
                  <c:v>126.410004</c:v>
                </c:pt>
                <c:pt idx="13">
                  <c:v>126.599998</c:v>
                </c:pt>
                <c:pt idx="14">
                  <c:v>127.139999</c:v>
                </c:pt>
                <c:pt idx="15">
                  <c:v>124.510002</c:v>
                </c:pt>
                <c:pt idx="16">
                  <c:v>122.239998</c:v>
                </c:pt>
                <c:pt idx="17">
                  <c:v>124.449997</c:v>
                </c:pt>
                <c:pt idx="18">
                  <c:v>123.589996</c:v>
                </c:pt>
                <c:pt idx="19">
                  <c:v>124.949997</c:v>
                </c:pt>
                <c:pt idx="20">
                  <c:v>127.040001</c:v>
                </c:pt>
                <c:pt idx="21">
                  <c:v>128.470001</c:v>
                </c:pt>
                <c:pt idx="22">
                  <c:v>127.5</c:v>
                </c:pt>
                <c:pt idx="23">
                  <c:v>125.900002</c:v>
                </c:pt>
                <c:pt idx="24">
                  <c:v>127.209999</c:v>
                </c:pt>
                <c:pt idx="25">
                  <c:v>126.690002</c:v>
                </c:pt>
                <c:pt idx="26">
                  <c:v>123.379997</c:v>
                </c:pt>
                <c:pt idx="27">
                  <c:v>124.239998</c:v>
                </c:pt>
                <c:pt idx="28">
                  <c:v>123.25</c:v>
                </c:pt>
                <c:pt idx="29">
                  <c:v>126.370003</c:v>
                </c:pt>
                <c:pt idx="30">
                  <c:v>124.43</c:v>
                </c:pt>
                <c:pt idx="31">
                  <c:v>124.25</c:v>
                </c:pt>
                <c:pt idx="32">
                  <c:v>125.32</c:v>
                </c:pt>
                <c:pt idx="33">
                  <c:v>127.349998</c:v>
                </c:pt>
                <c:pt idx="34">
                  <c:v>126.010002</c:v>
                </c:pt>
                <c:pt idx="35">
                  <c:v>125.599998</c:v>
                </c:pt>
                <c:pt idx="36">
                  <c:v>126.559998</c:v>
                </c:pt>
                <c:pt idx="37">
                  <c:v>127.099998</c:v>
                </c:pt>
                <c:pt idx="38">
                  <c:v>126.849998</c:v>
                </c:pt>
                <c:pt idx="39">
                  <c:v>126.300003</c:v>
                </c:pt>
                <c:pt idx="40">
                  <c:v>126.779999</c:v>
                </c:pt>
                <c:pt idx="41">
                  <c:v>126.169998</c:v>
                </c:pt>
                <c:pt idx="42">
                  <c:v>124.75</c:v>
                </c:pt>
                <c:pt idx="43">
                  <c:v>127.599998</c:v>
                </c:pt>
                <c:pt idx="44">
                  <c:v>126.910004</c:v>
                </c:pt>
                <c:pt idx="45">
                  <c:v>128.619995</c:v>
                </c:pt>
                <c:pt idx="46">
                  <c:v>129.669998</c:v>
                </c:pt>
                <c:pt idx="47">
                  <c:v>130.279999</c:v>
                </c:pt>
                <c:pt idx="48">
                  <c:v>132.649994</c:v>
                </c:pt>
                <c:pt idx="49">
                  <c:v>130.559998</c:v>
                </c:pt>
                <c:pt idx="50">
                  <c:v>128.639999</c:v>
                </c:pt>
                <c:pt idx="51">
                  <c:v>125.150002</c:v>
                </c:pt>
                <c:pt idx="52">
                  <c:v>128.949997</c:v>
                </c:pt>
                <c:pt idx="53">
                  <c:v>128.699997</c:v>
                </c:pt>
                <c:pt idx="54">
                  <c:v>125.800003</c:v>
                </c:pt>
                <c:pt idx="55">
                  <c:v>125.010002</c:v>
                </c:pt>
                <c:pt idx="56">
                  <c:v>125.260002</c:v>
                </c:pt>
                <c:pt idx="57">
                  <c:v>127.620003</c:v>
                </c:pt>
                <c:pt idx="58">
                  <c:v>126.32</c:v>
                </c:pt>
                <c:pt idx="59">
                  <c:v>125.870003</c:v>
                </c:pt>
                <c:pt idx="60">
                  <c:v>126.010002</c:v>
                </c:pt>
                <c:pt idx="61">
                  <c:v>128.949997</c:v>
                </c:pt>
                <c:pt idx="62">
                  <c:v>128.770004</c:v>
                </c:pt>
                <c:pt idx="63">
                  <c:v>130.190002</c:v>
                </c:pt>
                <c:pt idx="64">
                  <c:v>130.070007</c:v>
                </c:pt>
                <c:pt idx="65">
                  <c:v>130.059998</c:v>
                </c:pt>
                <c:pt idx="66">
                  <c:v>131.389999</c:v>
                </c:pt>
                <c:pt idx="67">
                  <c:v>132.539993</c:v>
                </c:pt>
                <c:pt idx="68">
                  <c:v>129.619995</c:v>
                </c:pt>
                <c:pt idx="69">
                  <c:v>132.039993</c:v>
                </c:pt>
                <c:pt idx="70">
                  <c:v>131.779999</c:v>
                </c:pt>
                <c:pt idx="71">
                  <c:v>130.279999</c:v>
                </c:pt>
                <c:pt idx="72">
                  <c:v>130.539993</c:v>
                </c:pt>
                <c:pt idx="73">
                  <c:v>129.960007</c:v>
                </c:pt>
                <c:pt idx="74">
                  <c:v>130.119995</c:v>
                </c:pt>
                <c:pt idx="75">
                  <c:v>129.360001</c:v>
                </c:pt>
                <c:pt idx="76">
                  <c:v>128.649994</c:v>
                </c:pt>
                <c:pt idx="77">
                  <c:v>127.800003</c:v>
                </c:pt>
                <c:pt idx="78">
                  <c:v>127.419998</c:v>
                </c:pt>
                <c:pt idx="79">
                  <c:v>128.880005</c:v>
                </c:pt>
                <c:pt idx="80">
                  <c:v>128.589996</c:v>
                </c:pt>
                <c:pt idx="81">
                  <c:v>127.169998</c:v>
                </c:pt>
                <c:pt idx="82">
                  <c:v>126.919998</c:v>
                </c:pt>
                <c:pt idx="83">
                  <c:v>127.599998</c:v>
                </c:pt>
                <c:pt idx="84">
                  <c:v>127.300003</c:v>
                </c:pt>
                <c:pt idx="85">
                  <c:v>127.879997</c:v>
                </c:pt>
                <c:pt idx="86">
                  <c:v>126.599998</c:v>
                </c:pt>
                <c:pt idx="87">
                  <c:v>127.610001</c:v>
                </c:pt>
                <c:pt idx="88">
                  <c:v>127.029999</c:v>
                </c:pt>
                <c:pt idx="89">
                  <c:v>128.110001</c:v>
                </c:pt>
                <c:pt idx="90">
                  <c:v>127.5</c:v>
                </c:pt>
                <c:pt idx="91">
                  <c:v>126.75</c:v>
                </c:pt>
                <c:pt idx="92">
                  <c:v>124.529999</c:v>
                </c:pt>
                <c:pt idx="93">
                  <c:v>125.43</c:v>
                </c:pt>
                <c:pt idx="94">
                  <c:v>126.599998</c:v>
                </c:pt>
                <c:pt idx="95">
                  <c:v>126.440002</c:v>
                </c:pt>
                <c:pt idx="96">
                  <c:v>126</c:v>
                </c:pt>
                <c:pt idx="97">
                  <c:v>125.690002</c:v>
                </c:pt>
                <c:pt idx="98">
                  <c:v>122.57</c:v>
                </c:pt>
                <c:pt idx="99">
                  <c:v>120.07</c:v>
                </c:pt>
                <c:pt idx="100">
                  <c:v>123.279999</c:v>
                </c:pt>
                <c:pt idx="101">
                  <c:v>125.660004</c:v>
                </c:pt>
                <c:pt idx="102">
                  <c:v>125.610001</c:v>
                </c:pt>
                <c:pt idx="103">
                  <c:v>126.82</c:v>
                </c:pt>
                <c:pt idx="104">
                  <c:v>128.509995</c:v>
                </c:pt>
                <c:pt idx="105">
                  <c:v>129.619995</c:v>
                </c:pt>
                <c:pt idx="106">
                  <c:v>132.070007</c:v>
                </c:pt>
                <c:pt idx="107">
                  <c:v>130.75</c:v>
                </c:pt>
                <c:pt idx="108">
                  <c:v>125.220001</c:v>
                </c:pt>
                <c:pt idx="109">
                  <c:v>125.160004</c:v>
                </c:pt>
                <c:pt idx="110">
                  <c:v>124.5</c:v>
                </c:pt>
                <c:pt idx="111">
                  <c:v>122.769997</c:v>
                </c:pt>
                <c:pt idx="112">
                  <c:v>123.379997</c:v>
                </c:pt>
                <c:pt idx="113">
                  <c:v>122.989998</c:v>
                </c:pt>
                <c:pt idx="114">
                  <c:v>122.370003</c:v>
                </c:pt>
                <c:pt idx="115">
                  <c:v>121.300003</c:v>
                </c:pt>
                <c:pt idx="116">
                  <c:v>118.440002</c:v>
                </c:pt>
                <c:pt idx="117">
                  <c:v>114.639999</c:v>
                </c:pt>
                <c:pt idx="118">
                  <c:v>115.400002</c:v>
                </c:pt>
                <c:pt idx="119">
                  <c:v>115.129997</c:v>
                </c:pt>
                <c:pt idx="120">
                  <c:v>115.519997</c:v>
                </c:pt>
                <c:pt idx="121">
                  <c:v>119.720001</c:v>
                </c:pt>
                <c:pt idx="122">
                  <c:v>113.489998</c:v>
                </c:pt>
                <c:pt idx="123">
                  <c:v>115.239998</c:v>
                </c:pt>
                <c:pt idx="124">
                  <c:v>115.150002</c:v>
                </c:pt>
                <c:pt idx="125">
                  <c:v>115.959999</c:v>
                </c:pt>
                <c:pt idx="126">
                  <c:v>117.160004</c:v>
                </c:pt>
                <c:pt idx="127">
                  <c:v>116.5</c:v>
                </c:pt>
                <c:pt idx="128">
                  <c:v>115.010002</c:v>
                </c:pt>
                <c:pt idx="129">
                  <c:v>112.650002</c:v>
                </c:pt>
                <c:pt idx="130">
                  <c:v>105.760002</c:v>
                </c:pt>
                <c:pt idx="131">
                  <c:v>103.120003</c:v>
                </c:pt>
                <c:pt idx="132">
                  <c:v>103.739998</c:v>
                </c:pt>
                <c:pt idx="133">
                  <c:v>109.690002</c:v>
                </c:pt>
                <c:pt idx="134">
                  <c:v>112.919998</c:v>
                </c:pt>
                <c:pt idx="135">
                  <c:v>113.290001</c:v>
                </c:pt>
                <c:pt idx="136">
                  <c:v>112.760002</c:v>
                </c:pt>
                <c:pt idx="137">
                  <c:v>107.720001</c:v>
                </c:pt>
                <c:pt idx="138">
                  <c:v>112.339996</c:v>
                </c:pt>
                <c:pt idx="139">
                  <c:v>110.370003</c:v>
                </c:pt>
                <c:pt idx="140">
                  <c:v>109.269997</c:v>
                </c:pt>
                <c:pt idx="141">
                  <c:v>112.309998</c:v>
                </c:pt>
                <c:pt idx="142">
                  <c:v>110.150002</c:v>
                </c:pt>
                <c:pt idx="143">
                  <c:v>112.57</c:v>
                </c:pt>
                <c:pt idx="144">
                  <c:v>114.209999</c:v>
                </c:pt>
                <c:pt idx="145">
                  <c:v>115.309998</c:v>
                </c:pt>
                <c:pt idx="146">
                  <c:v>116.279999</c:v>
                </c:pt>
                <c:pt idx="147">
                  <c:v>116.410004</c:v>
                </c:pt>
                <c:pt idx="148">
                  <c:v>113.919998</c:v>
                </c:pt>
                <c:pt idx="149">
                  <c:v>113.449997</c:v>
                </c:pt>
                <c:pt idx="150">
                  <c:v>115.209999</c:v>
                </c:pt>
                <c:pt idx="151">
                  <c:v>113.400002</c:v>
                </c:pt>
                <c:pt idx="152">
                  <c:v>114.32</c:v>
                </c:pt>
                <c:pt idx="153">
                  <c:v>115</c:v>
                </c:pt>
                <c:pt idx="154">
                  <c:v>114.709999</c:v>
                </c:pt>
                <c:pt idx="155">
                  <c:v>112.440002</c:v>
                </c:pt>
                <c:pt idx="156">
                  <c:v>109.059998</c:v>
                </c:pt>
                <c:pt idx="157">
                  <c:v>110.300003</c:v>
                </c:pt>
                <c:pt idx="158">
                  <c:v>109.580002</c:v>
                </c:pt>
                <c:pt idx="159">
                  <c:v>110.379997</c:v>
                </c:pt>
                <c:pt idx="160">
                  <c:v>110.779999</c:v>
                </c:pt>
                <c:pt idx="161">
                  <c:v>111.309998</c:v>
                </c:pt>
                <c:pt idx="162">
                  <c:v>110.779999</c:v>
                </c:pt>
                <c:pt idx="163">
                  <c:v>109.5</c:v>
                </c:pt>
                <c:pt idx="164">
                  <c:v>112.120003</c:v>
                </c:pt>
                <c:pt idx="165">
                  <c:v>111.599998</c:v>
                </c:pt>
                <c:pt idx="166">
                  <c:v>111.790001</c:v>
                </c:pt>
                <c:pt idx="167">
                  <c:v>110.209999</c:v>
                </c:pt>
                <c:pt idx="168">
                  <c:v>111.860001</c:v>
                </c:pt>
                <c:pt idx="169">
                  <c:v>111.040001</c:v>
                </c:pt>
                <c:pt idx="170">
                  <c:v>111.730003</c:v>
                </c:pt>
                <c:pt idx="171">
                  <c:v>113.769997</c:v>
                </c:pt>
                <c:pt idx="172">
                  <c:v>113.760002</c:v>
                </c:pt>
                <c:pt idx="173">
                  <c:v>115.5</c:v>
                </c:pt>
                <c:pt idx="174">
                  <c:v>119.080002</c:v>
                </c:pt>
                <c:pt idx="175">
                  <c:v>115.279999</c:v>
                </c:pt>
                <c:pt idx="176">
                  <c:v>114.550003</c:v>
                </c:pt>
                <c:pt idx="177">
                  <c:v>119.269997</c:v>
                </c:pt>
                <c:pt idx="178">
                  <c:v>120.529999</c:v>
                </c:pt>
                <c:pt idx="179">
                  <c:v>119.5</c:v>
                </c:pt>
                <c:pt idx="180">
                  <c:v>121.18</c:v>
                </c:pt>
                <c:pt idx="181">
                  <c:v>122.57</c:v>
                </c:pt>
                <c:pt idx="182">
                  <c:v>122</c:v>
                </c:pt>
                <c:pt idx="183">
                  <c:v>120.919998</c:v>
                </c:pt>
                <c:pt idx="184">
                  <c:v>121.059998</c:v>
                </c:pt>
                <c:pt idx="185">
                  <c:v>120.57</c:v>
                </c:pt>
                <c:pt idx="186">
                  <c:v>116.769997</c:v>
                </c:pt>
                <c:pt idx="187">
                  <c:v>116.110001</c:v>
                </c:pt>
                <c:pt idx="188">
                  <c:v>115.720001</c:v>
                </c:pt>
                <c:pt idx="189">
                  <c:v>112.339996</c:v>
                </c:pt>
                <c:pt idx="190">
                  <c:v>114.18</c:v>
                </c:pt>
                <c:pt idx="191">
                  <c:v>113.690002</c:v>
                </c:pt>
                <c:pt idx="192">
                  <c:v>117.290001</c:v>
                </c:pt>
                <c:pt idx="193">
                  <c:v>118.779999</c:v>
                </c:pt>
                <c:pt idx="194">
                  <c:v>119.300003</c:v>
                </c:pt>
                <c:pt idx="195">
                  <c:v>117.75</c:v>
                </c:pt>
                <c:pt idx="196">
                  <c:v>118.879997</c:v>
                </c:pt>
                <c:pt idx="197">
                  <c:v>118.029999</c:v>
                </c:pt>
                <c:pt idx="198">
                  <c:v>117.809998</c:v>
                </c:pt>
                <c:pt idx="199">
                  <c:v>118.300003</c:v>
                </c:pt>
                <c:pt idx="200">
                  <c:v>117.339996</c:v>
                </c:pt>
                <c:pt idx="201">
                  <c:v>116.279999</c:v>
                </c:pt>
                <c:pt idx="202">
                  <c:v>115.199997</c:v>
                </c:pt>
                <c:pt idx="203">
                  <c:v>119.029999</c:v>
                </c:pt>
                <c:pt idx="204">
                  <c:v>118.279999</c:v>
                </c:pt>
                <c:pt idx="205">
                  <c:v>118.230003</c:v>
                </c:pt>
                <c:pt idx="206">
                  <c:v>115.620003</c:v>
                </c:pt>
                <c:pt idx="207">
                  <c:v>116.169998</c:v>
                </c:pt>
                <c:pt idx="208">
                  <c:v>113.18</c:v>
                </c:pt>
                <c:pt idx="209">
                  <c:v>112.480003</c:v>
                </c:pt>
                <c:pt idx="210">
                  <c:v>110.489998</c:v>
                </c:pt>
                <c:pt idx="211">
                  <c:v>111.339996</c:v>
                </c:pt>
                <c:pt idx="212">
                  <c:v>108.980003</c:v>
                </c:pt>
                <c:pt idx="213">
                  <c:v>106.029999</c:v>
                </c:pt>
                <c:pt idx="214">
                  <c:v>107.330002</c:v>
                </c:pt>
                <c:pt idx="215">
                  <c:v>107.230003</c:v>
                </c:pt>
                <c:pt idx="216">
                  <c:v>108.610001</c:v>
                </c:pt>
                <c:pt idx="217">
                  <c:v>108.029999</c:v>
                </c:pt>
                <c:pt idx="218">
                  <c:v>106.82</c:v>
                </c:pt>
                <c:pt idx="219">
                  <c:v>108.739998</c:v>
                </c:pt>
                <c:pt idx="220">
                  <c:v>107.32</c:v>
                </c:pt>
                <c:pt idx="221">
                  <c:v>105.260002</c:v>
                </c:pt>
                <c:pt idx="222">
                  <c:v>105.349998</c:v>
                </c:pt>
                <c:pt idx="223">
                  <c:v>102.709999</c:v>
                </c:pt>
                <c:pt idx="224">
                  <c:v>100.699997</c:v>
                </c:pt>
                <c:pt idx="225">
                  <c:v>96.449997</c:v>
                </c:pt>
                <c:pt idx="226">
                  <c:v>96.959999</c:v>
                </c:pt>
                <c:pt idx="227">
                  <c:v>98.529999</c:v>
                </c:pt>
                <c:pt idx="228">
                  <c:v>99.959999</c:v>
                </c:pt>
                <c:pt idx="229">
                  <c:v>97.389999</c:v>
                </c:pt>
                <c:pt idx="230">
                  <c:v>99.519997</c:v>
                </c:pt>
                <c:pt idx="231">
                  <c:v>97.129997</c:v>
                </c:pt>
                <c:pt idx="232">
                  <c:v>96.660004</c:v>
                </c:pt>
                <c:pt idx="233">
                  <c:v>96.790001</c:v>
                </c:pt>
                <c:pt idx="234">
                  <c:v>96.300003</c:v>
                </c:pt>
                <c:pt idx="235">
                  <c:v>101.419998</c:v>
                </c:pt>
                <c:pt idx="236">
                  <c:v>99.440002</c:v>
                </c:pt>
                <c:pt idx="237">
                  <c:v>99.989998</c:v>
                </c:pt>
                <c:pt idx="238">
                  <c:v>93.419998</c:v>
                </c:pt>
                <c:pt idx="239">
                  <c:v>94.089996</c:v>
                </c:pt>
                <c:pt idx="240">
                  <c:v>97.339996</c:v>
                </c:pt>
                <c:pt idx="241">
                  <c:v>96.43</c:v>
                </c:pt>
                <c:pt idx="242">
                  <c:v>94.480003</c:v>
                </c:pt>
                <c:pt idx="243">
                  <c:v>96.349998</c:v>
                </c:pt>
                <c:pt idx="244">
                  <c:v>96.599998</c:v>
                </c:pt>
                <c:pt idx="245">
                  <c:v>94.019997</c:v>
                </c:pt>
                <c:pt idx="246">
                  <c:v>95.010002</c:v>
                </c:pt>
                <c:pt idx="247">
                  <c:v>94.989998</c:v>
                </c:pt>
                <c:pt idx="248">
                  <c:v>94.269997</c:v>
                </c:pt>
                <c:pt idx="249">
                  <c:v>93.699997</c:v>
                </c:pt>
                <c:pt idx="250">
                  <c:v>93.989998</c:v>
                </c:pt>
                <c:pt idx="251">
                  <c:v>96.639999</c:v>
                </c:pt>
                <c:pt idx="252">
                  <c:v>98.120003</c:v>
                </c:pt>
                <c:pt idx="253">
                  <c:v>96.260002</c:v>
                </c:pt>
                <c:pt idx="254">
                  <c:v>96.040001</c:v>
                </c:pt>
                <c:pt idx="255">
                  <c:v>96.879997</c:v>
                </c:pt>
                <c:pt idx="256">
                  <c:v>94.690002</c:v>
                </c:pt>
                <c:pt idx="257">
                  <c:v>96.099998</c:v>
                </c:pt>
                <c:pt idx="258">
                  <c:v>96.760002</c:v>
                </c:pt>
                <c:pt idx="259">
                  <c:v>96.910004</c:v>
                </c:pt>
                <c:pt idx="260">
                  <c:v>96.690002</c:v>
                </c:pt>
                <c:pt idx="261">
                  <c:v>100.529999</c:v>
                </c:pt>
                <c:pt idx="262">
                  <c:v>100.75</c:v>
                </c:pt>
                <c:pt idx="263">
                  <c:v>101.5</c:v>
                </c:pt>
                <c:pt idx="264">
                  <c:v>103.010002</c:v>
                </c:pt>
                <c:pt idx="265">
                  <c:v>101.870003</c:v>
                </c:pt>
                <c:pt idx="266">
                  <c:v>101.029999</c:v>
                </c:pt>
                <c:pt idx="267">
                  <c:v>101.120003</c:v>
                </c:pt>
                <c:pt idx="268">
                  <c:v>101.169998</c:v>
                </c:pt>
                <c:pt idx="269">
                  <c:v>102.260002</c:v>
                </c:pt>
                <c:pt idx="270">
                  <c:v>102.519997</c:v>
                </c:pt>
                <c:pt idx="271">
                  <c:v>104.580002</c:v>
                </c:pt>
                <c:pt idx="272">
                  <c:v>105.970001</c:v>
                </c:pt>
                <c:pt idx="273">
                  <c:v>105.800003</c:v>
                </c:pt>
                <c:pt idx="274">
                  <c:v>105.919998</c:v>
                </c:pt>
                <c:pt idx="275">
                  <c:v>105.910004</c:v>
                </c:pt>
                <c:pt idx="276">
                  <c:v>106.720001</c:v>
                </c:pt>
                <c:pt idx="277">
                  <c:v>106.129997</c:v>
                </c:pt>
                <c:pt idx="278">
                  <c:v>105.669998</c:v>
                </c:pt>
                <c:pt idx="279">
                  <c:v>105.190002</c:v>
                </c:pt>
                <c:pt idx="280">
                  <c:v>107.68</c:v>
                </c:pt>
                <c:pt idx="281">
                  <c:v>109.559998</c:v>
                </c:pt>
                <c:pt idx="282">
                  <c:v>108.989998</c:v>
                </c:pt>
                <c:pt idx="283">
                  <c:v>109.989998</c:v>
                </c:pt>
                <c:pt idx="284">
                  <c:v>111.120003</c:v>
                </c:pt>
                <c:pt idx="285">
                  <c:v>109.809998</c:v>
                </c:pt>
                <c:pt idx="286">
                  <c:v>110.959999</c:v>
                </c:pt>
                <c:pt idx="287">
                  <c:v>108.540001</c:v>
                </c:pt>
                <c:pt idx="288">
                  <c:v>108.660004</c:v>
                </c:pt>
                <c:pt idx="289">
                  <c:v>109.019997</c:v>
                </c:pt>
                <c:pt idx="290">
                  <c:v>110.440002</c:v>
                </c:pt>
                <c:pt idx="291">
                  <c:v>112.040001</c:v>
                </c:pt>
                <c:pt idx="292">
                  <c:v>112.099998</c:v>
                </c:pt>
                <c:pt idx="293">
                  <c:v>109.849998</c:v>
                </c:pt>
                <c:pt idx="294">
                  <c:v>107.480003</c:v>
                </c:pt>
                <c:pt idx="295">
                  <c:v>106.910004</c:v>
                </c:pt>
                <c:pt idx="296">
                  <c:v>107.129997</c:v>
                </c:pt>
                <c:pt idx="297">
                  <c:v>105.970001</c:v>
                </c:pt>
                <c:pt idx="298">
                  <c:v>105.68</c:v>
                </c:pt>
                <c:pt idx="299">
                  <c:v>105.080002</c:v>
                </c:pt>
                <c:pt idx="300">
                  <c:v>104.349998</c:v>
                </c:pt>
                <c:pt idx="301">
                  <c:v>97.82</c:v>
                </c:pt>
                <c:pt idx="302">
                  <c:v>94.830002</c:v>
                </c:pt>
                <c:pt idx="303">
                  <c:v>93.739998</c:v>
                </c:pt>
                <c:pt idx="304">
                  <c:v>93.639999</c:v>
                </c:pt>
                <c:pt idx="305">
                  <c:v>95.18</c:v>
                </c:pt>
                <c:pt idx="306">
                  <c:v>94.190002</c:v>
                </c:pt>
                <c:pt idx="307">
                  <c:v>93.239998</c:v>
                </c:pt>
                <c:pt idx="308">
                  <c:v>92.720001</c:v>
                </c:pt>
                <c:pt idx="309">
                  <c:v>92.790001</c:v>
                </c:pt>
                <c:pt idx="310">
                  <c:v>93.419998</c:v>
                </c:pt>
                <c:pt idx="311">
                  <c:v>92.510002</c:v>
                </c:pt>
                <c:pt idx="312">
                  <c:v>90.339996</c:v>
                </c:pt>
                <c:pt idx="313">
                  <c:v>90.519997</c:v>
                </c:pt>
                <c:pt idx="314">
                  <c:v>93.879997</c:v>
                </c:pt>
                <c:pt idx="315">
                  <c:v>93.489998</c:v>
                </c:pt>
                <c:pt idx="316">
                  <c:v>94.559998</c:v>
                </c:pt>
                <c:pt idx="317">
                  <c:v>94.199997</c:v>
                </c:pt>
                <c:pt idx="318">
                  <c:v>95.220001</c:v>
                </c:pt>
                <c:pt idx="319">
                  <c:v>96.43</c:v>
                </c:pt>
                <c:pt idx="320">
                  <c:v>97.900002</c:v>
                </c:pt>
                <c:pt idx="321">
                  <c:v>99.620003</c:v>
                </c:pt>
                <c:pt idx="322">
                  <c:v>100.410004</c:v>
                </c:pt>
                <c:pt idx="323">
                  <c:v>100.349998</c:v>
                </c:pt>
                <c:pt idx="324">
                  <c:v>99.860001</c:v>
                </c:pt>
                <c:pt idx="325">
                  <c:v>98.459999</c:v>
                </c:pt>
                <c:pt idx="326">
                  <c:v>97.720001</c:v>
                </c:pt>
                <c:pt idx="327">
                  <c:v>97.919998</c:v>
                </c:pt>
                <c:pt idx="328">
                  <c:v>98.629997</c:v>
                </c:pt>
                <c:pt idx="329">
                  <c:v>99.029999</c:v>
                </c:pt>
                <c:pt idx="330">
                  <c:v>98.940002</c:v>
                </c:pt>
                <c:pt idx="331">
                  <c:v>99.650002</c:v>
                </c:pt>
                <c:pt idx="332">
                  <c:v>98.830002</c:v>
                </c:pt>
                <c:pt idx="333">
                  <c:v>97.339996</c:v>
                </c:pt>
                <c:pt idx="334">
                  <c:v>97.459999</c:v>
                </c:pt>
                <c:pt idx="335">
                  <c:v>97.139999</c:v>
                </c:pt>
                <c:pt idx="336">
                  <c:v>97.550003</c:v>
                </c:pt>
                <c:pt idx="337">
                  <c:v>95.330002</c:v>
                </c:pt>
                <c:pt idx="338">
                  <c:v>95.099998</c:v>
                </c:pt>
                <c:pt idx="339">
                  <c:v>95.910004</c:v>
                </c:pt>
                <c:pt idx="340">
                  <c:v>95.550003</c:v>
                </c:pt>
                <c:pt idx="341">
                  <c:v>96.099998</c:v>
                </c:pt>
                <c:pt idx="342">
                  <c:v>93.400002</c:v>
                </c:pt>
                <c:pt idx="343">
                  <c:v>92.040001</c:v>
                </c:pt>
                <c:pt idx="344">
                  <c:v>93.589996</c:v>
                </c:pt>
                <c:pt idx="345">
                  <c:v>94.400002</c:v>
                </c:pt>
                <c:pt idx="346">
                  <c:v>95.599998</c:v>
                </c:pt>
                <c:pt idx="347">
                  <c:v>95.889999</c:v>
                </c:pt>
                <c:pt idx="348">
                  <c:v>94.989998</c:v>
                </c:pt>
                <c:pt idx="349">
                  <c:v>95.529999</c:v>
                </c:pt>
                <c:pt idx="350">
                  <c:v>95.940002</c:v>
                </c:pt>
                <c:pt idx="351">
                  <c:v>96.68</c:v>
                </c:pt>
                <c:pt idx="352">
                  <c:v>96.980003</c:v>
                </c:pt>
                <c:pt idx="353">
                  <c:v>97.419998</c:v>
                </c:pt>
                <c:pt idx="354">
                  <c:v>96.870003</c:v>
                </c:pt>
                <c:pt idx="355">
                  <c:v>98.790001</c:v>
                </c:pt>
                <c:pt idx="356">
                  <c:v>98.779999</c:v>
                </c:pt>
                <c:pt idx="357">
                  <c:v>99.830002</c:v>
                </c:pt>
                <c:pt idx="358">
                  <c:v>99.870003</c:v>
                </c:pt>
                <c:pt idx="359">
                  <c:v>99.959999</c:v>
                </c:pt>
                <c:pt idx="360">
                  <c:v>99.43</c:v>
                </c:pt>
                <c:pt idx="361">
                  <c:v>98.660004</c:v>
                </c:pt>
                <c:pt idx="362">
                  <c:v>97.339996</c:v>
                </c:pt>
                <c:pt idx="363">
                  <c:v>96.669998</c:v>
                </c:pt>
                <c:pt idx="364">
                  <c:v>102.949997</c:v>
                </c:pt>
                <c:pt idx="365">
                  <c:v>104.339996</c:v>
                </c:pt>
                <c:pt idx="366">
                  <c:v>104.209999</c:v>
                </c:pt>
                <c:pt idx="367">
                  <c:v>106.050003</c:v>
                </c:pt>
                <c:pt idx="368">
                  <c:v>104.480003</c:v>
                </c:pt>
                <c:pt idx="369">
                  <c:v>105.790001</c:v>
                </c:pt>
                <c:pt idx="370">
                  <c:v>105.870003</c:v>
                </c:pt>
                <c:pt idx="371">
                  <c:v>107.480003</c:v>
                </c:pt>
                <c:pt idx="372">
                  <c:v>108.370003</c:v>
                </c:pt>
                <c:pt idx="373">
                  <c:v>108.809998</c:v>
                </c:pt>
                <c:pt idx="374">
                  <c:v>108</c:v>
                </c:pt>
                <c:pt idx="375">
                  <c:v>107.93</c:v>
                </c:pt>
                <c:pt idx="376">
                  <c:v>108.18</c:v>
                </c:pt>
                <c:pt idx="377">
                  <c:v>109.480003</c:v>
                </c:pt>
                <c:pt idx="378">
                  <c:v>109.379997</c:v>
                </c:pt>
                <c:pt idx="379">
                  <c:v>109.220001</c:v>
                </c:pt>
                <c:pt idx="380">
                  <c:v>109.080002</c:v>
                </c:pt>
                <c:pt idx="381">
                  <c:v>109.360001</c:v>
                </c:pt>
                <c:pt idx="382">
                  <c:v>108.510002</c:v>
                </c:pt>
                <c:pt idx="383">
                  <c:v>108.849998</c:v>
                </c:pt>
                <c:pt idx="384">
                  <c:v>108.029999</c:v>
                </c:pt>
                <c:pt idx="385">
                  <c:v>107.57</c:v>
                </c:pt>
                <c:pt idx="386">
                  <c:v>106.940002</c:v>
                </c:pt>
                <c:pt idx="387">
                  <c:v>106.82</c:v>
                </c:pt>
                <c:pt idx="388">
                  <c:v>106</c:v>
                </c:pt>
                <c:pt idx="389">
                  <c:v>106.099998</c:v>
                </c:pt>
                <c:pt idx="390">
                  <c:v>106.730003</c:v>
                </c:pt>
                <c:pt idx="391">
                  <c:v>107.730003</c:v>
                </c:pt>
                <c:pt idx="392">
                  <c:v>107.699997</c:v>
                </c:pt>
                <c:pt idx="393">
                  <c:v>108.360001</c:v>
                </c:pt>
                <c:pt idx="394">
                  <c:v>105.519997</c:v>
                </c:pt>
                <c:pt idx="395">
                  <c:v>103.129997</c:v>
                </c:pt>
                <c:pt idx="396">
                  <c:v>105.440002</c:v>
                </c:pt>
                <c:pt idx="397">
                  <c:v>107.949997</c:v>
                </c:pt>
                <c:pt idx="398">
                  <c:v>111.769997</c:v>
                </c:pt>
                <c:pt idx="399">
                  <c:v>115.57</c:v>
                </c:pt>
                <c:pt idx="400">
                  <c:v>114.919998</c:v>
                </c:pt>
                <c:pt idx="401">
                  <c:v>113.580002</c:v>
                </c:pt>
                <c:pt idx="402">
                  <c:v>113.57</c:v>
                </c:pt>
                <c:pt idx="403">
                  <c:v>113.550003</c:v>
                </c:pt>
                <c:pt idx="404">
                  <c:v>114.620003</c:v>
                </c:pt>
                <c:pt idx="405">
                  <c:v>112.709999</c:v>
                </c:pt>
                <c:pt idx="406">
                  <c:v>112.879997</c:v>
                </c:pt>
                <c:pt idx="407">
                  <c:v>113.089996</c:v>
                </c:pt>
                <c:pt idx="408">
                  <c:v>113.949997</c:v>
                </c:pt>
                <c:pt idx="409">
                  <c:v>112.18</c:v>
                </c:pt>
                <c:pt idx="410">
                  <c:v>113.050003</c:v>
                </c:pt>
                <c:pt idx="411">
                  <c:v>112.519997</c:v>
                </c:pt>
                <c:pt idx="412">
                  <c:v>113</c:v>
                </c:pt>
                <c:pt idx="413">
                  <c:v>113.050003</c:v>
                </c:pt>
                <c:pt idx="414">
                  <c:v>113.889999</c:v>
                </c:pt>
                <c:pt idx="415">
                  <c:v>114.059998</c:v>
                </c:pt>
                <c:pt idx="416">
                  <c:v>116.050003</c:v>
                </c:pt>
                <c:pt idx="417">
                  <c:v>116.300003</c:v>
                </c:pt>
                <c:pt idx="418">
                  <c:v>117.339996</c:v>
                </c:pt>
                <c:pt idx="419">
                  <c:v>116.980003</c:v>
                </c:pt>
                <c:pt idx="420">
                  <c:v>117.629997</c:v>
                </c:pt>
                <c:pt idx="421">
                  <c:v>117.550003</c:v>
                </c:pt>
                <c:pt idx="422">
                  <c:v>117.470001</c:v>
                </c:pt>
                <c:pt idx="423">
                  <c:v>117.120003</c:v>
                </c:pt>
                <c:pt idx="424">
                  <c:v>117.059998</c:v>
                </c:pt>
                <c:pt idx="425">
                  <c:v>116.599998</c:v>
                </c:pt>
                <c:pt idx="426">
                  <c:v>117.650002</c:v>
                </c:pt>
                <c:pt idx="427">
                  <c:v>118.25</c:v>
                </c:pt>
                <c:pt idx="428">
                  <c:v>115.589996</c:v>
                </c:pt>
                <c:pt idx="429">
                  <c:v>114.480003</c:v>
                </c:pt>
                <c:pt idx="430">
                  <c:v>113.720001</c:v>
                </c:pt>
                <c:pt idx="431">
                  <c:v>113.540001</c:v>
                </c:pt>
                <c:pt idx="432">
                  <c:v>111.489998</c:v>
                </c:pt>
                <c:pt idx="433">
                  <c:v>111.589996</c:v>
                </c:pt>
                <c:pt idx="434">
                  <c:v>109.830002</c:v>
                </c:pt>
                <c:pt idx="435">
                  <c:v>108.839996</c:v>
                </c:pt>
                <c:pt idx="436">
                  <c:v>110.410004</c:v>
                </c:pt>
                <c:pt idx="437">
                  <c:v>111.059998</c:v>
                </c:pt>
                <c:pt idx="438">
                  <c:v>110.879997</c:v>
                </c:pt>
                <c:pt idx="439">
                  <c:v>107.790001</c:v>
                </c:pt>
                <c:pt idx="440">
                  <c:v>108.43</c:v>
                </c:pt>
                <c:pt idx="441">
                  <c:v>105.709999</c:v>
                </c:pt>
                <c:pt idx="442">
                  <c:v>107.110001</c:v>
                </c:pt>
                <c:pt idx="443">
                  <c:v>109.989998</c:v>
                </c:pt>
                <c:pt idx="444">
                  <c:v>109.949997</c:v>
                </c:pt>
                <c:pt idx="445">
                  <c:v>110.059998</c:v>
                </c:pt>
                <c:pt idx="446">
                  <c:v>111.730003</c:v>
                </c:pt>
                <c:pt idx="447">
                  <c:v>111.800003</c:v>
                </c:pt>
                <c:pt idx="448">
                  <c:v>111.230003</c:v>
                </c:pt>
                <c:pt idx="449">
                  <c:v>111.790001</c:v>
                </c:pt>
                <c:pt idx="450">
                  <c:v>111.57</c:v>
                </c:pt>
                <c:pt idx="451">
                  <c:v>111.459999</c:v>
                </c:pt>
                <c:pt idx="452">
                  <c:v>110.519997</c:v>
                </c:pt>
                <c:pt idx="453">
                  <c:v>109.489998</c:v>
                </c:pt>
                <c:pt idx="454">
                  <c:v>109.900002</c:v>
                </c:pt>
                <c:pt idx="455">
                  <c:v>109.110001</c:v>
                </c:pt>
                <c:pt idx="456">
                  <c:v>109.949997</c:v>
                </c:pt>
                <c:pt idx="457">
                  <c:v>111.029999</c:v>
                </c:pt>
                <c:pt idx="458">
                  <c:v>112.120003</c:v>
                </c:pt>
                <c:pt idx="459">
                  <c:v>113.949997</c:v>
                </c:pt>
                <c:pt idx="460">
                  <c:v>113.300003</c:v>
                </c:pt>
                <c:pt idx="461">
                  <c:v>115.190002</c:v>
                </c:pt>
                <c:pt idx="462">
                  <c:v>115.190002</c:v>
                </c:pt>
                <c:pt idx="463">
                  <c:v>115.82</c:v>
                </c:pt>
                <c:pt idx="464">
                  <c:v>115.970001</c:v>
                </c:pt>
                <c:pt idx="465">
                  <c:v>116.639999</c:v>
                </c:pt>
                <c:pt idx="466">
                  <c:v>116.949997</c:v>
                </c:pt>
                <c:pt idx="467">
                  <c:v>117.059998</c:v>
                </c:pt>
                <c:pt idx="468">
                  <c:v>116.290001</c:v>
                </c:pt>
                <c:pt idx="469">
                  <c:v>116.519997</c:v>
                </c:pt>
                <c:pt idx="470">
                  <c:v>117.260002</c:v>
                </c:pt>
                <c:pt idx="471">
                  <c:v>116.760002</c:v>
                </c:pt>
                <c:pt idx="472">
                  <c:v>116.730003</c:v>
                </c:pt>
                <c:pt idx="473">
                  <c:v>115.82</c:v>
                </c:pt>
                <c:pt idx="474">
                  <c:v>116.150002</c:v>
                </c:pt>
                <c:pt idx="475">
                  <c:v>116.019997</c:v>
                </c:pt>
                <c:pt idx="476">
                  <c:v>116.610001</c:v>
                </c:pt>
                <c:pt idx="477">
                  <c:v>117.910004</c:v>
                </c:pt>
                <c:pt idx="478">
                  <c:v>118.989998</c:v>
                </c:pt>
                <c:pt idx="479">
                  <c:v>119.110001</c:v>
                </c:pt>
                <c:pt idx="480">
                  <c:v>119.75</c:v>
                </c:pt>
                <c:pt idx="481">
                  <c:v>119.25</c:v>
                </c:pt>
                <c:pt idx="482">
                  <c:v>119.040001</c:v>
                </c:pt>
                <c:pt idx="483">
                  <c:v>120</c:v>
                </c:pt>
                <c:pt idx="484">
                  <c:v>119.989998</c:v>
                </c:pt>
                <c:pt idx="485">
                  <c:v>119.779999</c:v>
                </c:pt>
                <c:pt idx="486">
                  <c:v>120</c:v>
                </c:pt>
                <c:pt idx="487">
                  <c:v>120.080002</c:v>
                </c:pt>
                <c:pt idx="488">
                  <c:v>119.970001</c:v>
                </c:pt>
                <c:pt idx="489">
                  <c:v>121.879997</c:v>
                </c:pt>
                <c:pt idx="490">
                  <c:v>121.940002</c:v>
                </c:pt>
                <c:pt idx="491">
                  <c:v>121.949997</c:v>
                </c:pt>
                <c:pt idx="492">
                  <c:v>121.629997</c:v>
                </c:pt>
                <c:pt idx="493">
                  <c:v>121.349998</c:v>
                </c:pt>
                <c:pt idx="494">
                  <c:v>128.75</c:v>
                </c:pt>
                <c:pt idx="495">
                  <c:v>128.529999</c:v>
                </c:pt>
                <c:pt idx="496">
                  <c:v>129.080002</c:v>
                </c:pt>
                <c:pt idx="497">
                  <c:v>130.289993</c:v>
                </c:pt>
                <c:pt idx="498">
                  <c:v>131.529999</c:v>
                </c:pt>
                <c:pt idx="499">
                  <c:v>132.039993</c:v>
                </c:pt>
                <c:pt idx="500">
                  <c:v>132.419998</c:v>
                </c:pt>
                <c:pt idx="501">
                  <c:v>132.119995</c:v>
                </c:pt>
                <c:pt idx="502">
                  <c:v>133.289993</c:v>
                </c:pt>
                <c:pt idx="503">
                  <c:v>135.020004</c:v>
                </c:pt>
                <c:pt idx="504">
                  <c:v>135.509995</c:v>
                </c:pt>
                <c:pt idx="505">
                  <c:v>135.350006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Bitstream Charter"/>
                    <a:ea typeface="Bitstream Charter"/>
                    <a:cs typeface="Bitstream Charter"/>
                  </a:rPr>
                  <a:t>Trading 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Bitstream Charter"/>
                    <a:ea typeface="Bitstream Charter"/>
                    <a:cs typeface="Bitstream Charter"/>
                  </a:rPr>
                  <a:t>Closing price (USD)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</c:title>
        <c:numFmt formatCode="$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ser>
          <c:idx val="0"/>
          <c:order val="0"/>
          <c:tx>
            <c:v>Trading days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solidFill xmlns:a="http://schemas.openxmlformats.org/drawingml/2006/main">
                <a:srgbClr val="1B6FB8"/>
              </a:solidFill>
            </c:spPr>
          </c:marker>
          <c:xVal>
            <c:numRef>
              <c:f>'Chart Data'!$A$2:$A$507</c:f>
              <c:numCache>
                <c:formatCode>General</c:formatCode>
                <c:ptCount val="506"/>
                <c:pt idx="0">
                  <c:v>63152400</c:v>
                </c:pt>
                <c:pt idx="1">
                  <c:v>44891700</c:v>
                </c:pt>
                <c:pt idx="2">
                  <c:v>37362400</c:v>
                </c:pt>
                <c:pt idx="3">
                  <c:v>48948400</c:v>
                </c:pt>
                <c:pt idx="4">
                  <c:v>70974100</c:v>
                </c:pt>
                <c:pt idx="5">
                  <c:v>69228100</c:v>
                </c:pt>
                <c:pt idx="6">
                  <c:v>74711700</c:v>
                </c:pt>
                <c:pt idx="7">
                  <c:v>91287500</c:v>
                </c:pt>
                <c:pt idx="8">
                  <c:v>62014800</c:v>
                </c:pt>
                <c:pt idx="9">
                  <c:v>48096700</c:v>
                </c:pt>
                <c:pt idx="10">
                  <c:v>37816300</c:v>
                </c:pt>
                <c:pt idx="11">
                  <c:v>31666300</c:v>
                </c:pt>
                <c:pt idx="12">
                  <c:v>56517100</c:v>
                </c:pt>
                <c:pt idx="13">
                  <c:v>72842100</c:v>
                </c:pt>
                <c:pt idx="14">
                  <c:v>88528500</c:v>
                </c:pt>
                <c:pt idx="15">
                  <c:v>68856600</c:v>
                </c:pt>
                <c:pt idx="16">
                  <c:v>68939000</c:v>
                </c:pt>
                <c:pt idx="17">
                  <c:v>48362700</c:v>
                </c:pt>
                <c:pt idx="18">
                  <c:v>51827300</c:v>
                </c:pt>
                <c:pt idx="19">
                  <c:v>35874300</c:v>
                </c:pt>
                <c:pt idx="20">
                  <c:v>51023100</c:v>
                </c:pt>
                <c:pt idx="21">
                  <c:v>65270900</c:v>
                </c:pt>
                <c:pt idx="22">
                  <c:v>45809500</c:v>
                </c:pt>
                <c:pt idx="23">
                  <c:v>68695100</c:v>
                </c:pt>
                <c:pt idx="24">
                  <c:v>37709700</c:v>
                </c:pt>
                <c:pt idx="25">
                  <c:v>32842300</c:v>
                </c:pt>
                <c:pt idx="26">
                  <c:v>51655200</c:v>
                </c:pt>
                <c:pt idx="27">
                  <c:v>47572900</c:v>
                </c:pt>
                <c:pt idx="28">
                  <c:v>39546200</c:v>
                </c:pt>
                <c:pt idx="29">
                  <c:v>47099700</c:v>
                </c:pt>
                <c:pt idx="30">
                  <c:v>42090600</c:v>
                </c:pt>
                <c:pt idx="31">
                  <c:v>40621400</c:v>
                </c:pt>
                <c:pt idx="32">
                  <c:v>32220100</c:v>
                </c:pt>
                <c:pt idx="33">
                  <c:v>37194000</c:v>
                </c:pt>
                <c:pt idx="34">
                  <c:v>35012300</c:v>
                </c:pt>
                <c:pt idx="35">
                  <c:v>37329200</c:v>
                </c:pt>
                <c:pt idx="36">
                  <c:v>32484000</c:v>
                </c:pt>
                <c:pt idx="37">
                  <c:v>40188000</c:v>
                </c:pt>
                <c:pt idx="38">
                  <c:v>36365100</c:v>
                </c:pt>
                <c:pt idx="39">
                  <c:v>25524600</c:v>
                </c:pt>
                <c:pt idx="40">
                  <c:v>28970400</c:v>
                </c:pt>
                <c:pt idx="41">
                  <c:v>28369000</c:v>
                </c:pt>
                <c:pt idx="42">
                  <c:v>51957000</c:v>
                </c:pt>
                <c:pt idx="43">
                  <c:v>47054300</c:v>
                </c:pt>
                <c:pt idx="44">
                  <c:v>32435100</c:v>
                </c:pt>
                <c:pt idx="45">
                  <c:v>37654500</c:v>
                </c:pt>
                <c:pt idx="46">
                  <c:v>45770900</c:v>
                </c:pt>
                <c:pt idx="47">
                  <c:v>44525900</c:v>
                </c:pt>
                <c:pt idx="48">
                  <c:v>96954200</c:v>
                </c:pt>
                <c:pt idx="49">
                  <c:v>118924000</c:v>
                </c:pt>
                <c:pt idx="50">
                  <c:v>63386100</c:v>
                </c:pt>
                <c:pt idx="51">
                  <c:v>83195400</c:v>
                </c:pt>
                <c:pt idx="52">
                  <c:v>58512600</c:v>
                </c:pt>
                <c:pt idx="53">
                  <c:v>50988300</c:v>
                </c:pt>
                <c:pt idx="54">
                  <c:v>49271400</c:v>
                </c:pt>
                <c:pt idx="55">
                  <c:v>72141000</c:v>
                </c:pt>
                <c:pt idx="56">
                  <c:v>43940900</c:v>
                </c:pt>
                <c:pt idx="57">
                  <c:v>55550400</c:v>
                </c:pt>
                <c:pt idx="58">
                  <c:v>42035800</c:v>
                </c:pt>
                <c:pt idx="59">
                  <c:v>48160000</c:v>
                </c:pt>
                <c:pt idx="60">
                  <c:v>34694200</c:v>
                </c:pt>
                <c:pt idx="61">
                  <c:v>45203500</c:v>
                </c:pt>
                <c:pt idx="62">
                  <c:v>38208000</c:v>
                </c:pt>
                <c:pt idx="63">
                  <c:v>50882900</c:v>
                </c:pt>
                <c:pt idx="64">
                  <c:v>44633200</c:v>
                </c:pt>
                <c:pt idx="65">
                  <c:v>36454900</c:v>
                </c:pt>
                <c:pt idx="66">
                  <c:v>39730400</c:v>
                </c:pt>
                <c:pt idx="67">
                  <c:v>45596000</c:v>
                </c:pt>
                <c:pt idx="68">
                  <c:v>70697600</c:v>
                </c:pt>
                <c:pt idx="69">
                  <c:v>45833200</c:v>
                </c:pt>
                <c:pt idx="70">
                  <c:v>30733300</c:v>
                </c:pt>
                <c:pt idx="71">
                  <c:v>50884500</c:v>
                </c:pt>
                <c:pt idx="72">
                  <c:v>32112800</c:v>
                </c:pt>
                <c:pt idx="73">
                  <c:v>33667600</c:v>
                </c:pt>
                <c:pt idx="74">
                  <c:v>30889400</c:v>
                </c:pt>
                <c:pt idx="75">
                  <c:v>38450100</c:v>
                </c:pt>
                <c:pt idx="76">
                  <c:v>35626800</c:v>
                </c:pt>
                <c:pt idx="77">
                  <c:v>52674800</c:v>
                </c:pt>
                <c:pt idx="78">
                  <c:v>56075400</c:v>
                </c:pt>
                <c:pt idx="79">
                  <c:v>39087300</c:v>
                </c:pt>
                <c:pt idx="80">
                  <c:v>35390900</c:v>
                </c:pt>
                <c:pt idx="81">
                  <c:v>36886200</c:v>
                </c:pt>
                <c:pt idx="82">
                  <c:v>43988900</c:v>
                </c:pt>
                <c:pt idx="83">
                  <c:v>31494100</c:v>
                </c:pt>
                <c:pt idx="84">
                  <c:v>32918100</c:v>
                </c:pt>
                <c:pt idx="85">
                  <c:v>35407200</c:v>
                </c:pt>
                <c:pt idx="86">
                  <c:v>54716900</c:v>
                </c:pt>
                <c:pt idx="87">
                  <c:v>34039300</c:v>
                </c:pt>
                <c:pt idx="88">
                  <c:v>30268900</c:v>
                </c:pt>
                <c:pt idx="89">
                  <c:v>55280900</c:v>
                </c:pt>
                <c:pt idx="90">
                  <c:v>31938100</c:v>
                </c:pt>
                <c:pt idx="91">
                  <c:v>44066800</c:v>
                </c:pt>
                <c:pt idx="92">
                  <c:v>49161400</c:v>
                </c:pt>
                <c:pt idx="93">
                  <c:v>44370700</c:v>
                </c:pt>
                <c:pt idx="94">
                  <c:v>30238800</c:v>
                </c:pt>
                <c:pt idx="95">
                  <c:v>27211000</c:v>
                </c:pt>
                <c:pt idx="96">
                  <c:v>28060400</c:v>
                </c:pt>
                <c:pt idx="97">
                  <c:v>46946800</c:v>
                </c:pt>
                <c:pt idx="98">
                  <c:v>60761600</c:v>
                </c:pt>
                <c:pt idx="99">
                  <c:v>77821600</c:v>
                </c:pt>
                <c:pt idx="100">
                  <c:v>61354500</c:v>
                </c:pt>
                <c:pt idx="101">
                  <c:v>41440500</c:v>
                </c:pt>
                <c:pt idx="102">
                  <c:v>31768100</c:v>
                </c:pt>
                <c:pt idx="103">
                  <c:v>33649200</c:v>
                </c:pt>
                <c:pt idx="104">
                  <c:v>36222400</c:v>
                </c:pt>
                <c:pt idx="105">
                  <c:v>46164700</c:v>
                </c:pt>
                <c:pt idx="106">
                  <c:v>58900200</c:v>
                </c:pt>
                <c:pt idx="107">
                  <c:v>76756400</c:v>
                </c:pt>
                <c:pt idx="108">
                  <c:v>115450600</c:v>
                </c:pt>
                <c:pt idx="109">
                  <c:v>50999500</c:v>
                </c:pt>
                <c:pt idx="110">
                  <c:v>42162300</c:v>
                </c:pt>
                <c:pt idx="111">
                  <c:v>44455500</c:v>
                </c:pt>
                <c:pt idx="112">
                  <c:v>33618100</c:v>
                </c:pt>
                <c:pt idx="113">
                  <c:v>37011700</c:v>
                </c:pt>
                <c:pt idx="114">
                  <c:v>33628300</c:v>
                </c:pt>
                <c:pt idx="115">
                  <c:v>42885000</c:v>
                </c:pt>
                <c:pt idx="116">
                  <c:v>69976000</c:v>
                </c:pt>
                <c:pt idx="117">
                  <c:v>124138600</c:v>
                </c:pt>
                <c:pt idx="118">
                  <c:v>99312600</c:v>
                </c:pt>
                <c:pt idx="119">
                  <c:v>52903000</c:v>
                </c:pt>
                <c:pt idx="120">
                  <c:v>38670400</c:v>
                </c:pt>
                <c:pt idx="121">
                  <c:v>54951600</c:v>
                </c:pt>
                <c:pt idx="122">
                  <c:v>97082800</c:v>
                </c:pt>
                <c:pt idx="123">
                  <c:v>101217500</c:v>
                </c:pt>
                <c:pt idx="124">
                  <c:v>48535800</c:v>
                </c:pt>
                <c:pt idx="125">
                  <c:v>42929500</c:v>
                </c:pt>
                <c:pt idx="126">
                  <c:v>40884700</c:v>
                </c:pt>
                <c:pt idx="127">
                  <c:v>34560700</c:v>
                </c:pt>
                <c:pt idx="128">
                  <c:v>47445700</c:v>
                </c:pt>
                <c:pt idx="129">
                  <c:v>68501600</c:v>
                </c:pt>
                <c:pt idx="130">
                  <c:v>128275500</c:v>
                </c:pt>
                <c:pt idx="131">
                  <c:v>162206300</c:v>
                </c:pt>
                <c:pt idx="132">
                  <c:v>103601600</c:v>
                </c:pt>
                <c:pt idx="133">
                  <c:v>96774600</c:v>
                </c:pt>
                <c:pt idx="134">
                  <c:v>84616100</c:v>
                </c:pt>
                <c:pt idx="135">
                  <c:v>53164400</c:v>
                </c:pt>
                <c:pt idx="136">
                  <c:v>56229300</c:v>
                </c:pt>
                <c:pt idx="137">
                  <c:v>76845900</c:v>
                </c:pt>
                <c:pt idx="138">
                  <c:v>61888800</c:v>
                </c:pt>
                <c:pt idx="139">
                  <c:v>53233900</c:v>
                </c:pt>
                <c:pt idx="140">
                  <c:v>49996300</c:v>
                </c:pt>
                <c:pt idx="141">
                  <c:v>54843600</c:v>
                </c:pt>
                <c:pt idx="142">
                  <c:v>85010800</c:v>
                </c:pt>
                <c:pt idx="143">
                  <c:v>62892800</c:v>
                </c:pt>
                <c:pt idx="144">
                  <c:v>49915500</c:v>
                </c:pt>
                <c:pt idx="145">
                  <c:v>58363400</c:v>
                </c:pt>
                <c:pt idx="146">
                  <c:v>43341200</c:v>
                </c:pt>
                <c:pt idx="147">
                  <c:v>37173500</c:v>
                </c:pt>
                <c:pt idx="148">
                  <c:v>64112600</c:v>
                </c:pt>
                <c:pt idx="149">
                  <c:v>74285300</c:v>
                </c:pt>
                <c:pt idx="150">
                  <c:v>50222000</c:v>
                </c:pt>
                <c:pt idx="151">
                  <c:v>50346200</c:v>
                </c:pt>
                <c:pt idx="152">
                  <c:v>35756700</c:v>
                </c:pt>
                <c:pt idx="153">
                  <c:v>50219500</c:v>
                </c:pt>
                <c:pt idx="154">
                  <c:v>56151900</c:v>
                </c:pt>
                <c:pt idx="155">
                  <c:v>52109000</c:v>
                </c:pt>
                <c:pt idx="156">
                  <c:v>73365400</c:v>
                </c:pt>
                <c:pt idx="157">
                  <c:v>66473000</c:v>
                </c:pt>
                <c:pt idx="158">
                  <c:v>63929100</c:v>
                </c:pt>
                <c:pt idx="159">
                  <c:v>58019800</c:v>
                </c:pt>
                <c:pt idx="160">
                  <c:v>52064700</c:v>
                </c:pt>
                <c:pt idx="161">
                  <c:v>48196800</c:v>
                </c:pt>
                <c:pt idx="162">
                  <c:v>46765600</c:v>
                </c:pt>
                <c:pt idx="163">
                  <c:v>61979600</c:v>
                </c:pt>
                <c:pt idx="164">
                  <c:v>52766100</c:v>
                </c:pt>
                <c:pt idx="165">
                  <c:v>30467200</c:v>
                </c:pt>
                <c:pt idx="166">
                  <c:v>33049300</c:v>
                </c:pt>
                <c:pt idx="167">
                  <c:v>44462400</c:v>
                </c:pt>
                <c:pt idx="168">
                  <c:v>37673500</c:v>
                </c:pt>
                <c:pt idx="169">
                  <c:v>39232600</c:v>
                </c:pt>
                <c:pt idx="170">
                  <c:v>29759200</c:v>
                </c:pt>
                <c:pt idx="171">
                  <c:v>48778800</c:v>
                </c:pt>
                <c:pt idx="172">
                  <c:v>41795200</c:v>
                </c:pt>
                <c:pt idx="173">
                  <c:v>41654100</c:v>
                </c:pt>
                <c:pt idx="174">
                  <c:v>59366900</c:v>
                </c:pt>
                <c:pt idx="175">
                  <c:v>66333800</c:v>
                </c:pt>
                <c:pt idx="176">
                  <c:v>69884400</c:v>
                </c:pt>
                <c:pt idx="177">
                  <c:v>85551400</c:v>
                </c:pt>
                <c:pt idx="178">
                  <c:v>51227300</c:v>
                </c:pt>
                <c:pt idx="179">
                  <c:v>49365300</c:v>
                </c:pt>
                <c:pt idx="180">
                  <c:v>32203300</c:v>
                </c:pt>
                <c:pt idx="181">
                  <c:v>45519000</c:v>
                </c:pt>
                <c:pt idx="182">
                  <c:v>44886100</c:v>
                </c:pt>
                <c:pt idx="183">
                  <c:v>39552700</c:v>
                </c:pt>
                <c:pt idx="184">
                  <c:v>33042300</c:v>
                </c:pt>
                <c:pt idx="185">
                  <c:v>33871400</c:v>
                </c:pt>
                <c:pt idx="186">
                  <c:v>59127900</c:v>
                </c:pt>
                <c:pt idx="187">
                  <c:v>45218000</c:v>
                </c:pt>
                <c:pt idx="188">
                  <c:v>32525600</c:v>
                </c:pt>
                <c:pt idx="189">
                  <c:v>45812400</c:v>
                </c:pt>
                <c:pt idx="190">
                  <c:v>38106700</c:v>
                </c:pt>
                <c:pt idx="191">
                  <c:v>27616900</c:v>
                </c:pt>
                <c:pt idx="192">
                  <c:v>46674700</c:v>
                </c:pt>
                <c:pt idx="193">
                  <c:v>43295800</c:v>
                </c:pt>
                <c:pt idx="194">
                  <c:v>34287100</c:v>
                </c:pt>
                <c:pt idx="195">
                  <c:v>32482500</c:v>
                </c:pt>
                <c:pt idx="196">
                  <c:v>42803200</c:v>
                </c:pt>
                <c:pt idx="197">
                  <c:v>21388300</c:v>
                </c:pt>
                <c:pt idx="198">
                  <c:v>13046400</c:v>
                </c:pt>
                <c:pt idx="199">
                  <c:v>39180300</c:v>
                </c:pt>
                <c:pt idx="200">
                  <c:v>34852400</c:v>
                </c:pt>
                <c:pt idx="201">
                  <c:v>33386600</c:v>
                </c:pt>
                <c:pt idx="202">
                  <c:v>41569500</c:v>
                </c:pt>
                <c:pt idx="203">
                  <c:v>57777000</c:v>
                </c:pt>
                <c:pt idx="204">
                  <c:v>32084200</c:v>
                </c:pt>
                <c:pt idx="205">
                  <c:v>34309500</c:v>
                </c:pt>
                <c:pt idx="206">
                  <c:v>46361400</c:v>
                </c:pt>
                <c:pt idx="207">
                  <c:v>29104200</c:v>
                </c:pt>
                <c:pt idx="208">
                  <c:v>46886200</c:v>
                </c:pt>
                <c:pt idx="209">
                  <c:v>64318700</c:v>
                </c:pt>
                <c:pt idx="210">
                  <c:v>53323100</c:v>
                </c:pt>
                <c:pt idx="211">
                  <c:v>56238500</c:v>
                </c:pt>
                <c:pt idx="212">
                  <c:v>44772800</c:v>
                </c:pt>
                <c:pt idx="213">
                  <c:v>96453300</c:v>
                </c:pt>
                <c:pt idx="214">
                  <c:v>47590600</c:v>
                </c:pt>
                <c:pt idx="215">
                  <c:v>32789400</c:v>
                </c:pt>
                <c:pt idx="216">
                  <c:v>32657400</c:v>
                </c:pt>
                <c:pt idx="217">
                  <c:v>13570400</c:v>
                </c:pt>
                <c:pt idx="218">
                  <c:v>26704200</c:v>
                </c:pt>
                <c:pt idx="219">
                  <c:v>30931200</c:v>
                </c:pt>
                <c:pt idx="220">
                  <c:v>25213800</c:v>
                </c:pt>
                <c:pt idx="221">
                  <c:v>40635300</c:v>
                </c:pt>
                <c:pt idx="222">
                  <c:v>67649400</c:v>
                </c:pt>
                <c:pt idx="223">
                  <c:v>55791000</c:v>
                </c:pt>
                <c:pt idx="224">
                  <c:v>68457400</c:v>
                </c:pt>
                <c:pt idx="225">
                  <c:v>81094400</c:v>
                </c:pt>
                <c:pt idx="226">
                  <c:v>70798000</c:v>
                </c:pt>
                <c:pt idx="227">
                  <c:v>49739400</c:v>
                </c:pt>
                <c:pt idx="228">
                  <c:v>49154200</c:v>
                </c:pt>
                <c:pt idx="229">
                  <c:v>62439600</c:v>
                </c:pt>
                <c:pt idx="230">
                  <c:v>63170100</c:v>
                </c:pt>
                <c:pt idx="231">
                  <c:v>79010000</c:v>
                </c:pt>
                <c:pt idx="232">
                  <c:v>53087700</c:v>
                </c:pt>
                <c:pt idx="233">
                  <c:v>72334400</c:v>
                </c:pt>
                <c:pt idx="234">
                  <c:v>52161500</c:v>
                </c:pt>
                <c:pt idx="235">
                  <c:v>65800500</c:v>
                </c:pt>
                <c:pt idx="236">
                  <c:v>51794500</c:v>
                </c:pt>
                <c:pt idx="237">
                  <c:v>75077000</c:v>
                </c:pt>
                <c:pt idx="238">
                  <c:v>133369700</c:v>
                </c:pt>
                <c:pt idx="239">
                  <c:v>55678800</c:v>
                </c:pt>
                <c:pt idx="240">
                  <c:v>64416500</c:v>
                </c:pt>
                <c:pt idx="241">
                  <c:v>40943500</c:v>
                </c:pt>
                <c:pt idx="242">
                  <c:v>37357200</c:v>
                </c:pt>
                <c:pt idx="243">
                  <c:v>45964300</c:v>
                </c:pt>
                <c:pt idx="244">
                  <c:v>46471700</c:v>
                </c:pt>
                <c:pt idx="245">
                  <c:v>46418100</c:v>
                </c:pt>
                <c:pt idx="246">
                  <c:v>54021400</c:v>
                </c:pt>
                <c:pt idx="247">
                  <c:v>44331200</c:v>
                </c:pt>
                <c:pt idx="248">
                  <c:v>42343600</c:v>
                </c:pt>
                <c:pt idx="249">
                  <c:v>50074700</c:v>
                </c:pt>
                <c:pt idx="250">
                  <c:v>40351400</c:v>
                </c:pt>
                <c:pt idx="251">
                  <c:v>49057900</c:v>
                </c:pt>
                <c:pt idx="252">
                  <c:v>44863200</c:v>
                </c:pt>
                <c:pt idx="253">
                  <c:v>39021000</c:v>
                </c:pt>
                <c:pt idx="254">
                  <c:v>35374200</c:v>
                </c:pt>
                <c:pt idx="255">
                  <c:v>34280800</c:v>
                </c:pt>
                <c:pt idx="256">
                  <c:v>31942600</c:v>
                </c:pt>
                <c:pt idx="257">
                  <c:v>36255700</c:v>
                </c:pt>
                <c:pt idx="258">
                  <c:v>27582700</c:v>
                </c:pt>
                <c:pt idx="259">
                  <c:v>28991100</c:v>
                </c:pt>
                <c:pt idx="260">
                  <c:v>35216300</c:v>
                </c:pt>
                <c:pt idx="261">
                  <c:v>50407100</c:v>
                </c:pt>
                <c:pt idx="262">
                  <c:v>33169600</c:v>
                </c:pt>
                <c:pt idx="263">
                  <c:v>36955700</c:v>
                </c:pt>
                <c:pt idx="264">
                  <c:v>46055100</c:v>
                </c:pt>
                <c:pt idx="265">
                  <c:v>35828900</c:v>
                </c:pt>
                <c:pt idx="266">
                  <c:v>31561900</c:v>
                </c:pt>
                <c:pt idx="267">
                  <c:v>27201700</c:v>
                </c:pt>
                <c:pt idx="268">
                  <c:v>33513600</c:v>
                </c:pt>
                <c:pt idx="269">
                  <c:v>27408200</c:v>
                </c:pt>
                <c:pt idx="270">
                  <c:v>25076100</c:v>
                </c:pt>
                <c:pt idx="271">
                  <c:v>40067700</c:v>
                </c:pt>
                <c:pt idx="272">
                  <c:v>38303500</c:v>
                </c:pt>
                <c:pt idx="273">
                  <c:v>34420700</c:v>
                </c:pt>
                <c:pt idx="274">
                  <c:v>44205200</c:v>
                </c:pt>
                <c:pt idx="275">
                  <c:v>35502700</c:v>
                </c:pt>
                <c:pt idx="276">
                  <c:v>32444400</c:v>
                </c:pt>
                <c:pt idx="277">
                  <c:v>25703500</c:v>
                </c:pt>
                <c:pt idx="278">
                  <c:v>26133000</c:v>
                </c:pt>
                <c:pt idx="279">
                  <c:v>19411400</c:v>
                </c:pt>
                <c:pt idx="280">
                  <c:v>31190100</c:v>
                </c:pt>
                <c:pt idx="281">
                  <c:v>45601100</c:v>
                </c:pt>
                <c:pt idx="282">
                  <c:v>25888400</c:v>
                </c:pt>
                <c:pt idx="283">
                  <c:v>25874000</c:v>
                </c:pt>
                <c:pt idx="284">
                  <c:v>37356200</c:v>
                </c:pt>
                <c:pt idx="285">
                  <c:v>26578700</c:v>
                </c:pt>
                <c:pt idx="286">
                  <c:v>26404100</c:v>
                </c:pt>
                <c:pt idx="287">
                  <c:v>31801900</c:v>
                </c:pt>
                <c:pt idx="288">
                  <c:v>23581700</c:v>
                </c:pt>
                <c:pt idx="289">
                  <c:v>29407500</c:v>
                </c:pt>
                <c:pt idx="290">
                  <c:v>27232300</c:v>
                </c:pt>
                <c:pt idx="291">
                  <c:v>33257300</c:v>
                </c:pt>
                <c:pt idx="292">
                  <c:v>25473900</c:v>
                </c:pt>
                <c:pt idx="293">
                  <c:v>46939000</c:v>
                </c:pt>
                <c:pt idx="294">
                  <c:v>60834000</c:v>
                </c:pt>
                <c:pt idx="295">
                  <c:v>32384900</c:v>
                </c:pt>
                <c:pt idx="296">
                  <c:v>30611000</c:v>
                </c:pt>
                <c:pt idx="297">
                  <c:v>31552500</c:v>
                </c:pt>
                <c:pt idx="298">
                  <c:v>33683100</c:v>
                </c:pt>
                <c:pt idx="299">
                  <c:v>28031600</c:v>
                </c:pt>
                <c:pt idx="300">
                  <c:v>56016200</c:v>
                </c:pt>
                <c:pt idx="301">
                  <c:v>114602100</c:v>
                </c:pt>
                <c:pt idx="302">
                  <c:v>82242700</c:v>
                </c:pt>
                <c:pt idx="303">
                  <c:v>68531500</c:v>
                </c:pt>
                <c:pt idx="304">
                  <c:v>48160100</c:v>
                </c:pt>
                <c:pt idx="305">
                  <c:v>56831300</c:v>
                </c:pt>
                <c:pt idx="306">
                  <c:v>41025500</c:v>
                </c:pt>
                <c:pt idx="307">
                  <c:v>35890500</c:v>
                </c:pt>
                <c:pt idx="308">
                  <c:v>43458200</c:v>
                </c:pt>
                <c:pt idx="309">
                  <c:v>32936400</c:v>
                </c:pt>
                <c:pt idx="310">
                  <c:v>33686800</c:v>
                </c:pt>
                <c:pt idx="311">
                  <c:v>28719100</c:v>
                </c:pt>
                <c:pt idx="312">
                  <c:v>76314700</c:v>
                </c:pt>
                <c:pt idx="313">
                  <c:v>44392800</c:v>
                </c:pt>
                <c:pt idx="314">
                  <c:v>61259800</c:v>
                </c:pt>
                <c:pt idx="315">
                  <c:v>46916900</c:v>
                </c:pt>
                <c:pt idx="316">
                  <c:v>42062400</c:v>
                </c:pt>
                <c:pt idx="317">
                  <c:v>30442100</c:v>
                </c:pt>
                <c:pt idx="318">
                  <c:v>32026000</c:v>
                </c:pt>
                <c:pt idx="319">
                  <c:v>38018600</c:v>
                </c:pt>
                <c:pt idx="320">
                  <c:v>35140200</c:v>
                </c:pt>
                <c:pt idx="321">
                  <c:v>38168800</c:v>
                </c:pt>
                <c:pt idx="322">
                  <c:v>56331200</c:v>
                </c:pt>
                <c:pt idx="323">
                  <c:v>36229500</c:v>
                </c:pt>
                <c:pt idx="324">
                  <c:v>42307200</c:v>
                </c:pt>
                <c:pt idx="325">
                  <c:v>29173300</c:v>
                </c:pt>
                <c:pt idx="326">
                  <c:v>40191600</c:v>
                </c:pt>
                <c:pt idx="327">
                  <c:v>28062900</c:v>
                </c:pt>
                <c:pt idx="328">
                  <c:v>23292500</c:v>
                </c:pt>
                <c:pt idx="329">
                  <c:v>22409500</c:v>
                </c:pt>
                <c:pt idx="330">
                  <c:v>20848100</c:v>
                </c:pt>
                <c:pt idx="331">
                  <c:v>26601400</c:v>
                </c:pt>
                <c:pt idx="332">
                  <c:v>31712900</c:v>
                </c:pt>
                <c:pt idx="333">
                  <c:v>38020500</c:v>
                </c:pt>
                <c:pt idx="334">
                  <c:v>31931900</c:v>
                </c:pt>
                <c:pt idx="335">
                  <c:v>29445200</c:v>
                </c:pt>
                <c:pt idx="336">
                  <c:v>31326800</c:v>
                </c:pt>
                <c:pt idx="337">
                  <c:v>61008200</c:v>
                </c:pt>
                <c:pt idx="338">
                  <c:v>34411900</c:v>
                </c:pt>
                <c:pt idx="339">
                  <c:v>35546400</c:v>
                </c:pt>
                <c:pt idx="340">
                  <c:v>29219100</c:v>
                </c:pt>
                <c:pt idx="341">
                  <c:v>32240200</c:v>
                </c:pt>
                <c:pt idx="342">
                  <c:v>75311400</c:v>
                </c:pt>
                <c:pt idx="343">
                  <c:v>45489600</c:v>
                </c:pt>
                <c:pt idx="344">
                  <c:v>40444900</c:v>
                </c:pt>
                <c:pt idx="345">
                  <c:v>36531000</c:v>
                </c:pt>
                <c:pt idx="346">
                  <c:v>35836400</c:v>
                </c:pt>
                <c:pt idx="347">
                  <c:v>26026500</c:v>
                </c:pt>
                <c:pt idx="348">
                  <c:v>27705200</c:v>
                </c:pt>
                <c:pt idx="349">
                  <c:v>30949100</c:v>
                </c:pt>
                <c:pt idx="350">
                  <c:v>25139600</c:v>
                </c:pt>
                <c:pt idx="351">
                  <c:v>28912100</c:v>
                </c:pt>
                <c:pt idx="352">
                  <c:v>23794900</c:v>
                </c:pt>
                <c:pt idx="353">
                  <c:v>24167500</c:v>
                </c:pt>
                <c:pt idx="354">
                  <c:v>25892200</c:v>
                </c:pt>
                <c:pt idx="355">
                  <c:v>38919000</c:v>
                </c:pt>
                <c:pt idx="356">
                  <c:v>30137000</c:v>
                </c:pt>
                <c:pt idx="357">
                  <c:v>36493900</c:v>
                </c:pt>
                <c:pt idx="358">
                  <c:v>23779900</c:v>
                </c:pt>
                <c:pt idx="359">
                  <c:v>26276000</c:v>
                </c:pt>
                <c:pt idx="360">
                  <c:v>32702000</c:v>
                </c:pt>
                <c:pt idx="361">
                  <c:v>28313700</c:v>
                </c:pt>
                <c:pt idx="362">
                  <c:v>40382900</c:v>
                </c:pt>
                <c:pt idx="363">
                  <c:v>56239800</c:v>
                </c:pt>
                <c:pt idx="364">
                  <c:v>92344800</c:v>
                </c:pt>
                <c:pt idx="365">
                  <c:v>39869800</c:v>
                </c:pt>
                <c:pt idx="366">
                  <c:v>27733700</c:v>
                </c:pt>
                <c:pt idx="367">
                  <c:v>38167900</c:v>
                </c:pt>
                <c:pt idx="368">
                  <c:v>33816600</c:v>
                </c:pt>
                <c:pt idx="369">
                  <c:v>30202600</c:v>
                </c:pt>
                <c:pt idx="370">
                  <c:v>27408700</c:v>
                </c:pt>
                <c:pt idx="371">
                  <c:v>40553400</c:v>
                </c:pt>
                <c:pt idx="372">
                  <c:v>28037200</c:v>
                </c:pt>
                <c:pt idx="373">
                  <c:v>26315200</c:v>
                </c:pt>
                <c:pt idx="374">
                  <c:v>24008500</c:v>
                </c:pt>
                <c:pt idx="375">
                  <c:v>27484500</c:v>
                </c:pt>
                <c:pt idx="376">
                  <c:v>18660400</c:v>
                </c:pt>
                <c:pt idx="377">
                  <c:v>25868200</c:v>
                </c:pt>
                <c:pt idx="378">
                  <c:v>33794400</c:v>
                </c:pt>
                <c:pt idx="379">
                  <c:v>25356000</c:v>
                </c:pt>
                <c:pt idx="380">
                  <c:v>21984700</c:v>
                </c:pt>
                <c:pt idx="381">
                  <c:v>25368100</c:v>
                </c:pt>
                <c:pt idx="382">
                  <c:v>25820200</c:v>
                </c:pt>
                <c:pt idx="383">
                  <c:v>21257700</c:v>
                </c:pt>
                <c:pt idx="384">
                  <c:v>23675100</c:v>
                </c:pt>
                <c:pt idx="385">
                  <c:v>25086200</c:v>
                </c:pt>
                <c:pt idx="386">
                  <c:v>27766300</c:v>
                </c:pt>
                <c:pt idx="387">
                  <c:v>24970300</c:v>
                </c:pt>
                <c:pt idx="388">
                  <c:v>24863900</c:v>
                </c:pt>
                <c:pt idx="389">
                  <c:v>29662400</c:v>
                </c:pt>
                <c:pt idx="390">
                  <c:v>26701500</c:v>
                </c:pt>
                <c:pt idx="391">
                  <c:v>26802500</c:v>
                </c:pt>
                <c:pt idx="392">
                  <c:v>26880400</c:v>
                </c:pt>
                <c:pt idx="393">
                  <c:v>42364300</c:v>
                </c:pt>
                <c:pt idx="394">
                  <c:v>53002000</c:v>
                </c:pt>
                <c:pt idx="395">
                  <c:v>46557000</c:v>
                </c:pt>
                <c:pt idx="396">
                  <c:v>45292800</c:v>
                </c:pt>
                <c:pt idx="397">
                  <c:v>62176200</c:v>
                </c:pt>
                <c:pt idx="398">
                  <c:v>110888700</c:v>
                </c:pt>
                <c:pt idx="399">
                  <c:v>89983600</c:v>
                </c:pt>
                <c:pt idx="400">
                  <c:v>79886900</c:v>
                </c:pt>
                <c:pt idx="401">
                  <c:v>47023000</c:v>
                </c:pt>
                <c:pt idx="402">
                  <c:v>34514300</c:v>
                </c:pt>
                <c:pt idx="403">
                  <c:v>36003200</c:v>
                </c:pt>
                <c:pt idx="404">
                  <c:v>31074000</c:v>
                </c:pt>
                <c:pt idx="405">
                  <c:v>52481200</c:v>
                </c:pt>
                <c:pt idx="406">
                  <c:v>29869400</c:v>
                </c:pt>
                <c:pt idx="407">
                  <c:v>24607400</c:v>
                </c:pt>
                <c:pt idx="408">
                  <c:v>29641100</c:v>
                </c:pt>
                <c:pt idx="409">
                  <c:v>35887000</c:v>
                </c:pt>
                <c:pt idx="410">
                  <c:v>36379100</c:v>
                </c:pt>
                <c:pt idx="411">
                  <c:v>21701800</c:v>
                </c:pt>
                <c:pt idx="412">
                  <c:v>29736800</c:v>
                </c:pt>
                <c:pt idx="413">
                  <c:v>21453100</c:v>
                </c:pt>
                <c:pt idx="414">
                  <c:v>28779300</c:v>
                </c:pt>
                <c:pt idx="415">
                  <c:v>24358400</c:v>
                </c:pt>
                <c:pt idx="416">
                  <c:v>36236000</c:v>
                </c:pt>
                <c:pt idx="417">
                  <c:v>64041000</c:v>
                </c:pt>
                <c:pt idx="418">
                  <c:v>37586800</c:v>
                </c:pt>
                <c:pt idx="419">
                  <c:v>35192400</c:v>
                </c:pt>
                <c:pt idx="420">
                  <c:v>35652200</c:v>
                </c:pt>
                <c:pt idx="421">
                  <c:v>23624900</c:v>
                </c:pt>
                <c:pt idx="422">
                  <c:v>24553500</c:v>
                </c:pt>
                <c:pt idx="423">
                  <c:v>20034600</c:v>
                </c:pt>
                <c:pt idx="424">
                  <c:v>24125800</c:v>
                </c:pt>
                <c:pt idx="425">
                  <c:v>23192700</c:v>
                </c:pt>
                <c:pt idx="426">
                  <c:v>23538700</c:v>
                </c:pt>
                <c:pt idx="427">
                  <c:v>48129000</c:v>
                </c:pt>
                <c:pt idx="428">
                  <c:v>66134200</c:v>
                </c:pt>
                <c:pt idx="429">
                  <c:v>34562000</c:v>
                </c:pt>
                <c:pt idx="430">
                  <c:v>37861700</c:v>
                </c:pt>
                <c:pt idx="431">
                  <c:v>26419400</c:v>
                </c:pt>
                <c:pt idx="432">
                  <c:v>43825800</c:v>
                </c:pt>
                <c:pt idx="433">
                  <c:v>28331700</c:v>
                </c:pt>
                <c:pt idx="434">
                  <c:v>26932600</c:v>
                </c:pt>
                <c:pt idx="435">
                  <c:v>30837000</c:v>
                </c:pt>
                <c:pt idx="436">
                  <c:v>32560000</c:v>
                </c:pt>
                <c:pt idx="437">
                  <c:v>24054500</c:v>
                </c:pt>
                <c:pt idx="438">
                  <c:v>59176400</c:v>
                </c:pt>
                <c:pt idx="439">
                  <c:v>57134500</c:v>
                </c:pt>
                <c:pt idx="440">
                  <c:v>34143900</c:v>
                </c:pt>
                <c:pt idx="441">
                  <c:v>51175500</c:v>
                </c:pt>
                <c:pt idx="442">
                  <c:v>32264500</c:v>
                </c:pt>
                <c:pt idx="443">
                  <c:v>58840500</c:v>
                </c:pt>
                <c:pt idx="444">
                  <c:v>27632000</c:v>
                </c:pt>
                <c:pt idx="445">
                  <c:v>28428900</c:v>
                </c:pt>
                <c:pt idx="446">
                  <c:v>29264600</c:v>
                </c:pt>
                <c:pt idx="447">
                  <c:v>25965500</c:v>
                </c:pt>
                <c:pt idx="448">
                  <c:v>27426400</c:v>
                </c:pt>
                <c:pt idx="449">
                  <c:v>11475900</c:v>
                </c:pt>
                <c:pt idx="450">
                  <c:v>27194000</c:v>
                </c:pt>
                <c:pt idx="451">
                  <c:v>28528800</c:v>
                </c:pt>
                <c:pt idx="452">
                  <c:v>36162300</c:v>
                </c:pt>
                <c:pt idx="453">
                  <c:v>37086900</c:v>
                </c:pt>
                <c:pt idx="454">
                  <c:v>26528000</c:v>
                </c:pt>
                <c:pt idx="455">
                  <c:v>34324500</c:v>
                </c:pt>
                <c:pt idx="456">
                  <c:v>26195500</c:v>
                </c:pt>
                <c:pt idx="457">
                  <c:v>29998700</c:v>
                </c:pt>
                <c:pt idx="458">
                  <c:v>27068300</c:v>
                </c:pt>
                <c:pt idx="459">
                  <c:v>34402600</c:v>
                </c:pt>
                <c:pt idx="460">
                  <c:v>26374400</c:v>
                </c:pt>
                <c:pt idx="461">
                  <c:v>43733800</c:v>
                </c:pt>
                <c:pt idx="462">
                  <c:v>34031800</c:v>
                </c:pt>
                <c:pt idx="463">
                  <c:v>46524500</c:v>
                </c:pt>
                <c:pt idx="464">
                  <c:v>44351100</c:v>
                </c:pt>
                <c:pt idx="465">
                  <c:v>27779400</c:v>
                </c:pt>
                <c:pt idx="466">
                  <c:v>21425000</c:v>
                </c:pt>
                <c:pt idx="467">
                  <c:v>23783200</c:v>
                </c:pt>
                <c:pt idx="468">
                  <c:v>26085900</c:v>
                </c:pt>
                <c:pt idx="469">
                  <c:v>14249500</c:v>
                </c:pt>
                <c:pt idx="470">
                  <c:v>18296900</c:v>
                </c:pt>
                <c:pt idx="471">
                  <c:v>20905900</c:v>
                </c:pt>
                <c:pt idx="472">
                  <c:v>15039500</c:v>
                </c:pt>
                <c:pt idx="473">
                  <c:v>30586300</c:v>
                </c:pt>
                <c:pt idx="474">
                  <c:v>28781900</c:v>
                </c:pt>
                <c:pt idx="475">
                  <c:v>21118100</c:v>
                </c:pt>
                <c:pt idx="476">
                  <c:v>22193600</c:v>
                </c:pt>
                <c:pt idx="477">
                  <c:v>31751900</c:v>
                </c:pt>
                <c:pt idx="478">
                  <c:v>33387600</c:v>
                </c:pt>
                <c:pt idx="479">
                  <c:v>24462100</c:v>
                </c:pt>
                <c:pt idx="480">
                  <c:v>27588600</c:v>
                </c:pt>
                <c:pt idx="481">
                  <c:v>27086200</c:v>
                </c:pt>
                <c:pt idx="482">
                  <c:v>26111900</c:v>
                </c:pt>
                <c:pt idx="483">
                  <c:v>34439800</c:v>
                </c:pt>
                <c:pt idx="484">
                  <c:v>23713000</c:v>
                </c:pt>
                <c:pt idx="485">
                  <c:v>25597300</c:v>
                </c:pt>
                <c:pt idx="486">
                  <c:v>32597900</c:v>
                </c:pt>
                <c:pt idx="487">
                  <c:v>22050200</c:v>
                </c:pt>
                <c:pt idx="488">
                  <c:v>23211000</c:v>
                </c:pt>
                <c:pt idx="489">
                  <c:v>32377600</c:v>
                </c:pt>
                <c:pt idx="490">
                  <c:v>26337600</c:v>
                </c:pt>
                <c:pt idx="491">
                  <c:v>20562900</c:v>
                </c:pt>
                <c:pt idx="492">
                  <c:v>30377500</c:v>
                </c:pt>
                <c:pt idx="493">
                  <c:v>49201000</c:v>
                </c:pt>
                <c:pt idx="494">
                  <c:v>111985000</c:v>
                </c:pt>
                <c:pt idx="495">
                  <c:v>33710400</c:v>
                </c:pt>
                <c:pt idx="496">
                  <c:v>24507300</c:v>
                </c:pt>
                <c:pt idx="497">
                  <c:v>26845900</c:v>
                </c:pt>
                <c:pt idx="498">
                  <c:v>38183800</c:v>
                </c:pt>
                <c:pt idx="499">
                  <c:v>23004100</c:v>
                </c:pt>
                <c:pt idx="500">
                  <c:v>28349900</c:v>
                </c:pt>
                <c:pt idx="501">
                  <c:v>20065500</c:v>
                </c:pt>
                <c:pt idx="502">
                  <c:v>23035400</c:v>
                </c:pt>
                <c:pt idx="503">
                  <c:v>32815500</c:v>
                </c:pt>
                <c:pt idx="504">
                  <c:v>35501600</c:v>
                </c:pt>
                <c:pt idx="505">
                  <c:v>22118000</c:v>
                </c:pt>
              </c:numCache>
            </c:numRef>
          </c:xVal>
          <c:yVal>
            <c:numRef>
              <c:f>'Chart Data'!$B$2:$B$507</c:f>
              <c:numCache>
                <c:formatCode>$0</c:formatCode>
                <c:ptCount val="506"/>
                <c:pt idx="0">
                  <c:v>127.830002</c:v>
                </c:pt>
                <c:pt idx="1">
                  <c:v>128.720001</c:v>
                </c:pt>
                <c:pt idx="2">
                  <c:v>128.449997</c:v>
                </c:pt>
                <c:pt idx="3">
                  <c:v>129.5</c:v>
                </c:pt>
                <c:pt idx="4">
                  <c:v>133</c:v>
                </c:pt>
                <c:pt idx="5">
                  <c:v>132.169998</c:v>
                </c:pt>
                <c:pt idx="6">
                  <c:v>128.789993</c:v>
                </c:pt>
                <c:pt idx="7">
                  <c:v>130.419998</c:v>
                </c:pt>
                <c:pt idx="8">
                  <c:v>128.460007</c:v>
                </c:pt>
                <c:pt idx="9">
                  <c:v>129.089996</c:v>
                </c:pt>
                <c:pt idx="10">
                  <c:v>129.360001</c:v>
                </c:pt>
                <c:pt idx="11">
                  <c:v>128.539993</c:v>
                </c:pt>
                <c:pt idx="12">
                  <c:v>126.410004</c:v>
                </c:pt>
                <c:pt idx="13">
                  <c:v>126.599998</c:v>
                </c:pt>
                <c:pt idx="14">
                  <c:v>127.139999</c:v>
                </c:pt>
                <c:pt idx="15">
                  <c:v>124.510002</c:v>
                </c:pt>
                <c:pt idx="16">
                  <c:v>122.239998</c:v>
                </c:pt>
                <c:pt idx="17">
                  <c:v>124.449997</c:v>
                </c:pt>
                <c:pt idx="18">
                  <c:v>123.589996</c:v>
                </c:pt>
                <c:pt idx="19">
                  <c:v>124.949997</c:v>
                </c:pt>
                <c:pt idx="20">
                  <c:v>127.040001</c:v>
                </c:pt>
                <c:pt idx="21">
                  <c:v>128.470001</c:v>
                </c:pt>
                <c:pt idx="22">
                  <c:v>127.5</c:v>
                </c:pt>
                <c:pt idx="23">
                  <c:v>125.900002</c:v>
                </c:pt>
                <c:pt idx="24">
                  <c:v>127.209999</c:v>
                </c:pt>
                <c:pt idx="25">
                  <c:v>126.690002</c:v>
                </c:pt>
                <c:pt idx="26">
                  <c:v>123.379997</c:v>
                </c:pt>
                <c:pt idx="27">
                  <c:v>124.239998</c:v>
                </c:pt>
                <c:pt idx="28">
                  <c:v>123.25</c:v>
                </c:pt>
                <c:pt idx="29">
                  <c:v>126.370003</c:v>
                </c:pt>
                <c:pt idx="30">
                  <c:v>124.43</c:v>
                </c:pt>
                <c:pt idx="31">
                  <c:v>124.25</c:v>
                </c:pt>
                <c:pt idx="32">
                  <c:v>125.32</c:v>
                </c:pt>
                <c:pt idx="33">
                  <c:v>127.349998</c:v>
                </c:pt>
                <c:pt idx="34">
                  <c:v>126.010002</c:v>
                </c:pt>
                <c:pt idx="35">
                  <c:v>125.599998</c:v>
                </c:pt>
                <c:pt idx="36">
                  <c:v>126.559998</c:v>
                </c:pt>
                <c:pt idx="37">
                  <c:v>127.099998</c:v>
                </c:pt>
                <c:pt idx="38">
                  <c:v>126.849998</c:v>
                </c:pt>
                <c:pt idx="39">
                  <c:v>126.300003</c:v>
                </c:pt>
                <c:pt idx="40">
                  <c:v>126.779999</c:v>
                </c:pt>
                <c:pt idx="41">
                  <c:v>126.169998</c:v>
                </c:pt>
                <c:pt idx="42">
                  <c:v>124.75</c:v>
                </c:pt>
                <c:pt idx="43">
                  <c:v>127.599998</c:v>
                </c:pt>
                <c:pt idx="44">
                  <c:v>126.910004</c:v>
                </c:pt>
                <c:pt idx="45">
                  <c:v>128.619995</c:v>
                </c:pt>
                <c:pt idx="46">
                  <c:v>129.669998</c:v>
                </c:pt>
                <c:pt idx="47">
                  <c:v>130.279999</c:v>
                </c:pt>
                <c:pt idx="48">
                  <c:v>132.649994</c:v>
                </c:pt>
                <c:pt idx="49">
                  <c:v>130.559998</c:v>
                </c:pt>
                <c:pt idx="50">
                  <c:v>128.639999</c:v>
                </c:pt>
                <c:pt idx="51">
                  <c:v>125.150002</c:v>
                </c:pt>
                <c:pt idx="52">
                  <c:v>128.949997</c:v>
                </c:pt>
                <c:pt idx="53">
                  <c:v>128.699997</c:v>
                </c:pt>
                <c:pt idx="54">
                  <c:v>125.800003</c:v>
                </c:pt>
                <c:pt idx="55">
                  <c:v>125.010002</c:v>
                </c:pt>
                <c:pt idx="56">
                  <c:v>125.260002</c:v>
                </c:pt>
                <c:pt idx="57">
                  <c:v>127.620003</c:v>
                </c:pt>
                <c:pt idx="58">
                  <c:v>126.32</c:v>
                </c:pt>
                <c:pt idx="59">
                  <c:v>125.870003</c:v>
                </c:pt>
                <c:pt idx="60">
                  <c:v>126.010002</c:v>
                </c:pt>
                <c:pt idx="61">
                  <c:v>128.949997</c:v>
                </c:pt>
                <c:pt idx="62">
                  <c:v>128.770004</c:v>
                </c:pt>
                <c:pt idx="63">
                  <c:v>130.190002</c:v>
                </c:pt>
                <c:pt idx="64">
                  <c:v>130.070007</c:v>
                </c:pt>
                <c:pt idx="65">
                  <c:v>130.059998</c:v>
                </c:pt>
                <c:pt idx="66">
                  <c:v>131.389999</c:v>
                </c:pt>
                <c:pt idx="67">
                  <c:v>132.539993</c:v>
                </c:pt>
                <c:pt idx="68">
                  <c:v>129.619995</c:v>
                </c:pt>
                <c:pt idx="69">
                  <c:v>132.039993</c:v>
                </c:pt>
                <c:pt idx="70">
                  <c:v>131.779999</c:v>
                </c:pt>
                <c:pt idx="71">
                  <c:v>130.279999</c:v>
                </c:pt>
                <c:pt idx="72">
                  <c:v>130.539993</c:v>
                </c:pt>
                <c:pt idx="73">
                  <c:v>129.960007</c:v>
                </c:pt>
                <c:pt idx="74">
                  <c:v>130.119995</c:v>
                </c:pt>
                <c:pt idx="75">
                  <c:v>129.360001</c:v>
                </c:pt>
                <c:pt idx="76">
                  <c:v>128.649994</c:v>
                </c:pt>
                <c:pt idx="77">
                  <c:v>127.800003</c:v>
                </c:pt>
                <c:pt idx="78">
                  <c:v>127.419998</c:v>
                </c:pt>
                <c:pt idx="79">
                  <c:v>128.880005</c:v>
                </c:pt>
                <c:pt idx="80">
                  <c:v>128.589996</c:v>
                </c:pt>
                <c:pt idx="81">
                  <c:v>127.169998</c:v>
                </c:pt>
                <c:pt idx="82">
                  <c:v>126.919998</c:v>
                </c:pt>
                <c:pt idx="83">
                  <c:v>127.599998</c:v>
                </c:pt>
                <c:pt idx="84">
                  <c:v>127.300003</c:v>
                </c:pt>
                <c:pt idx="85">
                  <c:v>127.879997</c:v>
                </c:pt>
                <c:pt idx="86">
                  <c:v>126.599998</c:v>
                </c:pt>
                <c:pt idx="87">
                  <c:v>127.610001</c:v>
                </c:pt>
                <c:pt idx="88">
                  <c:v>127.029999</c:v>
                </c:pt>
                <c:pt idx="89">
                  <c:v>128.110001</c:v>
                </c:pt>
                <c:pt idx="90">
                  <c:v>127.5</c:v>
                </c:pt>
                <c:pt idx="91">
                  <c:v>126.75</c:v>
                </c:pt>
                <c:pt idx="92">
                  <c:v>124.529999</c:v>
                </c:pt>
                <c:pt idx="93">
                  <c:v>125.43</c:v>
                </c:pt>
                <c:pt idx="94">
                  <c:v>126.599998</c:v>
                </c:pt>
                <c:pt idx="95">
                  <c:v>126.440002</c:v>
                </c:pt>
                <c:pt idx="96">
                  <c:v>126</c:v>
                </c:pt>
                <c:pt idx="97">
                  <c:v>125.690002</c:v>
                </c:pt>
                <c:pt idx="98">
                  <c:v>122.57</c:v>
                </c:pt>
                <c:pt idx="99">
                  <c:v>120.07</c:v>
                </c:pt>
                <c:pt idx="100">
                  <c:v>123.279999</c:v>
                </c:pt>
                <c:pt idx="101">
                  <c:v>125.660004</c:v>
                </c:pt>
                <c:pt idx="102">
                  <c:v>125.610001</c:v>
                </c:pt>
                <c:pt idx="103">
                  <c:v>126.82</c:v>
                </c:pt>
                <c:pt idx="104">
                  <c:v>128.509995</c:v>
                </c:pt>
                <c:pt idx="105">
                  <c:v>129.619995</c:v>
                </c:pt>
                <c:pt idx="106">
                  <c:v>132.070007</c:v>
                </c:pt>
                <c:pt idx="107">
                  <c:v>130.75</c:v>
                </c:pt>
                <c:pt idx="108">
                  <c:v>125.220001</c:v>
                </c:pt>
                <c:pt idx="109">
                  <c:v>125.160004</c:v>
                </c:pt>
                <c:pt idx="110">
                  <c:v>124.5</c:v>
                </c:pt>
                <c:pt idx="111">
                  <c:v>122.769997</c:v>
                </c:pt>
                <c:pt idx="112">
                  <c:v>123.379997</c:v>
                </c:pt>
                <c:pt idx="113">
                  <c:v>122.989998</c:v>
                </c:pt>
                <c:pt idx="114">
                  <c:v>122.370003</c:v>
                </c:pt>
                <c:pt idx="115">
                  <c:v>121.300003</c:v>
                </c:pt>
                <c:pt idx="116">
                  <c:v>118.440002</c:v>
                </c:pt>
                <c:pt idx="117">
                  <c:v>114.639999</c:v>
                </c:pt>
                <c:pt idx="118">
                  <c:v>115.400002</c:v>
                </c:pt>
                <c:pt idx="119">
                  <c:v>115.129997</c:v>
                </c:pt>
                <c:pt idx="120">
                  <c:v>115.519997</c:v>
                </c:pt>
                <c:pt idx="121">
                  <c:v>119.720001</c:v>
                </c:pt>
                <c:pt idx="122">
                  <c:v>113.489998</c:v>
                </c:pt>
                <c:pt idx="123">
                  <c:v>115.239998</c:v>
                </c:pt>
                <c:pt idx="124">
                  <c:v>115.150002</c:v>
                </c:pt>
                <c:pt idx="125">
                  <c:v>115.959999</c:v>
                </c:pt>
                <c:pt idx="126">
                  <c:v>117.160004</c:v>
                </c:pt>
                <c:pt idx="127">
                  <c:v>116.5</c:v>
                </c:pt>
                <c:pt idx="128">
                  <c:v>115.010002</c:v>
                </c:pt>
                <c:pt idx="129">
                  <c:v>112.650002</c:v>
                </c:pt>
                <c:pt idx="130">
                  <c:v>105.760002</c:v>
                </c:pt>
                <c:pt idx="131">
                  <c:v>103.120003</c:v>
                </c:pt>
                <c:pt idx="132">
                  <c:v>103.739998</c:v>
                </c:pt>
                <c:pt idx="133">
                  <c:v>109.690002</c:v>
                </c:pt>
                <c:pt idx="134">
                  <c:v>112.919998</c:v>
                </c:pt>
                <c:pt idx="135">
                  <c:v>113.290001</c:v>
                </c:pt>
                <c:pt idx="136">
                  <c:v>112.760002</c:v>
                </c:pt>
                <c:pt idx="137">
                  <c:v>107.720001</c:v>
                </c:pt>
                <c:pt idx="138">
                  <c:v>112.339996</c:v>
                </c:pt>
                <c:pt idx="139">
                  <c:v>110.370003</c:v>
                </c:pt>
                <c:pt idx="140">
                  <c:v>109.269997</c:v>
                </c:pt>
                <c:pt idx="141">
                  <c:v>112.309998</c:v>
                </c:pt>
                <c:pt idx="142">
                  <c:v>110.150002</c:v>
                </c:pt>
                <c:pt idx="143">
                  <c:v>112.57</c:v>
                </c:pt>
                <c:pt idx="144">
                  <c:v>114.209999</c:v>
                </c:pt>
                <c:pt idx="145">
                  <c:v>115.309998</c:v>
                </c:pt>
                <c:pt idx="146">
                  <c:v>116.279999</c:v>
                </c:pt>
                <c:pt idx="147">
                  <c:v>116.410004</c:v>
                </c:pt>
                <c:pt idx="148">
                  <c:v>113.919998</c:v>
                </c:pt>
                <c:pt idx="149">
                  <c:v>113.449997</c:v>
                </c:pt>
                <c:pt idx="150">
                  <c:v>115.209999</c:v>
                </c:pt>
                <c:pt idx="151">
                  <c:v>113.400002</c:v>
                </c:pt>
                <c:pt idx="152">
                  <c:v>114.32</c:v>
                </c:pt>
                <c:pt idx="153">
                  <c:v>115</c:v>
                </c:pt>
                <c:pt idx="154">
                  <c:v>114.709999</c:v>
                </c:pt>
                <c:pt idx="155">
                  <c:v>112.440002</c:v>
                </c:pt>
                <c:pt idx="156">
                  <c:v>109.059998</c:v>
                </c:pt>
                <c:pt idx="157">
                  <c:v>110.300003</c:v>
                </c:pt>
                <c:pt idx="158">
                  <c:v>109.580002</c:v>
                </c:pt>
                <c:pt idx="159">
                  <c:v>110.379997</c:v>
                </c:pt>
                <c:pt idx="160">
                  <c:v>110.779999</c:v>
                </c:pt>
                <c:pt idx="161">
                  <c:v>111.309998</c:v>
                </c:pt>
                <c:pt idx="162">
                  <c:v>110.779999</c:v>
                </c:pt>
                <c:pt idx="163">
                  <c:v>109.5</c:v>
                </c:pt>
                <c:pt idx="164">
                  <c:v>112.120003</c:v>
                </c:pt>
                <c:pt idx="165">
                  <c:v>111.599998</c:v>
                </c:pt>
                <c:pt idx="166">
                  <c:v>111.790001</c:v>
                </c:pt>
                <c:pt idx="167">
                  <c:v>110.209999</c:v>
                </c:pt>
                <c:pt idx="168">
                  <c:v>111.860001</c:v>
                </c:pt>
                <c:pt idx="169">
                  <c:v>111.040001</c:v>
                </c:pt>
                <c:pt idx="170">
                  <c:v>111.730003</c:v>
                </c:pt>
                <c:pt idx="171">
                  <c:v>113.769997</c:v>
                </c:pt>
                <c:pt idx="172">
                  <c:v>113.760002</c:v>
                </c:pt>
                <c:pt idx="173">
                  <c:v>115.5</c:v>
                </c:pt>
                <c:pt idx="174">
                  <c:v>119.080002</c:v>
                </c:pt>
                <c:pt idx="175">
                  <c:v>115.279999</c:v>
                </c:pt>
                <c:pt idx="176">
                  <c:v>114.550003</c:v>
                </c:pt>
                <c:pt idx="177">
                  <c:v>119.269997</c:v>
                </c:pt>
                <c:pt idx="178">
                  <c:v>120.529999</c:v>
                </c:pt>
                <c:pt idx="179">
                  <c:v>119.5</c:v>
                </c:pt>
                <c:pt idx="180">
                  <c:v>121.18</c:v>
                </c:pt>
                <c:pt idx="181">
                  <c:v>122.57</c:v>
                </c:pt>
                <c:pt idx="182">
                  <c:v>122</c:v>
                </c:pt>
                <c:pt idx="183">
                  <c:v>120.919998</c:v>
                </c:pt>
                <c:pt idx="184">
                  <c:v>121.059998</c:v>
                </c:pt>
                <c:pt idx="185">
                  <c:v>120.57</c:v>
                </c:pt>
                <c:pt idx="186">
                  <c:v>116.769997</c:v>
                </c:pt>
                <c:pt idx="187">
                  <c:v>116.110001</c:v>
                </c:pt>
                <c:pt idx="188">
                  <c:v>115.720001</c:v>
                </c:pt>
                <c:pt idx="189">
                  <c:v>112.339996</c:v>
                </c:pt>
                <c:pt idx="190">
                  <c:v>114.18</c:v>
                </c:pt>
                <c:pt idx="191">
                  <c:v>113.690002</c:v>
                </c:pt>
                <c:pt idx="192">
                  <c:v>117.290001</c:v>
                </c:pt>
                <c:pt idx="193">
                  <c:v>118.779999</c:v>
                </c:pt>
                <c:pt idx="194">
                  <c:v>119.300003</c:v>
                </c:pt>
                <c:pt idx="195">
                  <c:v>117.75</c:v>
                </c:pt>
                <c:pt idx="196">
                  <c:v>118.879997</c:v>
                </c:pt>
                <c:pt idx="197">
                  <c:v>118.029999</c:v>
                </c:pt>
                <c:pt idx="198">
                  <c:v>117.809998</c:v>
                </c:pt>
                <c:pt idx="199">
                  <c:v>118.300003</c:v>
                </c:pt>
                <c:pt idx="200">
                  <c:v>117.339996</c:v>
                </c:pt>
                <c:pt idx="201">
                  <c:v>116.279999</c:v>
                </c:pt>
                <c:pt idx="202">
                  <c:v>115.199997</c:v>
                </c:pt>
                <c:pt idx="203">
                  <c:v>119.029999</c:v>
                </c:pt>
                <c:pt idx="204">
                  <c:v>118.279999</c:v>
                </c:pt>
                <c:pt idx="205">
                  <c:v>118.230003</c:v>
                </c:pt>
                <c:pt idx="206">
                  <c:v>115.620003</c:v>
                </c:pt>
                <c:pt idx="207">
                  <c:v>116.169998</c:v>
                </c:pt>
                <c:pt idx="208">
                  <c:v>113.18</c:v>
                </c:pt>
                <c:pt idx="209">
                  <c:v>112.480003</c:v>
                </c:pt>
                <c:pt idx="210">
                  <c:v>110.489998</c:v>
                </c:pt>
                <c:pt idx="211">
                  <c:v>111.339996</c:v>
                </c:pt>
                <c:pt idx="212">
                  <c:v>108.980003</c:v>
                </c:pt>
                <c:pt idx="213">
                  <c:v>106.029999</c:v>
                </c:pt>
                <c:pt idx="214">
                  <c:v>107.330002</c:v>
                </c:pt>
                <c:pt idx="215">
                  <c:v>107.230003</c:v>
                </c:pt>
                <c:pt idx="216">
                  <c:v>108.610001</c:v>
                </c:pt>
                <c:pt idx="217">
                  <c:v>108.029999</c:v>
                </c:pt>
                <c:pt idx="218">
                  <c:v>106.82</c:v>
                </c:pt>
                <c:pt idx="219">
                  <c:v>108.739998</c:v>
                </c:pt>
                <c:pt idx="220">
                  <c:v>107.32</c:v>
                </c:pt>
                <c:pt idx="221">
                  <c:v>105.260002</c:v>
                </c:pt>
                <c:pt idx="222">
                  <c:v>105.349998</c:v>
                </c:pt>
                <c:pt idx="223">
                  <c:v>102.709999</c:v>
                </c:pt>
                <c:pt idx="224">
                  <c:v>100.699997</c:v>
                </c:pt>
                <c:pt idx="225">
                  <c:v>96.449997</c:v>
                </c:pt>
                <c:pt idx="226">
                  <c:v>96.959999</c:v>
                </c:pt>
                <c:pt idx="227">
                  <c:v>98.529999</c:v>
                </c:pt>
                <c:pt idx="228">
                  <c:v>99.959999</c:v>
                </c:pt>
                <c:pt idx="229">
                  <c:v>97.389999</c:v>
                </c:pt>
                <c:pt idx="230">
                  <c:v>99.519997</c:v>
                </c:pt>
                <c:pt idx="231">
                  <c:v>97.129997</c:v>
                </c:pt>
                <c:pt idx="232">
                  <c:v>96.660004</c:v>
                </c:pt>
                <c:pt idx="233">
                  <c:v>96.790001</c:v>
                </c:pt>
                <c:pt idx="234">
                  <c:v>96.300003</c:v>
                </c:pt>
                <c:pt idx="235">
                  <c:v>101.419998</c:v>
                </c:pt>
                <c:pt idx="236">
                  <c:v>99.440002</c:v>
                </c:pt>
                <c:pt idx="237">
                  <c:v>99.989998</c:v>
                </c:pt>
                <c:pt idx="238">
                  <c:v>93.419998</c:v>
                </c:pt>
                <c:pt idx="239">
                  <c:v>94.089996</c:v>
                </c:pt>
                <c:pt idx="240">
                  <c:v>97.339996</c:v>
                </c:pt>
                <c:pt idx="241">
                  <c:v>96.43</c:v>
                </c:pt>
                <c:pt idx="242">
                  <c:v>94.480003</c:v>
                </c:pt>
                <c:pt idx="243">
                  <c:v>96.349998</c:v>
                </c:pt>
                <c:pt idx="244">
                  <c:v>96.599998</c:v>
                </c:pt>
                <c:pt idx="245">
                  <c:v>94.019997</c:v>
                </c:pt>
                <c:pt idx="246">
                  <c:v>95.010002</c:v>
                </c:pt>
                <c:pt idx="247">
                  <c:v>94.989998</c:v>
                </c:pt>
                <c:pt idx="248">
                  <c:v>94.269997</c:v>
                </c:pt>
                <c:pt idx="249">
                  <c:v>93.699997</c:v>
                </c:pt>
                <c:pt idx="250">
                  <c:v>93.989998</c:v>
                </c:pt>
                <c:pt idx="251">
                  <c:v>96.639999</c:v>
                </c:pt>
                <c:pt idx="252">
                  <c:v>98.120003</c:v>
                </c:pt>
                <c:pt idx="253">
                  <c:v>96.260002</c:v>
                </c:pt>
                <c:pt idx="254">
                  <c:v>96.040001</c:v>
                </c:pt>
                <c:pt idx="255">
                  <c:v>96.879997</c:v>
                </c:pt>
                <c:pt idx="256">
                  <c:v>94.690002</c:v>
                </c:pt>
                <c:pt idx="257">
                  <c:v>96.099998</c:v>
                </c:pt>
                <c:pt idx="258">
                  <c:v>96.760002</c:v>
                </c:pt>
                <c:pt idx="259">
                  <c:v>96.910004</c:v>
                </c:pt>
                <c:pt idx="260">
                  <c:v>96.690002</c:v>
                </c:pt>
                <c:pt idx="261">
                  <c:v>100.529999</c:v>
                </c:pt>
                <c:pt idx="262">
                  <c:v>100.75</c:v>
                </c:pt>
                <c:pt idx="263">
                  <c:v>101.5</c:v>
                </c:pt>
                <c:pt idx="264">
                  <c:v>103.010002</c:v>
                </c:pt>
                <c:pt idx="265">
                  <c:v>101.870003</c:v>
                </c:pt>
                <c:pt idx="266">
                  <c:v>101.029999</c:v>
                </c:pt>
                <c:pt idx="267">
                  <c:v>101.120003</c:v>
                </c:pt>
                <c:pt idx="268">
                  <c:v>101.169998</c:v>
                </c:pt>
                <c:pt idx="269">
                  <c:v>102.260002</c:v>
                </c:pt>
                <c:pt idx="270">
                  <c:v>102.519997</c:v>
                </c:pt>
                <c:pt idx="271">
                  <c:v>104.580002</c:v>
                </c:pt>
                <c:pt idx="272">
                  <c:v>105.970001</c:v>
                </c:pt>
                <c:pt idx="273">
                  <c:v>105.800003</c:v>
                </c:pt>
                <c:pt idx="274">
                  <c:v>105.919998</c:v>
                </c:pt>
                <c:pt idx="275">
                  <c:v>105.910004</c:v>
                </c:pt>
                <c:pt idx="276">
                  <c:v>106.720001</c:v>
                </c:pt>
                <c:pt idx="277">
                  <c:v>106.129997</c:v>
                </c:pt>
                <c:pt idx="278">
                  <c:v>105.669998</c:v>
                </c:pt>
                <c:pt idx="279">
                  <c:v>105.190002</c:v>
                </c:pt>
                <c:pt idx="280">
                  <c:v>107.68</c:v>
                </c:pt>
                <c:pt idx="281">
                  <c:v>109.559998</c:v>
                </c:pt>
                <c:pt idx="282">
                  <c:v>108.989998</c:v>
                </c:pt>
                <c:pt idx="283">
                  <c:v>109.989998</c:v>
                </c:pt>
                <c:pt idx="284">
                  <c:v>111.120003</c:v>
                </c:pt>
                <c:pt idx="285">
                  <c:v>109.809998</c:v>
                </c:pt>
                <c:pt idx="286">
                  <c:v>110.959999</c:v>
                </c:pt>
                <c:pt idx="287">
                  <c:v>108.540001</c:v>
                </c:pt>
                <c:pt idx="288">
                  <c:v>108.660004</c:v>
                </c:pt>
                <c:pt idx="289">
                  <c:v>109.019997</c:v>
                </c:pt>
                <c:pt idx="290">
                  <c:v>110.440002</c:v>
                </c:pt>
                <c:pt idx="291">
                  <c:v>112.040001</c:v>
                </c:pt>
                <c:pt idx="292">
                  <c:v>112.099998</c:v>
                </c:pt>
                <c:pt idx="293">
                  <c:v>109.849998</c:v>
                </c:pt>
                <c:pt idx="294">
                  <c:v>107.480003</c:v>
                </c:pt>
                <c:pt idx="295">
                  <c:v>106.910004</c:v>
                </c:pt>
                <c:pt idx="296">
                  <c:v>107.129997</c:v>
                </c:pt>
                <c:pt idx="297">
                  <c:v>105.970001</c:v>
                </c:pt>
                <c:pt idx="298">
                  <c:v>105.68</c:v>
                </c:pt>
                <c:pt idx="299">
                  <c:v>105.080002</c:v>
                </c:pt>
                <c:pt idx="300">
                  <c:v>104.349998</c:v>
                </c:pt>
                <c:pt idx="301">
                  <c:v>97.82</c:v>
                </c:pt>
                <c:pt idx="302">
                  <c:v>94.830002</c:v>
                </c:pt>
                <c:pt idx="303">
                  <c:v>93.739998</c:v>
                </c:pt>
                <c:pt idx="304">
                  <c:v>93.639999</c:v>
                </c:pt>
                <c:pt idx="305">
                  <c:v>95.18</c:v>
                </c:pt>
                <c:pt idx="306">
                  <c:v>94.190002</c:v>
                </c:pt>
                <c:pt idx="307">
                  <c:v>93.239998</c:v>
                </c:pt>
                <c:pt idx="308">
                  <c:v>92.720001</c:v>
                </c:pt>
                <c:pt idx="309">
                  <c:v>92.790001</c:v>
                </c:pt>
                <c:pt idx="310">
                  <c:v>93.419998</c:v>
                </c:pt>
                <c:pt idx="311">
                  <c:v>92.510002</c:v>
                </c:pt>
                <c:pt idx="312">
                  <c:v>90.339996</c:v>
                </c:pt>
                <c:pt idx="313">
                  <c:v>90.519997</c:v>
                </c:pt>
                <c:pt idx="314">
                  <c:v>93.879997</c:v>
                </c:pt>
                <c:pt idx="315">
                  <c:v>93.489998</c:v>
                </c:pt>
                <c:pt idx="316">
                  <c:v>94.559998</c:v>
                </c:pt>
                <c:pt idx="317">
                  <c:v>94.199997</c:v>
                </c:pt>
                <c:pt idx="318">
                  <c:v>95.220001</c:v>
                </c:pt>
                <c:pt idx="319">
                  <c:v>96.43</c:v>
                </c:pt>
                <c:pt idx="320">
                  <c:v>97.900002</c:v>
                </c:pt>
                <c:pt idx="321">
                  <c:v>99.620003</c:v>
                </c:pt>
                <c:pt idx="322">
                  <c:v>100.410004</c:v>
                </c:pt>
                <c:pt idx="323">
                  <c:v>100.349998</c:v>
                </c:pt>
                <c:pt idx="324">
                  <c:v>99.860001</c:v>
                </c:pt>
                <c:pt idx="325">
                  <c:v>98.459999</c:v>
                </c:pt>
                <c:pt idx="326">
                  <c:v>97.720001</c:v>
                </c:pt>
                <c:pt idx="327">
                  <c:v>97.919998</c:v>
                </c:pt>
                <c:pt idx="328">
                  <c:v>98.629997</c:v>
                </c:pt>
                <c:pt idx="329">
                  <c:v>99.029999</c:v>
                </c:pt>
                <c:pt idx="330">
                  <c:v>98.940002</c:v>
                </c:pt>
                <c:pt idx="331">
                  <c:v>99.650002</c:v>
                </c:pt>
                <c:pt idx="332">
                  <c:v>98.830002</c:v>
                </c:pt>
                <c:pt idx="333">
                  <c:v>97.339996</c:v>
                </c:pt>
                <c:pt idx="334">
                  <c:v>97.459999</c:v>
                </c:pt>
                <c:pt idx="335">
                  <c:v>97.139999</c:v>
                </c:pt>
                <c:pt idx="336">
                  <c:v>97.550003</c:v>
                </c:pt>
                <c:pt idx="337">
                  <c:v>95.330002</c:v>
                </c:pt>
                <c:pt idx="338">
                  <c:v>95.099998</c:v>
                </c:pt>
                <c:pt idx="339">
                  <c:v>95.910004</c:v>
                </c:pt>
                <c:pt idx="340">
                  <c:v>95.550003</c:v>
                </c:pt>
                <c:pt idx="341">
                  <c:v>96.099998</c:v>
                </c:pt>
                <c:pt idx="342">
                  <c:v>93.400002</c:v>
                </c:pt>
                <c:pt idx="343">
                  <c:v>92.040001</c:v>
                </c:pt>
                <c:pt idx="344">
                  <c:v>93.589996</c:v>
                </c:pt>
                <c:pt idx="345">
                  <c:v>94.400002</c:v>
                </c:pt>
                <c:pt idx="346">
                  <c:v>95.599998</c:v>
                </c:pt>
                <c:pt idx="347">
                  <c:v>95.889999</c:v>
                </c:pt>
                <c:pt idx="348">
                  <c:v>94.989998</c:v>
                </c:pt>
                <c:pt idx="349">
                  <c:v>95.529999</c:v>
                </c:pt>
                <c:pt idx="350">
                  <c:v>95.940002</c:v>
                </c:pt>
                <c:pt idx="351">
                  <c:v>96.68</c:v>
                </c:pt>
                <c:pt idx="352">
                  <c:v>96.980003</c:v>
                </c:pt>
                <c:pt idx="353">
                  <c:v>97.419998</c:v>
                </c:pt>
                <c:pt idx="354">
                  <c:v>96.870003</c:v>
                </c:pt>
                <c:pt idx="355">
                  <c:v>98.790001</c:v>
                </c:pt>
                <c:pt idx="356">
                  <c:v>98.779999</c:v>
                </c:pt>
                <c:pt idx="357">
                  <c:v>99.830002</c:v>
                </c:pt>
                <c:pt idx="358">
                  <c:v>99.870003</c:v>
                </c:pt>
                <c:pt idx="359">
                  <c:v>99.959999</c:v>
                </c:pt>
                <c:pt idx="360">
                  <c:v>99.43</c:v>
                </c:pt>
                <c:pt idx="361">
                  <c:v>98.660004</c:v>
                </c:pt>
                <c:pt idx="362">
                  <c:v>97.339996</c:v>
                </c:pt>
                <c:pt idx="363">
                  <c:v>96.669998</c:v>
                </c:pt>
                <c:pt idx="364">
                  <c:v>102.949997</c:v>
                </c:pt>
                <c:pt idx="365">
                  <c:v>104.339996</c:v>
                </c:pt>
                <c:pt idx="366">
                  <c:v>104.209999</c:v>
                </c:pt>
                <c:pt idx="367">
                  <c:v>106.050003</c:v>
                </c:pt>
                <c:pt idx="368">
                  <c:v>104.480003</c:v>
                </c:pt>
                <c:pt idx="369">
                  <c:v>105.790001</c:v>
                </c:pt>
                <c:pt idx="370">
                  <c:v>105.870003</c:v>
                </c:pt>
                <c:pt idx="371">
                  <c:v>107.480003</c:v>
                </c:pt>
                <c:pt idx="372">
                  <c:v>108.370003</c:v>
                </c:pt>
                <c:pt idx="373">
                  <c:v>108.809998</c:v>
                </c:pt>
                <c:pt idx="374">
                  <c:v>108</c:v>
                </c:pt>
                <c:pt idx="375">
                  <c:v>107.93</c:v>
                </c:pt>
                <c:pt idx="376">
                  <c:v>108.18</c:v>
                </c:pt>
                <c:pt idx="377">
                  <c:v>109.480003</c:v>
                </c:pt>
                <c:pt idx="378">
                  <c:v>109.379997</c:v>
                </c:pt>
                <c:pt idx="379">
                  <c:v>109.220001</c:v>
                </c:pt>
                <c:pt idx="380">
                  <c:v>109.080002</c:v>
                </c:pt>
                <c:pt idx="381">
                  <c:v>109.360001</c:v>
                </c:pt>
                <c:pt idx="382">
                  <c:v>108.510002</c:v>
                </c:pt>
                <c:pt idx="383">
                  <c:v>108.849998</c:v>
                </c:pt>
                <c:pt idx="384">
                  <c:v>108.029999</c:v>
                </c:pt>
                <c:pt idx="385">
                  <c:v>107.57</c:v>
                </c:pt>
                <c:pt idx="386">
                  <c:v>106.940002</c:v>
                </c:pt>
                <c:pt idx="387">
                  <c:v>106.82</c:v>
                </c:pt>
                <c:pt idx="388">
                  <c:v>106</c:v>
                </c:pt>
                <c:pt idx="389">
                  <c:v>106.099998</c:v>
                </c:pt>
                <c:pt idx="390">
                  <c:v>106.730003</c:v>
                </c:pt>
                <c:pt idx="391">
                  <c:v>107.730003</c:v>
                </c:pt>
                <c:pt idx="392">
                  <c:v>107.699997</c:v>
                </c:pt>
                <c:pt idx="393">
                  <c:v>108.360001</c:v>
                </c:pt>
                <c:pt idx="394">
                  <c:v>105.519997</c:v>
                </c:pt>
                <c:pt idx="395">
                  <c:v>103.129997</c:v>
                </c:pt>
                <c:pt idx="396">
                  <c:v>105.440002</c:v>
                </c:pt>
                <c:pt idx="397">
                  <c:v>107.949997</c:v>
                </c:pt>
                <c:pt idx="398">
                  <c:v>111.769997</c:v>
                </c:pt>
                <c:pt idx="399">
                  <c:v>115.57</c:v>
                </c:pt>
                <c:pt idx="400">
                  <c:v>114.919998</c:v>
                </c:pt>
                <c:pt idx="401">
                  <c:v>113.580002</c:v>
                </c:pt>
                <c:pt idx="402">
                  <c:v>113.57</c:v>
                </c:pt>
                <c:pt idx="403">
                  <c:v>113.550003</c:v>
                </c:pt>
                <c:pt idx="404">
                  <c:v>114.620003</c:v>
                </c:pt>
                <c:pt idx="405">
                  <c:v>112.709999</c:v>
                </c:pt>
                <c:pt idx="406">
                  <c:v>112.879997</c:v>
                </c:pt>
                <c:pt idx="407">
                  <c:v>113.089996</c:v>
                </c:pt>
                <c:pt idx="408">
                  <c:v>113.949997</c:v>
                </c:pt>
                <c:pt idx="409">
                  <c:v>112.18</c:v>
                </c:pt>
                <c:pt idx="410">
                  <c:v>113.050003</c:v>
                </c:pt>
                <c:pt idx="411">
                  <c:v>112.519997</c:v>
                </c:pt>
                <c:pt idx="412">
                  <c:v>113</c:v>
                </c:pt>
                <c:pt idx="413">
                  <c:v>113.050003</c:v>
                </c:pt>
                <c:pt idx="414">
                  <c:v>113.889999</c:v>
                </c:pt>
                <c:pt idx="415">
                  <c:v>114.059998</c:v>
                </c:pt>
                <c:pt idx="416">
                  <c:v>116.050003</c:v>
                </c:pt>
                <c:pt idx="417">
                  <c:v>116.300003</c:v>
                </c:pt>
                <c:pt idx="418">
                  <c:v>117.339996</c:v>
                </c:pt>
                <c:pt idx="419">
                  <c:v>116.980003</c:v>
                </c:pt>
                <c:pt idx="420">
                  <c:v>117.629997</c:v>
                </c:pt>
                <c:pt idx="421">
                  <c:v>117.550003</c:v>
                </c:pt>
                <c:pt idx="422">
                  <c:v>117.470001</c:v>
                </c:pt>
                <c:pt idx="423">
                  <c:v>117.120003</c:v>
                </c:pt>
                <c:pt idx="424">
                  <c:v>117.059998</c:v>
                </c:pt>
                <c:pt idx="425">
                  <c:v>116.599998</c:v>
                </c:pt>
                <c:pt idx="426">
                  <c:v>117.650002</c:v>
                </c:pt>
                <c:pt idx="427">
                  <c:v>118.25</c:v>
                </c:pt>
                <c:pt idx="428">
                  <c:v>115.589996</c:v>
                </c:pt>
                <c:pt idx="429">
                  <c:v>114.480003</c:v>
                </c:pt>
                <c:pt idx="430">
                  <c:v>113.720001</c:v>
                </c:pt>
                <c:pt idx="431">
                  <c:v>113.540001</c:v>
                </c:pt>
                <c:pt idx="432">
                  <c:v>111.489998</c:v>
                </c:pt>
                <c:pt idx="433">
                  <c:v>111.589996</c:v>
                </c:pt>
                <c:pt idx="434">
                  <c:v>109.830002</c:v>
                </c:pt>
                <c:pt idx="435">
                  <c:v>108.839996</c:v>
                </c:pt>
                <c:pt idx="436">
                  <c:v>110.410004</c:v>
                </c:pt>
                <c:pt idx="437">
                  <c:v>111.059998</c:v>
                </c:pt>
                <c:pt idx="438">
                  <c:v>110.879997</c:v>
                </c:pt>
                <c:pt idx="439">
                  <c:v>107.790001</c:v>
                </c:pt>
                <c:pt idx="440">
                  <c:v>108.43</c:v>
                </c:pt>
                <c:pt idx="441">
                  <c:v>105.709999</c:v>
                </c:pt>
                <c:pt idx="442">
                  <c:v>107.110001</c:v>
                </c:pt>
                <c:pt idx="443">
                  <c:v>109.989998</c:v>
                </c:pt>
                <c:pt idx="444">
                  <c:v>109.949997</c:v>
                </c:pt>
                <c:pt idx="445">
                  <c:v>110.059998</c:v>
                </c:pt>
                <c:pt idx="446">
                  <c:v>111.730003</c:v>
                </c:pt>
                <c:pt idx="447">
                  <c:v>111.800003</c:v>
                </c:pt>
                <c:pt idx="448">
                  <c:v>111.230003</c:v>
                </c:pt>
                <c:pt idx="449">
                  <c:v>111.790001</c:v>
                </c:pt>
                <c:pt idx="450">
                  <c:v>111.57</c:v>
                </c:pt>
                <c:pt idx="451">
                  <c:v>111.459999</c:v>
                </c:pt>
                <c:pt idx="452">
                  <c:v>110.519997</c:v>
                </c:pt>
                <c:pt idx="453">
                  <c:v>109.489998</c:v>
                </c:pt>
                <c:pt idx="454">
                  <c:v>109.900002</c:v>
                </c:pt>
                <c:pt idx="455">
                  <c:v>109.110001</c:v>
                </c:pt>
                <c:pt idx="456">
                  <c:v>109.949997</c:v>
                </c:pt>
                <c:pt idx="457">
                  <c:v>111.029999</c:v>
                </c:pt>
                <c:pt idx="458">
                  <c:v>112.120003</c:v>
                </c:pt>
                <c:pt idx="459">
                  <c:v>113.949997</c:v>
                </c:pt>
                <c:pt idx="460">
                  <c:v>113.300003</c:v>
                </c:pt>
                <c:pt idx="461">
                  <c:v>115.190002</c:v>
                </c:pt>
                <c:pt idx="462">
                  <c:v>115.190002</c:v>
                </c:pt>
                <c:pt idx="463">
                  <c:v>115.82</c:v>
                </c:pt>
                <c:pt idx="464">
                  <c:v>115.970001</c:v>
                </c:pt>
                <c:pt idx="465">
                  <c:v>116.639999</c:v>
                </c:pt>
                <c:pt idx="466">
                  <c:v>116.949997</c:v>
                </c:pt>
                <c:pt idx="467">
                  <c:v>117.059998</c:v>
                </c:pt>
                <c:pt idx="468">
                  <c:v>116.290001</c:v>
                </c:pt>
                <c:pt idx="469">
                  <c:v>116.519997</c:v>
                </c:pt>
                <c:pt idx="470">
                  <c:v>117.260002</c:v>
                </c:pt>
                <c:pt idx="471">
                  <c:v>116.760002</c:v>
                </c:pt>
                <c:pt idx="472">
                  <c:v>116.730003</c:v>
                </c:pt>
                <c:pt idx="473">
                  <c:v>115.82</c:v>
                </c:pt>
                <c:pt idx="474">
                  <c:v>116.150002</c:v>
                </c:pt>
                <c:pt idx="475">
                  <c:v>116.019997</c:v>
                </c:pt>
                <c:pt idx="476">
                  <c:v>116.610001</c:v>
                </c:pt>
                <c:pt idx="477">
                  <c:v>117.910004</c:v>
                </c:pt>
                <c:pt idx="478">
                  <c:v>118.989998</c:v>
                </c:pt>
                <c:pt idx="479">
                  <c:v>119.110001</c:v>
                </c:pt>
                <c:pt idx="480">
                  <c:v>119.75</c:v>
                </c:pt>
                <c:pt idx="481">
                  <c:v>119.25</c:v>
                </c:pt>
                <c:pt idx="482">
                  <c:v>119.040001</c:v>
                </c:pt>
                <c:pt idx="483">
                  <c:v>120</c:v>
                </c:pt>
                <c:pt idx="484">
                  <c:v>119.989998</c:v>
                </c:pt>
                <c:pt idx="485">
                  <c:v>119.779999</c:v>
                </c:pt>
                <c:pt idx="486">
                  <c:v>120</c:v>
                </c:pt>
                <c:pt idx="487">
                  <c:v>120.080002</c:v>
                </c:pt>
                <c:pt idx="488">
                  <c:v>119.970001</c:v>
                </c:pt>
                <c:pt idx="489">
                  <c:v>121.879997</c:v>
                </c:pt>
                <c:pt idx="490">
                  <c:v>121.940002</c:v>
                </c:pt>
                <c:pt idx="491">
                  <c:v>121.949997</c:v>
                </c:pt>
                <c:pt idx="492">
                  <c:v>121.629997</c:v>
                </c:pt>
                <c:pt idx="493">
                  <c:v>121.349998</c:v>
                </c:pt>
                <c:pt idx="494">
                  <c:v>128.75</c:v>
                </c:pt>
                <c:pt idx="495">
                  <c:v>128.529999</c:v>
                </c:pt>
                <c:pt idx="496">
                  <c:v>129.080002</c:v>
                </c:pt>
                <c:pt idx="497">
                  <c:v>130.289993</c:v>
                </c:pt>
                <c:pt idx="498">
                  <c:v>131.529999</c:v>
                </c:pt>
                <c:pt idx="499">
                  <c:v>132.039993</c:v>
                </c:pt>
                <c:pt idx="500">
                  <c:v>132.419998</c:v>
                </c:pt>
                <c:pt idx="501">
                  <c:v>132.119995</c:v>
                </c:pt>
                <c:pt idx="502">
                  <c:v>133.289993</c:v>
                </c:pt>
                <c:pt idx="503">
                  <c:v>135.020004</c:v>
                </c:pt>
                <c:pt idx="504">
                  <c:v>135.509995</c:v>
                </c:pt>
                <c:pt idx="505">
                  <c:v>135.350006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Bitstream Charter"/>
                    <a:ea typeface="Bitstream Charter"/>
                    <a:cs typeface="Bitstream Charter"/>
                  </a:rPr>
                  <a:t>Closing price (USD)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</c:title>
        <c:numFmt formatCode="$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Bitstream Charter"/>
                    <a:ea typeface="Bitstream Charter"/>
                    <a:cs typeface="Bitstream Charter"/>
                  </a:rPr>
                  <a:t>Trading volume (shares)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</c:title>
        <c:numFmt formatCode="0.0,,&quot;M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272a0510804e0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67F4D89-8071-416E-885F-9964210F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342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426"/>
              </a:gs>
              <a:gs pos="100000">
                <a:srgbClr val="061426">
                  <a:alpha val="80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4F74009-A6D7-432A-9F58-3CE41D68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7C5"/>
          </a:solidFill>
          <a:ln xmlns:a="http://schemas.openxmlformats.org/drawingml/2006/main" w="0">
            <a:noFill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1AB9481-138C-4B22-97E7-827BCAC1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657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MACHINE LEARNING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 FINANCE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16AE3E9-8870-4234-AE14-2163343A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D7E9F6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D7E9F6"/>
                </a:solidFill>
                <a:latin typeface="Aptos"/>
                <a:ea typeface="Aptos"/>
                <a:cs typeface="Aptos"/>
              </a:rPr>
              <a:t>Lecture 1  |  Python Foundations I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52C0540-0DB5-4301-B459-97CA0DBE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9C4D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A9C4DB"/>
                </a:solidFill>
                <a:latin typeface="Aptos"/>
                <a:ea typeface="Aptos"/>
                <a:cs typeface="Aptos"/>
              </a:rPr>
              <a:t>From a blank notebook to a first financial data analysis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19F7B42-E672-42C8-A239-88AA61C5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38625"/>
            <a:ext cx="1257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7C5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EEDB926-7A2E-4D0C-909D-AB84496A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Dr Ferdinantos Kottas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5457CC0-027C-4B23-91F0-24B09050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A9C4D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C4DB"/>
                </a:solidFill>
                <a:latin typeface="Aptos"/>
                <a:ea typeface="Aptos"/>
                <a:cs typeface="Aptos"/>
              </a:rPr>
              <a:t>NKUA MPhil Economics  |  Academic Year 2026–2027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05BE034-FFD8-4737-92B0-ABB8E28B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  |  Week 01  |  NKUA MPhil Economics  |  2026–2027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99E291A-E921-4CF2-9F8F-7CC9A126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649014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A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0D9AFBD-B68C-4EAC-9D46-B1D8A209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4C89EB0-77B4-4091-8F76-61B4C58D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800100"/>
            <a:ext cx="3143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0" b="1" i="0">
                <a:solidFill>
                  <a:srgbClr val="102D49"/>
                </a:solidFill>
                <a:latin typeface="Aptos"/>
                <a:ea typeface="Aptos"/>
                <a:cs typeface="Aptos"/>
              </a:defRPr>
            </a:pPr>
            <a:r>
              <a:rPr sz="12750" b="1" i="0">
                <a:solidFill>
                  <a:srgbClr val="102D49"/>
                </a:solidFill>
                <a:latin typeface="Aptos"/>
                <a:ea typeface="Aptos"/>
                <a:cs typeface="Aptos"/>
              </a:rPr>
              <a:t>00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5E85F6C-3F97-4BEC-BB89-55F4E359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04FF82F-D746-45ED-A76D-C80CCE6B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LECTURE 0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3E7AB02-1412-41D7-B434-C3E7F2F0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Course orientation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5A6E6A4-A920-4D1C-B1AC-D177A232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BFD0D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BFD0DF"/>
                </a:solidFill>
                <a:latin typeface="Aptos"/>
                <a:ea typeface="Aptos"/>
                <a:cs typeface="Aptos"/>
              </a:rPr>
              <a:t>A short map of the 13-week journey before the official Week 1 material begins.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EA183C9-D0D5-4120-AB1F-24125A4D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FFA9385-83F4-4BBB-BE46-50E08A91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B204915-71C9-4092-97B5-662B1DF5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881930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4F8DFC4-8851-48F7-84B7-C95828D9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19F8898-73EB-475B-9C4F-C23253C3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LECTURE 0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D6C699C-04B3-4B8D-8023-1110F654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What this course is designed to produce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01772C2-58B9-42FB-AAFE-29884FD8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course connects programming, statistics, machine learning, and financial decisions.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E2A898D-8BB8-4EA9-B69F-7CD84651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5E933A7-5E2E-489B-A663-2AA6BA1B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DF1313B-23CF-4700-B002-1A8DEAAC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1E61890-5B81-4FC9-91EC-6EA36F84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THE END POINT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B38B0C4-9DC5-40BB-9ED8-101EAD67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reproducible workflow that can move from raw financial data to a validated, interpretable decision.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6356C27-8FD8-458E-A444-15DC12AC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645C05D-8609-4F59-965F-D732D18A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THE THROUGHLINE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9488394-B4DB-4F93-B061-7840A8FD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Credit-risk examples anchor the course. Fraud, forecasting, asset pricing, and portfolio applications show how the workflow transfers.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BACE412-73BC-4CC8-AC50-D484CA08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D49A53B-7AAF-422C-B5AD-06903668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Each week adds a method, a diagnostic, and a financial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9052001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16D9F7AF-C80D-4F32-B063-ACA6C9C8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9FF37A-360A-41DA-97E4-85FE6161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ASSESSMENT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B5600F4-F6D8-4442-AC34-B1FCCB0C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How the course is assessed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6DCDC7B-6FA5-404B-8DCF-8C42CC2A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official syllabus assigns 20% to weekly exercises, 40% to the capstone, and 40% to the exam. A 10% bonus exercise is available.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15FE7CE-2B7B-4A00-8DDB-C7F04FBE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7142290-B055-40D2-B005-8737599F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1FED1A9-CC26-4C48-80C9-71C6DBD9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331508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F5D7BF0-AD96-4C19-953C-75AB50D3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0483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E407865-209D-495F-AE54-6514FF83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530" y="2324100"/>
            <a:ext cx="1289198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72BBFB7-BCA6-4751-AB73-F4E596D8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880" y="2476500"/>
            <a:ext cx="102249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Weight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1AE4335-A556-4EA8-A2EE-B143077D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727" y="2324100"/>
            <a:ext cx="6482823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42E43D5-B232-4D7D-A0AF-1A88A34B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077" y="2476500"/>
            <a:ext cx="621612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is submitted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9E1B04A-EAA8-4A07-A140-22AEBC52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33150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D570E75-233F-4FBD-ACC3-49D6C3E4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30483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Weekly exercises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0A5CDDC-58E4-4925-AB7F-0600C526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530" y="2800350"/>
            <a:ext cx="128919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6CF1DE1-A854-4A67-8121-65144561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880" y="2962275"/>
            <a:ext cx="102249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0988F81-C827-4DF6-AE3D-937F053B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727" y="2800350"/>
            <a:ext cx="648282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CB858C32-05EB-40F3-B18F-33813009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077" y="2962275"/>
            <a:ext cx="621612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DataCamp Python practice plus the weekly Colab notebook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16B898C5-4C9E-4121-BD73-263E8D25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33150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5D8ADBDA-2AA8-4B44-95A6-0B25D014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30483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Capstone project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2B0C6EA0-B0BF-4F2F-8394-42B491EC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530" y="3314700"/>
            <a:ext cx="128919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627E7907-5BBF-4835-BF30-0E174813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880" y="3476625"/>
            <a:ext cx="102249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40%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E9E373C7-415D-4D1F-98C3-AF373E18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727" y="3314700"/>
            <a:ext cx="648282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A8C9728F-C351-48AA-83DF-1F6C46DF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077" y="3476625"/>
            <a:ext cx="621612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Notebook, technical report, supporting code, and 10-minute presentation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ED0CFA46-8155-4514-AF23-73C2D985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33150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95B7ACA7-5409-4B29-9274-73FAFC91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30483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Final exam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3FC6D7E6-656F-4219-BF97-39EF31D0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530" y="3829050"/>
            <a:ext cx="128919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56265875-7F8E-4559-81BE-AD825BBF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880" y="3990975"/>
            <a:ext cx="102249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40%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F4687310-903B-40E8-838E-42813861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727" y="3829050"/>
            <a:ext cx="648282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F03698F1-3174-4F67-B7C2-27140069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077" y="3990975"/>
            <a:ext cx="621612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Conceptual, mathematical, and applied understanding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754B752E-A704-42AC-8A15-214C7B1C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33150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403114F8-1180-4CCE-AD30-40CE811C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30483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Excellence bonus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97E8D97A-58F6-4FB9-A578-6CA7D320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530" y="4343400"/>
            <a:ext cx="128919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610BE77F-939F-45F7-8B53-F99C6B56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880" y="4505325"/>
            <a:ext cx="102249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+10%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9F6A4B81-C8FA-46F1-AFA2-BA749CDD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727" y="4343400"/>
            <a:ext cx="648282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091283B2-52CA-4DEE-8319-ADC0943D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077" y="4505325"/>
            <a:ext cx="621612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Best assignments, project or presentation, or top DataCamp performance</a:t>
            </a:r>
          </a:p>
        </p:txBody>
      </p:sp>
    </p:spTree>
    <p:extLst>
      <p:ext uri="{BB962C8B-B14F-4D97-AF65-F5344CB8AC3E}">
        <p14:creationId xmlns:p14="http://schemas.microsoft.com/office/powerpoint/2010/main" val="9855796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9CB06FC-1DC9-4A20-A8F5-AF4B5A65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0C046C9-D685-4DA5-B314-6354B0D4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ASSESSMENT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18D51B5-9DEA-4D76-9CA6-14C3642A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bonus rewards exceptional work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C6C9EC2-E5E4-4FAF-BC3F-C4ACF935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bonus is not another compulsory assessment component.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02B4B33-F049-4054-8EFB-19D28690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966C533-5ED3-46C7-BEE8-16C6868B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286E942-04C0-44BB-9D06-F14DEF44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9D2FD54-BA11-479C-B3D1-297B1A24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HOW IT MAY BE EARNED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27EC1DD-1AA7-44E3-B748-2A90FDBE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Exceptional weekly assignments, the strongest capstone or presentation, or outstanding DataCamp performance may receive the bonus.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0C58519-FBA2-4674-9424-C924DF56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3CE2233-A73E-447B-9F6D-3D6674F4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MAXIMUM TOTAL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9E2D2A7-618B-449F-8038-A15E6B3D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regular assessment totals 100%. The excellence bonus can increase the final total to 110%.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E2AB434-5632-4E25-8D08-30573D26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807C506-BA1C-49E7-AB80-642B1E52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bonus recognises quality, consistency, and clear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17649187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B2F559E-329B-4BC9-893A-E7CE81D0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73121BA-EC2D-4215-B102-6EBBC752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WEEKLY WORK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4791FF7-9B4D-43BC-9712-F0FCC08D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Two small submissions keep the work continuous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F47D040-DBB9-4595-A621-192E20B8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weekly rhythm is designed to make the next lecture easier, not to create a single high-stakes deadline.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64DAA98-2194-4666-9CB2-88541D2D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BE5EBF7-B4F6-41EB-B61E-0EF03ED1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573B44E-44E9-4E1A-92C5-0EF572DE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DAD0009-040E-440A-8DC8-6A5372C3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DATACAMP PRACTICE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2BB1901-C9FF-4064-A2F5-C93F5D3A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Complete the assigned Python exercises during the week. These tasks reinforce syntax, control flow, collections, and data manipulation.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79005B8-20D6-4B9A-BD8C-3A7221B3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FE32DE6-B354-465B-A8AA-0105AD36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COLAB ASSIGNMENT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E669775-3A61-49CB-AA1E-DA816392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Submit the weekly notebook one day before the next course meeting. It should run from a clean session and include a short interpretation.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3F1F869-70C7-433D-A3F2-0F1CA964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B09D55F-A55C-4C1E-A4EE-7E815253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deadline is part of the workflow: submit before the next class so feedback can inform the next topic.</a:t>
            </a:r>
          </a:p>
        </p:txBody>
      </p:sp>
    </p:spTree>
    <p:extLst>
      <p:ext uri="{BB962C8B-B14F-4D97-AF65-F5344CB8AC3E}">
        <p14:creationId xmlns:p14="http://schemas.microsoft.com/office/powerpoint/2010/main" val="8200127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679601D5-2AF4-4925-B509-BE8316D2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AB782AF-C552-4566-91FF-0EA1D18B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MAIN PROJECT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C600D7C-B5D5-458E-807C-5CA82A0B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What the 40% project grade measures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4C1C11F-D5CE-43C7-A000-395A3375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project grade reflects the complete research workflow, not only the final score of the model.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55E905C-5F96-47D5-8274-DB8F86DF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931C914-008B-45AE-9841-CA7E7269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FB5992C-E5D2-47FB-A803-705E2955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331508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EE2A6EB-6C11-4783-84D3-21100799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0483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7B0F493-4F2B-4508-A388-3715B592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530" y="2324100"/>
            <a:ext cx="1565454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E650289-FCF3-4A73-9A50-97674733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880" y="2476500"/>
            <a:ext cx="1298754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Indicative share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9B66324-E019-4055-8919-0BC60058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984" y="2324100"/>
            <a:ext cx="620656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AA7CB12-9217-422F-B6A3-85F7DFBA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334" y="2476500"/>
            <a:ext cx="593986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0FA16B3-C50E-4131-B413-3B432592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33150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E50903F-6D3F-408F-A0A2-3F4AE546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30483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Question and data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39A1F97-62F9-496C-B682-7CF1BC83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530" y="2800350"/>
            <a:ext cx="1565454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1B70C21-CF3F-423F-82B1-F48D420D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880" y="2962275"/>
            <a:ext cx="129875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34C24D7-E38A-4B58-B292-84A97CE1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984" y="2800350"/>
            <a:ext cx="620656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AF24CC0-2231-4117-BFFD-009F7B9A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334" y="2962275"/>
            <a:ext cx="593986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Clear target, source, observation unit, time period, and limitations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A0A2E941-884E-495D-BCC7-460229E8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33150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51387B84-9189-41FF-9A43-29453CC5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30483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Modelling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E7DA814D-41AE-4653-A229-D47D3302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530" y="3314700"/>
            <a:ext cx="1565454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6B4A89EC-2B58-4D15-AAE2-BC751AF0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880" y="3476625"/>
            <a:ext cx="129875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5C59810D-1D94-455E-B4EB-C76755D9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984" y="3314700"/>
            <a:ext cx="620656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5F0300A-2B28-4958-A438-4F9397BB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334" y="3476625"/>
            <a:ext cx="593986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Baseline, supervised models, reproducible code, and justified choices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006FD176-E765-4909-A939-B8713218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33150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D6B052E6-EC95-4872-9F1B-56C8AB34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30483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Validation and metrics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1771A953-D0EE-4BD1-B03E-F9B43F1E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530" y="3829050"/>
            <a:ext cx="1565454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9E78CCE4-E82F-42D5-B233-9A75B5FB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880" y="3990975"/>
            <a:ext cx="129875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D930CC06-96B8-4586-86BE-C2C02899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984" y="3829050"/>
            <a:ext cx="620656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1B4EC0EC-ACE7-46BC-90F6-23F597EE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334" y="3990975"/>
            <a:ext cx="593986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Out-of-sample design, ML metrics, and financial metrics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C0AD0280-4FD8-489F-BC7F-0FD4FED3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33150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9DD8A8F0-3F59-4367-A87D-46A02B0B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30483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44CC6C9B-7F24-4E14-B673-A6C79285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530" y="4343400"/>
            <a:ext cx="1565454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A8777F45-59A8-4125-9C3E-312B3BC9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880" y="4505325"/>
            <a:ext cx="129875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0210E55E-8309-4575-8311-5C1EDF72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984" y="4343400"/>
            <a:ext cx="620656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98A2DF7B-429C-40F7-9A9C-57354FAD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334" y="4505325"/>
            <a:ext cx="593986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What the results mean for the financial decision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73AC6A29-EFD8-4945-971C-3D1CAA82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33150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A64BF2B9-B240-4698-8095-CF878E67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30483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Communication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1CF329A7-27FF-42AE-9887-312FF25B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530" y="4857750"/>
            <a:ext cx="1565454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75C36CF0-4BD2-48EC-A1B8-F43BD168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880" y="5019675"/>
            <a:ext cx="129875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9C99A1F1-6C01-4298-8CB3-C0701D03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984" y="4857750"/>
            <a:ext cx="620656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F870AB80-76B0-4FFC-8179-B3BEA3CF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334" y="5019675"/>
            <a:ext cx="593986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Professional presentation and ability to defend the analysis</a:t>
            </a:r>
          </a:p>
        </p:txBody>
      </p:sp>
    </p:spTree>
    <p:extLst>
      <p:ext uri="{BB962C8B-B14F-4D97-AF65-F5344CB8AC3E}">
        <p14:creationId xmlns:p14="http://schemas.microsoft.com/office/powerpoint/2010/main" val="16270669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CF1F58F-97EB-4510-B4D8-6F155370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8A23AA6-921A-4175-A231-BF6AE5E7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ASSESSMENT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168BA18-6607-4161-A4FB-F8AD7CD1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AI use is allowed with responsibility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882DC14-D4D3-40F7-AB26-0378214B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AI can support learning, but the submitted analysis must remain understandable, reproducible, and defensible.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BD8244F-8584-4355-B2B9-B1E02E30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FAF6781-6BEC-48EB-AB63-84C7C8B5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EFEB6A9-2C14-4C58-81BD-A1FB91D8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8B57505-D9CA-4922-B8A6-59C86C2E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PERMITTED USE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40E6CDE-073D-4927-A8EC-0F47BFD8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Use AI to explain a concept, suggest debugging steps, improve documentation, or help compare modelling choices.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232208D-DD1D-43CB-A3E0-2F490F8A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A92F83E-1110-4F9D-A019-38BACB68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REQUIRED STANDARD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87BECE8-0E9E-4D4D-B662-7F2E707F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Check every generated claim and code cell. Disclose material AI assistance. Do not submit fabricated data, citations, or results.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519FC21-718F-4AD3-BF52-93138ED1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34A8E1B-C468-4F55-A93D-F8BFD857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You must be able to explain every submitted line of code and every reported result.</a:t>
            </a:r>
          </a:p>
        </p:txBody>
      </p:sp>
    </p:spTree>
    <p:extLst>
      <p:ext uri="{BB962C8B-B14F-4D97-AF65-F5344CB8AC3E}">
        <p14:creationId xmlns:p14="http://schemas.microsoft.com/office/powerpoint/2010/main" val="3483815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F4B8B6D-AAA0-40A6-83CD-54E9E0C1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656105E-F24A-4E5F-8158-F67DB8F9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MAIN PROJECT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861F6C7-B661-4D94-A356-38413E74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One project, four supervised-learning routes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1F6A277-6053-454A-88B6-F7E2E675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Choose a financial question that can be expressed as a supervised prediction problem and supported by data.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9047217-CC7B-4D06-9A1B-DC2B3B1E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9AA68CF-6A58-4647-A4AF-85D9C40E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DF2427C-E0C4-4C79-8D46-2C8E79CD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EBC5CFB-564F-4523-B08D-31466BA9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POSSIBLE TOPICS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26FE9D4-9DD2-4588-A543-F1AF0B3B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Credit-risk default prediction, fraud-risk classification, stock-return or direction prediction, or portfolio decisions supported by return or risk forecasts.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AF1C3B1-1A53-4730-AFE9-CE1FD416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57C7C4C-D507-47F2-AD91-6FA8E261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DATA OPTIONS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F048635-5DD1-419D-AFC3-A2C164B0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Use a public dataset from Yahoo Finance, Kaggle, or another approved source. Record the source, time period, variables, target, and access date.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3C786AA-7F43-4436-BE91-37C2DB7D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A654BC6-0F69-4981-A598-4285B91D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project may be completed individually or by a team of two.</a:t>
            </a:r>
          </a:p>
        </p:txBody>
      </p:sp>
    </p:spTree>
    <p:extLst>
      <p:ext uri="{BB962C8B-B14F-4D97-AF65-F5344CB8AC3E}">
        <p14:creationId xmlns:p14="http://schemas.microsoft.com/office/powerpoint/2010/main" val="3003304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4A44B29E-693F-4F60-B59A-467AC7A4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08BA938-E147-4E7B-A4D8-3267643E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MAIN PROJECT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3517FA0-3005-402B-B698-F8A9521B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project can start immediately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079FFBE-9345-4204-9CEE-D919BBBD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final week is reserved for completion, unresolved material, and project presentations.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CF54038-40DB-4D34-AE50-80DEC9C4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348BA75-E998-4E79-B884-B5C66260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2DC1205-6927-4A02-95BC-23060533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9737CD0-9F72-4361-B027-F1788600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3E5BFAED-54A3-4AE1-A7BA-28DA5DBF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195AD2C-9765-4AE0-BE27-112F6EB5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BAB78E6-E9B7-44A8-BC45-1F4FD837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Choose</a:t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A1E93EEE-907A-40C3-88D4-54CDC96A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71017E3-CCDA-4094-89A5-30CD50D3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Question and data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AC8F162-6A44-4026-ABC3-0C85EBEF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A5DE47B-E9A0-4594-8434-BB404264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predict whether a borrower defaults next month.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2A5E1C7-FA22-4F92-8FDA-814BA928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0F83E68-3C64-4E5A-B4BD-56A9F9BE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AA635E1F-D2FE-4E8E-8178-46376F43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560A74B-3A8E-4119-872A-B19EF55F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0098BF8-3718-46AA-BC27-3A0391A3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3DDD2913-5277-4149-9B73-AFA1EDB5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848FB643-2802-4684-BFA5-F9651A72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First supervised model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2D249931-B2F9-4309-8478-92A3E6E7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53397470-7B80-40F5-B01A-CA2A0639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start with logistic regression and a documented target.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F9A29E37-9239-49C1-A820-9BBAF5E3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5445F17-950A-485A-AB62-E9911420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ACE81D89-D37D-461C-AEF0-F023B68C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A6217FC6-479D-41DE-994F-CC978040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0C10FBC-3DF5-4A3E-9F2D-336FC723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Develop</a:t>
            </a:r>
          </a:p>
        </p:txBody>
      </p:sp>
      <p:sp>
        <p:nvSpPr>
          <p:cNvPr id="30" name="Straight Connector 29">
            <a:extLst xmlns:a="http://schemas.openxmlformats.org/drawingml/2006/main">
              <a:ext uri="{FF2B5EF4-FFF2-40B4-BE49-F238E27FC236}">
                <a16:creationId xmlns:a16="http://schemas.microsoft.com/office/drawing/2014/main" id="{683AE005-64D9-499C-8EFB-709CC250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F5D2FEFA-6128-471E-8719-B8E43085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Validate and compare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1C8D19A5-3539-44BA-A187-99BCD8CF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9FFEF027-85C3-40D3-9E7F-E5D6E650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compare models using ROC-AUC, recall, calibration, and cost.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3BE2129B-EABC-4D3A-A56A-C22A0180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38EF606E-5E29-4DAD-B066-CAFE3BCB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63F32CD0-2003-4D86-9E28-E4073A17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262C3E0C-49A1-41EB-9645-FA7785CF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2C42DD6B-2F7F-4D1A-BD47-4DBC609A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Present</a:t>
            </a:r>
          </a:p>
        </p:txBody>
      </p:sp>
      <p:sp>
        <p:nvSpPr>
          <p:cNvPr id="39" name="Straight Connector 38">
            <a:extLst xmlns:a="http://schemas.openxmlformats.org/drawingml/2006/main">
              <a:ext uri="{FF2B5EF4-FFF2-40B4-BE49-F238E27FC236}">
                <a16:creationId xmlns:a16="http://schemas.microsoft.com/office/drawing/2014/main" id="{B21E06D3-3AA0-4008-9FAB-186BCF74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8DD7ABDB-63F6-49D7-95E3-0CF070B8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Code and conclusions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B1437E26-92D7-4935-8BD9-E5EF5156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47E62C9A-95B8-4B38-88E5-D6E1924A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submit the notebook, results table, limitations, and presentation.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88DA4401-FB84-4DE7-876C-E746938F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11087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0DC38AE1-EAD8-4EE4-AC9A-0736EC23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070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A short project proposal can be discussed at any point. Do not wait until Week 12 to discover a data problem.</a:t>
            </a:r>
          </a:p>
        </p:txBody>
      </p:sp>
    </p:spTree>
    <p:extLst>
      <p:ext uri="{BB962C8B-B14F-4D97-AF65-F5344CB8AC3E}">
        <p14:creationId xmlns:p14="http://schemas.microsoft.com/office/powerpoint/2010/main" val="6926805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56A3BD7-1B8B-4177-A0BA-E01DAC21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7624B97-3873-4A74-B365-AD399197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MATHEMATICS ROADMAP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D10A385-90A8-4A44-999D-A2689163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mathematics will support each modelling decision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FA13929-9155-451B-8D80-8F34F5FA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Every formula will be followed by symbol definitions, a numerical interpretation, and a financial use case.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A0CFB49-04A5-49E4-8B78-0F2D5696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5402003-4806-49D8-89BA-1B54294D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286525C-C697-4AA8-ACE7-3AB62F80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9B39D03-1500-4133-AF32-2AD77F87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EARLY FOUNDATION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285D9E-48F7-4021-AE72-7DDD2EAC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Means, medians, variance, standardisation, returns, and correlation describe the data before modelling.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D63D1B5-E67D-4EC8-B868-3120C4DF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B315FCD-FFCE-4D5A-BE16-8A8E769C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LATER MODELS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6B5BD06-6BAC-4C6C-8FB4-DEA3D52A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Logistic likelihood, regularisation, tree impurity, boosting updates, SVM margins, calibration, and neural-network layers explain how models learn.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9C0DC59-9BAC-4D51-9DB2-16D17E27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2AFD04B-B078-4CFA-810D-67A8A4BC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equation is only the starting point. The interpretation explains why it matters.</a:t>
            </a:r>
          </a:p>
        </p:txBody>
      </p:sp>
    </p:spTree>
    <p:extLst>
      <p:ext uri="{BB962C8B-B14F-4D97-AF65-F5344CB8AC3E}">
        <p14:creationId xmlns:p14="http://schemas.microsoft.com/office/powerpoint/2010/main" val="5782994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Rectangle 48">
            <a:extLst xmlns:a="http://schemas.openxmlformats.org/drawingml/2006/main">
              <a:ext uri="{FF2B5EF4-FFF2-40B4-BE49-F238E27FC236}">
                <a16:creationId xmlns:a16="http://schemas.microsoft.com/office/drawing/2014/main" id="{28C90135-5629-4997-B68C-00751D7F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6159576-AFBA-4B4A-8D6E-42F5D637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13-WEEK ROADMAP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84CDBA7-B6CF-447B-BC88-0DAEB91F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Weeks 1–6: foundations, preprocessing, and evaluation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3449C37-B187-4770-93CB-863F2018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early weeks follow the syllabus from Python foundations to a reliable classification evaluation toolkit.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4819661-46A8-46C7-8CD3-6AFAD8F8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96C02F8-9F19-4AE2-A923-32D14781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B34416E-D1F9-4886-A015-CA1EF396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1381283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E29790F-ED7A-46B7-920B-17BBDE8F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11458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Weeks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B4C8EE2-9DE3-4C27-A4F9-BDCAEC8F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733" y="2324100"/>
            <a:ext cx="423593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89C6928-85A0-4808-99B7-3F65E498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083" y="2476500"/>
            <a:ext cx="396923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Focus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96CFCC7-1EEE-4463-BFA8-A9FEDD05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668" y="2324100"/>
            <a:ext cx="5469882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73AF3F-24D4-4F4B-B80E-CFA65D93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018" y="2476500"/>
            <a:ext cx="5203182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Main output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F8B8C85-39A2-4C66-A26C-D8424F4C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138128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3CFE114-D0E4-4015-883F-C7B2FDC0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111458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4C789B0-E662-404B-98BB-382EE2AD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733" y="2800350"/>
            <a:ext cx="423593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4F4824A-1E5E-41C3-8E6C-D6E5E0E4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083" y="2962275"/>
            <a:ext cx="396923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0103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Python Foundations I: Colab, syntax, functions, files, descriptive statistics, visualisation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5AFCE16-30EF-4B31-BF32-D4987F07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668" y="2800350"/>
            <a:ext cx="5469882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5CF24C8-982A-46E6-8B59-2A1B8CF1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018" y="2962275"/>
            <a:ext cx="520318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Notebook with basic programming and financial-data analysis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172E81BF-1089-4539-B3A7-1A5CD8D6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138128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D98F204D-C813-48F0-9788-C534A46E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11458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55215ED-112A-476A-A7F4-E57BC344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733" y="3314700"/>
            <a:ext cx="423593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E277B605-186B-4D78-BE53-29E2C764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083" y="3476625"/>
            <a:ext cx="396923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9163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Python Foundations II: NumPy, Pandas, joins, grouping, missing values, correlations, EDA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4ED54833-BBD5-4D4A-B54B-2974D4FE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668" y="3314700"/>
            <a:ext cx="5469882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FF78ED5-D117-4103-8439-861672CB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018" y="3476625"/>
            <a:ext cx="520318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Credit-risk EDA and documented data-quality findings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B3E02B57-825E-48F3-B43B-9920C7B3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138128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FD02CBD7-C9E6-4564-9387-6361E04A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111458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E674FC7-815E-4CD8-AFFE-1A725AED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733" y="3829050"/>
            <a:ext cx="423593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24E3B57E-A9EB-4395-BD94-7B27E9D6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083" y="3990975"/>
            <a:ext cx="396923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11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Data cleaning and preprocessing: duplicates, outliers, scaling, encoding, pipelines, ColumnTransformer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751D53B2-E7B7-4F34-890D-0C1DACE5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668" y="3829050"/>
            <a:ext cx="5469882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7F6793DC-2AF8-4941-A447-2833A307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018" y="3990975"/>
            <a:ext cx="520318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Reproducible preprocessing pipeline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08FDA0A1-645F-45F0-8E93-A3AF707D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138128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D30A2E89-4EAD-484B-8325-B6A2AB84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111458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78049CE2-092C-4973-9C52-798D58EA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733" y="4343400"/>
            <a:ext cx="423593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A2B6679D-74EB-4B8C-A50F-051A5833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083" y="4505325"/>
            <a:ext cx="396923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8123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Feature engineering: ratios, interactions, nonlinear transforms, selection, leakage prevention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421E3CA7-EF7F-4A48-8A82-2CB249FE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668" y="4343400"/>
            <a:ext cx="5469882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DC14FC57-FCAE-41D3-9EEF-5F5FACBC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018" y="4505325"/>
            <a:ext cx="520318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Six to ten defensible predictive variables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0C730207-A18B-41CA-8BFC-F2D44B34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38128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614F5ADF-9816-4652-86B7-A3159724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111458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213DF44C-06C3-47CF-98F9-92BFAF24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733" y="4857750"/>
            <a:ext cx="423593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81BA4520-B8B9-493A-8A92-5C6E4878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083" y="5019675"/>
            <a:ext cx="396923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0937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Logistic regression for credit risk: imbalance, class weights, L1/L2/Elastic Net, calibration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0CEA9EDA-FAF2-4E6C-BB19-597BC20F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668" y="4857750"/>
            <a:ext cx="5469882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0624B469-D526-4B0F-ABB1-557283E1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018" y="5019675"/>
            <a:ext cx="520318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Regularised Probability of Default baseline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5ED281E9-B15F-4191-9A38-4A0180B7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72100"/>
            <a:ext cx="138128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CD0842F3-A21A-44C7-BB02-F104A4EE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34025"/>
            <a:ext cx="111458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90DCD2FB-18A0-45B8-9D9A-96B4410A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733" y="5372100"/>
            <a:ext cx="423593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B1D0C063-1E64-4488-B5A5-5444CB93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083" y="5534025"/>
            <a:ext cx="396923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8963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Model evaluation: confusion matrix, ROC/PR, KS, Gini, log-loss, Brier, lift, gains, calibration</a:t>
            </a: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8E65C76C-A341-48A1-844C-82481443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668" y="5372100"/>
            <a:ext cx="5469882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8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92202440-75E9-4827-8C1A-1F3A8517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018" y="5534025"/>
            <a:ext cx="520318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Reusable evaluation toolkit</a:t>
            </a:r>
          </a:p>
        </p:txBody>
      </p:sp>
    </p:spTree>
    <p:extLst>
      <p:ext uri="{BB962C8B-B14F-4D97-AF65-F5344CB8AC3E}">
        <p14:creationId xmlns:p14="http://schemas.microsoft.com/office/powerpoint/2010/main" val="845634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Rectangle 54">
            <a:extLst xmlns:a="http://schemas.openxmlformats.org/drawingml/2006/main">
              <a:ext uri="{FF2B5EF4-FFF2-40B4-BE49-F238E27FC236}">
                <a16:creationId xmlns:a16="http://schemas.microsoft.com/office/drawing/2014/main" id="{04D99009-C894-4753-A734-5ACDB41A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4140535-A406-4B66-A7CC-53EBE9B2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13-WEEK ROADMAP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4720DD-489D-4B50-A920-3401023A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Weeks 7–13: supervised models and the capstone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DF9F2F9-ACB8-4394-AEED-85B3BA0E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later weeks follow the syllabus sequence. Unsupervised learning is outside this course structure.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79E216D-6104-4E07-9118-5BC77A34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FEA7401-1C44-49EF-A482-FE0B6021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FBFBF5A-F414-448A-8E2B-8EAC779C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1381283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DCD3A0B-EE67-4A87-9693-DA9CE580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11458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Weeks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CD35E23-E656-46C0-8355-C1309F4E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733" y="2324100"/>
            <a:ext cx="331508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2D7863C-7D9A-4819-A38A-4158788C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083" y="2476500"/>
            <a:ext cx="30483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Focus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4CAE5E3-3CC6-4B92-9502-B50062A3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813" y="2324100"/>
            <a:ext cx="6390737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2620AAF-9C48-44E4-A01F-6133179E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2163" y="2476500"/>
            <a:ext cx="612403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Main output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5DF057F-F51A-4074-8906-8A763706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138128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537905F-BD21-4143-B079-8AC7B859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111458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09E4145-3C85-4EF4-99EB-75F5E102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733" y="2800350"/>
            <a:ext cx="33150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A5D9B73-90B9-49C7-B339-5D059D7A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083" y="2962275"/>
            <a:ext cx="30483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Decision trees and random forests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BD2DB20-F867-46A1-B750-3E1D1E4C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813" y="2800350"/>
            <a:ext cx="6390737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8E3B3D7-E0D8-4EE0-BB6F-457800F7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2163" y="2962275"/>
            <a:ext cx="6124037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Nonlinear benchmark and feature importance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04A0E5BE-A1C4-4B3A-B218-52D153A8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138128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D5458094-4FB1-4808-B26E-FEDDC095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11458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3BFB6BA-835B-4C63-873F-AF70AE6E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733" y="3314700"/>
            <a:ext cx="33150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6CB25C6-B37A-4FF4-9B85-7F5E1A36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083" y="3476625"/>
            <a:ext cx="30483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Model validation and generalisation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13F486AE-EF0D-44E8-8345-201FE4CE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813" y="3314700"/>
            <a:ext cx="6390737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A395669-25DD-4697-955C-9A179A96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2163" y="3476625"/>
            <a:ext cx="6124037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Cross-validation, learning curves, and leakage control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6DF4ADBE-1DB7-433B-AA8A-3F3E3AAC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138128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0D34E5B-3524-4CCD-9258-2395C1F0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111458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A1A10367-B2EB-4D54-996B-4A041564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733" y="3829050"/>
            <a:ext cx="33150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6E1B7E7-8237-451D-B524-97D1E4E0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083" y="3990975"/>
            <a:ext cx="30483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Gradient boosting methods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1B3C3BE8-DCCB-4CED-B021-FE375ADD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813" y="3829050"/>
            <a:ext cx="6390737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4A6EA221-C993-4665-BDFD-4EF2F245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2163" y="3990975"/>
            <a:ext cx="6124037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Boosted model with tuned hyperparameters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84D26063-8775-4760-AA13-E37EBB02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138128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0C253E0D-4BCE-4E38-BE5C-BB4607AA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111458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431AA1E9-2E90-4C99-A732-32AF966E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733" y="4343400"/>
            <a:ext cx="33150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FC907C5C-1D8E-4819-A447-7990CC7B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083" y="4505325"/>
            <a:ext cx="30483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Alternative machine-learning algorithms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C2277A0A-B6BD-47E2-BC22-D8C52F3A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813" y="4343400"/>
            <a:ext cx="6390737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6439C121-529B-4596-A9BC-74D55631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2163" y="4505325"/>
            <a:ext cx="6124037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SVM, kNN, and Naive Bayes comparison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41378BC9-78D4-4537-8A66-84818CE3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38128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9052C476-2023-4247-9FC5-81E49CA2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111458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A101298F-85F5-4A7E-AA19-0EE4B7AA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733" y="4857750"/>
            <a:ext cx="33150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A465A9B6-E1D4-4E28-9DF8-4676619B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083" y="5019675"/>
            <a:ext cx="30483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Calibration and explainable AI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69F94D09-080B-47F3-91D4-75A8CF11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813" y="4857750"/>
            <a:ext cx="6390737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9AEA63CB-7889-4DF6-89D6-804ACEB9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2163" y="5019675"/>
            <a:ext cx="6124037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Reliable probabilities and SHAP explanations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01DF45E9-7BA8-4D6A-A3B2-3FE54421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72100"/>
            <a:ext cx="138128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85F70710-C2A8-4A01-A583-7DC14CEE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34025"/>
            <a:ext cx="111458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CFDBA3CC-648B-4765-BFBB-50F72F97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733" y="5372100"/>
            <a:ext cx="33150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25079374-BDF4-4170-8BF5-BA1F3ECB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083" y="5534025"/>
            <a:ext cx="30483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Introduction to neural networks</a:t>
            </a: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30F4A180-9966-43D5-800C-427C7FCC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813" y="5372100"/>
            <a:ext cx="6390737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8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CD1B7DA4-2167-41DF-9F1C-BF727E06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2163" y="5534025"/>
            <a:ext cx="6124037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MLP model and comparison with traditional models</a:t>
            </a:r>
          </a:p>
        </p:txBody>
      </p:sp>
      <p:sp>
        <p:nvSpPr>
          <p:cNvPr id="49" name="Rectangle 48">
            <a:extLst xmlns:a="http://schemas.openxmlformats.org/drawingml/2006/main">
              <a:ext uri="{FF2B5EF4-FFF2-40B4-BE49-F238E27FC236}">
                <a16:creationId xmlns:a16="http://schemas.microsoft.com/office/drawing/2014/main" id="{32DACA45-899F-4CBB-ACD4-3EF13E0F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38128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50" name="Rectangle 49">
            <a:extLst xmlns:a="http://schemas.openxmlformats.org/drawingml/2006/main">
              <a:ext uri="{FF2B5EF4-FFF2-40B4-BE49-F238E27FC236}">
                <a16:creationId xmlns:a16="http://schemas.microsoft.com/office/drawing/2014/main" id="{9D337A58-B24B-4004-9FA7-B2136580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11458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1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0FD40110-CE3D-4AC2-8C95-BBA3EBBC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733" y="5886450"/>
            <a:ext cx="33150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52" name="Rectangle 51">
            <a:extLst xmlns:a="http://schemas.openxmlformats.org/drawingml/2006/main">
              <a:ext uri="{FF2B5EF4-FFF2-40B4-BE49-F238E27FC236}">
                <a16:creationId xmlns:a16="http://schemas.microsoft.com/office/drawing/2014/main" id="{ED809F37-A10B-4D1B-A963-9F0C98D2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083" y="6048375"/>
            <a:ext cx="30483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Capstone project</a:t>
            </a:r>
          </a:p>
        </p:txBody>
      </p:sp>
      <p:sp>
        <p:nvSpPr>
          <p:cNvPr id="53" name="Rectangle 52">
            <a:extLst xmlns:a="http://schemas.openxmlformats.org/drawingml/2006/main">
              <a:ext uri="{FF2B5EF4-FFF2-40B4-BE49-F238E27FC236}">
                <a16:creationId xmlns:a16="http://schemas.microsoft.com/office/drawing/2014/main" id="{28E62E8F-2A17-4FDF-B5BD-822B8CC4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813" y="5886450"/>
            <a:ext cx="6390737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54" name="Rectangle 53">
            <a:extLst xmlns:a="http://schemas.openxmlformats.org/drawingml/2006/main">
              <a:ext uri="{FF2B5EF4-FFF2-40B4-BE49-F238E27FC236}">
                <a16:creationId xmlns:a16="http://schemas.microsoft.com/office/drawing/2014/main" id="{AD66F793-FA5E-4F1A-998B-56BB9843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2163" y="6048375"/>
            <a:ext cx="6124037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Complete solution, report, code, and presentation</a:t>
            </a:r>
          </a:p>
        </p:txBody>
      </p:sp>
    </p:spTree>
    <p:extLst>
      <p:ext uri="{BB962C8B-B14F-4D97-AF65-F5344CB8AC3E}">
        <p14:creationId xmlns:p14="http://schemas.microsoft.com/office/powerpoint/2010/main" val="9073252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E0E46402-063B-48C7-AAFF-34D5D85B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115BE20-436A-467E-84CE-F20231BB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WEEKLY RHYTHM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4EB8B2F-DE9E-4776-890C-43D52DA4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How each week will work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C4107F3-5972-4C72-956C-24FD6C4E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same rhythm makes the material easier to study and apply.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42CF74B-22B1-4793-94A6-4EAB19E1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FD7A885-D197-4048-BCBF-CD98AA4C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4289E2B-F61B-4174-9A4C-4CE141CE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D3462D1-1727-4F5A-BB03-15F944EF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FEC23DB3-2B93-405F-A149-BECCB76B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357DE80-4CB0-4314-978A-F5FD72B5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9E062CE-79DB-4CE5-9976-E4AEA9A2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Concept</a:t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C792DE92-3415-4DFE-8905-5490E786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B3C2861-C45E-4F81-9CAF-D40715D2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Theory and notation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DD8A887-BC82-47CC-B998-C57E0F5D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D527A96-5BB7-4E55-8027-5D02A210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define precision before looking at a precision score.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C84BFC0-AA8F-4546-839D-6B28FF59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19907DE-291F-4BE0-B3FC-21784580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B8CB14F1-2F94-4C72-BA07-5E54E600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232F5E4-1603-4D87-8DFC-0E3B708D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8C0EBBA-78A3-4E4D-9E6E-361FAAE9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48816900-01A7-49E1-B368-2CB57432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B3AD5A3D-5913-49DD-ADEC-28062ADE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Runnable Colab cells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2BBD55F-8E74-48AC-804D-84172F1C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4D4B1E4D-C3D5-4601-B00F-A9E68E1A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run pd.read_csv(...) and inspect the returned table.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1844CEEC-FA60-4CCF-A01C-2D0BF1CE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5ADE173-9422-44A2-B615-61154FDE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17E4B393-9DCB-4A5F-84F3-20D22E5E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2A4CB8EB-81FC-4AC7-B048-5A6347A9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371ED47F-AAA8-42E4-AC83-F2743CA7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Lab</a:t>
            </a:r>
          </a:p>
        </p:txBody>
      </p:sp>
      <p:sp>
        <p:nvSpPr>
          <p:cNvPr id="30" name="Straight Connector 29">
            <a:extLst xmlns:a="http://schemas.openxmlformats.org/drawingml/2006/main">
              <a:ext uri="{FF2B5EF4-FFF2-40B4-BE49-F238E27FC236}">
                <a16:creationId xmlns:a16="http://schemas.microsoft.com/office/drawing/2014/main" id="{DE7A2987-2154-4EEC-B849-25373F17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4D49C267-BAE5-4336-BF6D-D7ED6AEC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Modify the example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A376F8AE-E623-423D-B1FD-A3F2F5C6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56A2C24D-DF83-47BC-A8AA-C36DEDDC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change one parameter and explain how the output changes.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AFEB8FB4-6B30-4F39-BCE5-5A2F22C7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4D11F995-56C0-4F53-89B5-1C5DD98A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8BCE294B-47CD-44D2-AB7B-AAEAE9C9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B5CE8416-5520-406F-9EB8-EE0373BD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30808E94-53E7-4F3E-816C-9CCB12E5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Exercise</a:t>
            </a:r>
          </a:p>
        </p:txBody>
      </p:sp>
      <p:sp>
        <p:nvSpPr>
          <p:cNvPr id="39" name="Straight Connector 38">
            <a:extLst xmlns:a="http://schemas.openxmlformats.org/drawingml/2006/main">
              <a:ext uri="{FF2B5EF4-FFF2-40B4-BE49-F238E27FC236}">
                <a16:creationId xmlns:a16="http://schemas.microsoft.com/office/drawing/2014/main" id="{E2594F9D-9028-4B4E-9EAD-AFBA958E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4588D491-A71F-49C2-A45B-697E57D6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Submit a small artefact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40464A9B-071C-4D94-919B-43BC2494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9EEDF7B5-73EF-4D1C-B944-51A6C1FE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submit a clean Colab one day before the next class.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4A8AECA1-6A1C-4E53-BC2D-5C02A868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11087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F1250823-BF82-4BE1-A2FE-B4E26AB3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070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Keep the notebook from each week. Later lectures will extend earlier work.</a:t>
            </a:r>
          </a:p>
        </p:txBody>
      </p:sp>
    </p:spTree>
    <p:extLst>
      <p:ext uri="{BB962C8B-B14F-4D97-AF65-F5344CB8AC3E}">
        <p14:creationId xmlns:p14="http://schemas.microsoft.com/office/powerpoint/2010/main" val="10717153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978E24A-1834-484D-B216-DF73B298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3D1876E-3DF7-4815-A7E0-BA6F1A4D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WORKING IN COLAB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26D5A4F-5B96-4083-A0BD-732041F5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code is meant to be run, inspected, and changed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45DDDF5-31FE-446D-AB0A-F53A8A0F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slides show the minimum code needed to make the analytical idea concrete.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0A296A2-E1FE-4D37-93D9-58C5722F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576946E-0FC1-4A7B-A7A3-EE1BF109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1EBF636-D609-44D4-AB5F-CD6CC7F9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9F89701-EE9E-42EF-92C2-2676FD99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IN COLAB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6D3C914-1EC8-446A-B502-BF3889FC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Run each cell from top to bottom. Read the output before changing the next cell.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9A6EFD3-B4C5-44D2-84E7-CCDA8B8B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CD06CA1-4A18-49B6-A951-4240F9C5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WHEN STUDYING AT HOME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DAD1729-8D5C-4358-ADA7-ADFE4796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Change one input, rerun the cell, and explain how the output changes. That is where the method becomes understanding.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22958C7-3314-4EE0-9720-036DE22C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AB91DC8-2F5A-4543-A7B7-99546574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copied output is not evidence until the calculation has been rerun.</a:t>
            </a:r>
          </a:p>
        </p:txBody>
      </p:sp>
    </p:spTree>
    <p:extLst>
      <p:ext uri="{BB962C8B-B14F-4D97-AF65-F5344CB8AC3E}">
        <p14:creationId xmlns:p14="http://schemas.microsoft.com/office/powerpoint/2010/main" val="172293910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212D373-C613-4332-951E-1D11306D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4401E08-5780-4ECA-8630-CC54AF65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DATA AND EVIDENCE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E659086-51CF-4218-AEC6-7661EE08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Open data, explicit sources, visible assumptions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8DE5EDA-1F43-49B2-AC95-30C29488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course examples will use public data that can be downloaded directly from Colab.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4D72633-68BD-4E0E-AC69-C52377C3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33CDDFD-BB32-4EBB-AC52-C8CC20DA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AB609E8-93ED-4E5F-A3D6-92FFF254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530FF54-FF88-4447-A389-62E65FB5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DATA RULE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C385677-50C0-42DA-8C9A-C7B3910E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Every dataset will have a source URL, a row definition, a time period, and a clear variable description.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7A824B7-FA73-4BB5-99A2-31E0525B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77EE118-B6A4-4958-9BA6-6BFB0D56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EVIDENCE RULE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6B2F89A-79E2-4242-A1A4-C87D8C18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 result should be traceable from source to code to output. If a definition changes, the interpretation must change with it.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D98C164-5D06-4B41-81D2-AF15B005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141B4C4-06A7-47B5-87C4-A2FF4EA6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first dataset in this lecture is a public Apple price and volume CSV.</a:t>
            </a:r>
          </a:p>
        </p:txBody>
      </p:sp>
    </p:spTree>
    <p:extLst>
      <p:ext uri="{BB962C8B-B14F-4D97-AF65-F5344CB8AC3E}">
        <p14:creationId xmlns:p14="http://schemas.microsoft.com/office/powerpoint/2010/main" val="154066567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D1136E04-7114-4E61-B9AC-B1CB4AAD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B0CCFD3-7254-4618-9319-DD31B384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BEFORE WEEK 1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55018FC-F64B-4147-BD49-A17AC4C7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What to expect from the material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7BF0AE5-157E-4996-A0E0-DA8D6AD7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You will see the same structure repeatedly across the course.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B4A51EB-5994-46C1-A41A-EF09C0C3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490EF37-C519-49A2-8283-BE9880B2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5634745-87D9-4E85-AA2F-CCA851B5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8E18D72-4E5B-4A68-A036-8A0AAE43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FA7E6296-6BC9-4EBA-BC6C-B6BB5039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5027644-7D0E-434E-B610-29D1B72A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C980F47-CC08-480B-A6AC-9DC7ACA3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Read</a:t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7B5A5983-5201-477A-9247-EF235076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FF654B7-C50B-47E1-BC31-A82E1096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Understand the idea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D0F1932-C4AB-4B51-9889-BFBAF84C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F336B82-87B1-4DDD-A762-87C75BEC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identify the target, predictors, row unit, and source.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045A60C-0E9D-4B19-B04B-6B372D07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1209AC6-6AF8-4EBC-8A7B-8B96E6CD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76684992-CC96-4053-A99A-A22E53CD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5D247DC-152D-47F1-ABA7-22B3A24B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58FF727A-D10E-4BF6-AE31-B0ED8E9F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Run</a:t>
            </a:r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293CE7BD-7EBD-4CA0-A96E-221D1123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81B57630-A61F-43DE-8C03-F59DAECB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Execute the code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1B9F7140-FC57-42E6-A8B6-8900B283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1C431B87-40F1-4ED0-86B2-F0B3E881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execute every cell from a fresh Colab runtime.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0D159529-778C-43BA-ACCB-08E52645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F0392105-2B3A-4759-AEDC-52774964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BFCD12EB-0D8B-414F-9752-3506CC3C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21D11E46-40D7-4BED-BE62-671C1FA8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6C69D37C-5FD3-42B2-A163-B15BBACD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30" name="Straight Connector 29">
            <a:extLst xmlns:a="http://schemas.openxmlformats.org/drawingml/2006/main">
              <a:ext uri="{FF2B5EF4-FFF2-40B4-BE49-F238E27FC236}">
                <a16:creationId xmlns:a16="http://schemas.microsoft.com/office/drawing/2014/main" id="{53DBE874-39DC-4C2E-BD3C-F3BD4ADC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057BA679-4FBA-4F67-B1B2-A385EAF9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Inspect the output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7079DA06-D33B-4295-9B97-0277ED1D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948BBA95-7D2C-4D6A-AEA7-0DEF133B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inspect shape, types, missingness, and plausible values.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5653C00D-A867-4C11-A992-14EE5EBD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BE532209-3840-4F22-8771-DBDA15C1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3D24D6D0-EF8B-4CCF-8745-6D8D3C5C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13BCE412-B955-48A6-A756-BBEB4CF9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3BFE1D9E-6B3C-45B6-842C-E613CE1E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39" name="Straight Connector 38">
            <a:extLst xmlns:a="http://schemas.openxmlformats.org/drawingml/2006/main">
              <a:ext uri="{FF2B5EF4-FFF2-40B4-BE49-F238E27FC236}">
                <a16:creationId xmlns:a16="http://schemas.microsoft.com/office/drawing/2014/main" id="{2FB08B95-B895-4BE6-BFAF-7CF560F9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A900974A-0164-4751-8703-62199FFE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Connect to finance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0DDB4658-C40B-4905-A637-8ABA3579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73B3A35A-E612-4BF8-955B-7D971F82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state what the result means for a financial decision.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59243813-5299-4FBE-A1D2-B3B0315F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11087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372F7729-43FB-4E18-B85F-049F4786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070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Week 1 now starts with the official Python foundations material.</a:t>
            </a:r>
          </a:p>
        </p:txBody>
      </p:sp>
    </p:spTree>
    <p:extLst>
      <p:ext uri="{BB962C8B-B14F-4D97-AF65-F5344CB8AC3E}">
        <p14:creationId xmlns:p14="http://schemas.microsoft.com/office/powerpoint/2010/main" val="149911979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46D0761-E970-4D71-99F0-58594FF8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6382315-453B-46A9-B967-EEB4232F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LECTURE FOCUS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419784E-F931-4402-BD56-33A0A277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first lecture builds the analytical foundation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C65F94A-0ABC-444E-A9B8-44B3D6A4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work begins with Python, data structure, and a disciplined way to inspect financial information.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33476FA-A6E4-4BD4-945A-7B8E80FD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EC445BB-9C36-4881-84B1-92A2D431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8E5274D-53E8-45E3-86C1-EDD76EF9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039C2C0-D429-4D3E-8422-1802D926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THIS LECTURE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51DFF15-FF54-4ACD-AAE0-A0051195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Build a clean notebook that moves from setup to a first financial-data analysis.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05F59C4-EF43-44E8-BBB2-E7E8787C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267BBA7-A788-4815-B1FA-3F87C511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BY THE END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F2DCAF8-BAE0-4E68-9F27-3C1C0135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You can read a dataset, calculate transparent summaries, and produce labelled visual evidence.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51D756E-8AAC-4CBA-A5B0-E51C5C0E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647AD81-B594-4763-A752-83BD0D26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first model comes later. The first control is understanding the data.</a:t>
            </a:r>
          </a:p>
        </p:txBody>
      </p:sp>
    </p:spTree>
    <p:extLst>
      <p:ext uri="{BB962C8B-B14F-4D97-AF65-F5344CB8AC3E}">
        <p14:creationId xmlns:p14="http://schemas.microsoft.com/office/powerpoint/2010/main" val="101342655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C4EA6954-8D0D-4E47-BEAF-674A1529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D46BFB0-D7CD-4CE6-89A7-DEC539E5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COURSE WORKFLOW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D7E0457-013A-40A6-A362-F9ED36B1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From financial question to evidence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6F0C3C6-9F1B-4AC4-BB8F-66155538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13-week course adds one layer at a time to the same workflow.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4C068EA-4160-4AEB-A9B6-10AFD095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34A94FF-6AB4-4D7D-9765-B49954EE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654A8C3-65E8-4B7E-A7BC-DCFCF4DD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8072A0B-1725-4894-A4BF-4B5D51D0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826EFF6E-7DA2-40BA-9695-7421723E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84665A9-53C9-43EA-B560-418736E3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90737AC-4790-45FF-BFED-C61E6290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A2B9F008-4475-4C9D-8A8F-7C811BDF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6200281-FA8F-443F-916B-1621FD29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Define the decision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489A79E-3573-4B34-A392-240D8BCC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5297473-27A8-4F50-9B15-1E0BE50C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should a lender flag this application for review?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85F0D55-7069-47FA-9C65-9629D5B5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BB3131D-4366-46DD-BD07-577AA7A9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D7D633F7-5297-4BBE-AD8A-9BCB0DDE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F6F0ABF-667F-41CE-9E58-146ACE22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ECAEFA4-197C-4BEB-8E20-ABC7A885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C3396732-7AA2-48BF-BA80-12DB8406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92E4F37-120E-4F4C-8C3B-B64CFB2B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Inspect the observations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6F54C5D2-85D2-4F32-A281-55B1EDE0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1867130-56AE-4772-8E21-72B280BA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use borrower characteristics and a next-month default flag.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E589F1AA-5B01-4888-9CED-3A7220AE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5C307639-9038-48DB-B0A8-56826ACC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ACFB322F-7D60-443A-BCAA-A55C04FA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529694A1-CEBA-4F18-9FA1-D724F23A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1CF68F35-D5DB-4AAC-A37D-61D3B085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30" name="Straight Connector 29">
            <a:extLst xmlns:a="http://schemas.openxmlformats.org/drawingml/2006/main">
              <a:ext uri="{FF2B5EF4-FFF2-40B4-BE49-F238E27FC236}">
                <a16:creationId xmlns:a16="http://schemas.microsoft.com/office/drawing/2014/main" id="{18462765-22AB-4DFD-BE80-F046379C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496C744A-BCCC-49EA-B718-C2117DD6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Estimate and validate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3C2D8274-FDD4-405F-B5E4-89113517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CB761426-4554-4479-A53D-B392779C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estimate, validate, and compare supervised models.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D5AE3BDA-BB8C-4C0E-B892-7DD5E92C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C6241BE8-1328-447E-A3E5-BB30A0C0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16A8A0AB-812F-48BF-B509-88D119BD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C438FD35-587F-463C-A034-B5440715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B5E59580-45DE-48B6-B416-C7B656E0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39" name="Straight Connector 38">
            <a:extLst xmlns:a="http://schemas.openxmlformats.org/drawingml/2006/main">
              <a:ext uri="{FF2B5EF4-FFF2-40B4-BE49-F238E27FC236}">
                <a16:creationId xmlns:a16="http://schemas.microsoft.com/office/drawing/2014/main" id="{0A8EAC63-EC3B-4FEB-BAB5-26822E71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B5263B21-753E-47D4-ADF6-F229F1AC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Interpret and monitor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B15D1B32-C4C7-4AAD-B170-C6B5DB3F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6EF375A3-89B6-4E93-8488-CF93F71A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choose a review threshold that reflects the cost of errors.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11CD4C8F-9E29-4C36-AF71-A0C325A5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11087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B67EEFDE-F9AE-40C4-A310-91CCB0D4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070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Week 1 focuses on the first two steps: question and data.</a:t>
            </a:r>
          </a:p>
        </p:txBody>
      </p:sp>
    </p:spTree>
    <p:extLst>
      <p:ext uri="{BB962C8B-B14F-4D97-AF65-F5344CB8AC3E}">
        <p14:creationId xmlns:p14="http://schemas.microsoft.com/office/powerpoint/2010/main" val="6503418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885948A8-8FDA-49E0-AA90-6B0ED1F6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31DF0A4-8808-4F70-ABE0-A9D6C90A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WEEK 1 OUTCOMES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05557F4-5EFA-47BA-A581-E910E13A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What you should be able to do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5A1FAF7-C74D-4F5B-AF73-BB00D86A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lecture stays close to the workflow you will use in later weeks.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8B134D8-F37A-4FDC-A967-94788D4C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E42FA29-F864-4175-9E8B-F8771EB0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88EB8A3-B4FD-4EEA-89AC-57AFD989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E43996F-AA37-49B8-AB30-7FE857C6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5CA9CD4D-3B52-4AE7-99D9-C6FE9C9C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A16BAFD-48E5-4EA0-ACCA-34FE079A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66A7112-B6E4-4AAF-9982-EC1DF626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Run</a:t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46265464-2136-4D48-81A8-6EB02D7A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EFED069-BC67-4DDE-93F2-002DA9BF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Open a clean notebook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A29A1C1-AC9B-497E-A1A4-F495C7CE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E83254C-5F86-4EE3-BC89-E41BBF7B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execute every cell from a fresh Colab runtime.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077BE28-1640-411A-8468-FDD7842D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1D09F2C-C7D2-44DE-8DED-5D61CE73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28976D6A-0433-4DF1-9B66-DC258ED4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84972F8-E085-4A33-BB96-CB9A585A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B49D275-BB88-46B0-923D-DE97B4CE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F9D586F9-5ACC-42DD-86FD-EDBD98D2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EBFC41CF-94FC-4CFA-8720-B9B6B91D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Use core Python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1E765E9E-33EA-4DB7-A9FC-8DD37CAA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04C40060-F991-441B-8539-7D9E93BD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run pd.read_csv(...) and inspect the returned table.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46C3EB21-00FA-438C-AB53-C9BAE9BF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19D6408-9617-47F0-8F52-6666C2BA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93C5AA36-486C-448A-B351-F5AE0ABD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EB9C16A-E4DC-4D07-BA3E-4B92C4C2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77DF5A77-E78A-49E5-8758-0E43C68A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Load</a:t>
            </a:r>
          </a:p>
        </p:txBody>
      </p:sp>
      <p:sp>
        <p:nvSpPr>
          <p:cNvPr id="30" name="Straight Connector 29">
            <a:extLst xmlns:a="http://schemas.openxmlformats.org/drawingml/2006/main">
              <a:ext uri="{FF2B5EF4-FFF2-40B4-BE49-F238E27FC236}">
                <a16:creationId xmlns:a16="http://schemas.microsoft.com/office/drawing/2014/main" id="{F6F36A25-C7F2-458F-9237-4EF53DBD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BF51E786-6B79-4207-9598-7A36AE10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Read financial data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347D2C05-AD23-4BFB-9D13-026A88AC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B09ECC45-3911-4D14-A730-963933FD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read financial data.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8AB0BDD8-5853-4E2D-B695-D124DA6A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F7931FB1-EB09-4DD1-A3D4-63EE8042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001BD6CF-C100-4D73-8ED2-55F5D11B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E31F0818-77B2-4354-9B42-A7EC1CD6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6B2A41E2-F744-426F-86BB-40A8AA55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39" name="Straight Connector 38">
            <a:extLst xmlns:a="http://schemas.openxmlformats.org/drawingml/2006/main">
              <a:ext uri="{FF2B5EF4-FFF2-40B4-BE49-F238E27FC236}">
                <a16:creationId xmlns:a16="http://schemas.microsoft.com/office/drawing/2014/main" id="{9DEB3174-2F3E-4ACA-87EF-A3FEB2BF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EA0DFB16-E508-4538-9A35-F9057CC3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Describe what you see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AB6000E5-92C9-4667-BD40-E9623B9B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4984DF62-1EF2-4B6B-A76B-BA7F4E57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state what the result means for a financial decision.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0FBAE5D1-0FA8-4FA2-8EF0-D5C47E30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11087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3BABE817-6E7F-4534-A447-A11B9665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070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The deliverable is a short notebook with code, output, and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94249012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A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2274F8F-8EE5-44DC-9046-0F8C3E26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C83196C-FDDE-43F1-A034-4145E258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800100"/>
            <a:ext cx="3143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0" b="1" i="0">
                <a:solidFill>
                  <a:srgbClr val="102D49"/>
                </a:solidFill>
                <a:latin typeface="Aptos"/>
                <a:ea typeface="Aptos"/>
                <a:cs typeface="Aptos"/>
              </a:defRPr>
            </a:pPr>
            <a:r>
              <a:rPr sz="12750" b="1" i="0">
                <a:solidFill>
                  <a:srgbClr val="102D4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33EA380-14CC-4E73-93E5-0523321B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B7EC02E-AB8B-42D5-980F-4D858A00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PART 1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ADBFDE6-3C80-4186-8C07-4D09F176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Notebook workflow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4C123F6-C4D9-4C46-8C18-0EC3BAFE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BFD0D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BFD0DF"/>
                </a:solidFill>
                <a:latin typeface="Aptos"/>
                <a:ea typeface="Aptos"/>
                <a:cs typeface="Aptos"/>
              </a:rPr>
              <a:t>Reproducibility starts before the first line of Python.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49C3736-B547-43EF-8782-00F97824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78DCACD-343E-488F-8BF2-38D9781B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6EA2752-24C3-4F93-B5C9-98966AA0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87877353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6817C78-D884-4B6C-BC52-3D2BFF2A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16A9232-DA9E-494A-9FCA-5B523F1E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C1391D4-3A10-4F6A-90B3-39D1E844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notebook is an analytical record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08DC5EB-91E1-450D-BD46-8CCED93C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reader should be able to trace the result back to the data and the calculation.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C247393-A8DB-4A07-8C0E-7EA276EA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1B8217C-1B37-49B4-831A-F5A14E1B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F9AE45A-8242-48D8-91D4-13AD15C2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9322EDB-BF51-47EE-ACCC-A5AC5AD6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A USEFUL NOTEBOOK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2B01108-E21D-400F-81C7-0FC03FC6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Explains the question, shows the code, preserves the output, and states the interpretation.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7B8DF12-41EC-489E-AFE7-CCF58F48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2A30750-28E8-4612-B78D-D16D0A14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A WEAK NOTEBOOK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AB308F1-6C9B-498B-8233-622C2698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Shows disconnected cells, hidden transformations, and numbers that cannot be reproduced.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A5F4172-641A-4E52-BB5A-8474FA61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E9F337A-C118-4E57-9AEA-3CE1095F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Reproducibility is a modelling control.</a:t>
            </a:r>
          </a:p>
        </p:txBody>
      </p:sp>
    </p:spTree>
    <p:extLst>
      <p:ext uri="{BB962C8B-B14F-4D97-AF65-F5344CB8AC3E}">
        <p14:creationId xmlns:p14="http://schemas.microsoft.com/office/powerpoint/2010/main" val="3493916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FE54F88-8068-4D07-A01C-B953CA33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07FE916-ED6D-4766-978D-B4ADB935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079C1C9-3EE3-49A5-8B20-7BB57698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clean first cell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85EAD18-6248-4837-B770-2DB4C746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Colab already provides the core scientific Python stack.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16C5C21-7B4B-4967-94EB-256CF0D8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AA25B89-323A-46BA-9057-A371D39E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06C3BC0-5B36-4D97-A290-99DCC382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714A1BE-152E-4A0B-92EA-82A4ACBF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B067519-C1E9-44A1-933A-40F272D4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import numpy as np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import pandas as pd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import matplotlib.pyplot as plt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print("Core libraries loaded")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FC0A60F-5029-46C8-9F3E-27BDF868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B570781-335E-421A-BFA0-6660308F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BB8C79A-12AA-4D64-A0D5-96A6E8B2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D48372A-5B37-485A-B263-65F71FD0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Core libraries loaded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3B1FC4C-216D-48C3-AC2A-B6F90026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4DF8FE5-0D1D-476E-B18C-3CD8DBC0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043F95E-9D79-4881-8C3D-BB079511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setup is deliberately short. The lecture spends its time on data and analysis.</a:t>
            </a:r>
          </a:p>
        </p:txBody>
      </p:sp>
    </p:spTree>
    <p:extLst>
      <p:ext uri="{BB962C8B-B14F-4D97-AF65-F5344CB8AC3E}">
        <p14:creationId xmlns:p14="http://schemas.microsoft.com/office/powerpoint/2010/main" val="47562555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9C32F7BE-5804-4157-8AD4-6D40D5F5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1539D34-E997-42B7-81EA-B8090705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NOTEBOOK STRUCTURE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F5D5BB3-6E66-4541-AEE9-94E39A2B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Four layers keep the analysis readable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F0C8F14-D83C-462D-8642-2192214F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Each layer answers a different question.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831BEAE-DE54-4B1A-8F2F-FDF68567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CD115FD-8A54-42F9-A65B-219B5BF5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28185EA-60C5-427C-9B6B-F99C78B0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2F0578F-29CF-4CD0-938A-B27C11F0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535F2EBF-3545-4DA5-B2D4-389C6E10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6ADDA72-775B-404A-85BC-510A4D00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458F28F-7672-4082-A09E-2C8543DF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E23EB05C-2C8F-428E-97C6-C3757E71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573BD96-E19B-4459-AB19-C88C836F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What is the question?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94BAFAC-8FCD-4163-8B8F-B698832F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CE13E58-6CE0-47FB-AE5F-3ED7384F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why is Apple closing price being examined?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87289D1-7BBA-4E79-B67F-450ADB90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2ED76E1-AFDF-4D14-BBAE-AD6D63A8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9C1AF8A7-48D0-455F-9A18-0048C054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C7B3CC9-15C8-42E3-AB5E-9EF0C17F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0974B2F-48EC-4CE0-8520-F8622AB8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93B2EBCA-D668-4A41-9701-D1C9987B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09141C0E-1FB6-4AC0-8951-D967044F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What was calculated?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0D14E6A2-5280-44AA-8E79-EBABECE5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E6E92F9-1929-45AC-89D7-2C3C7EFD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run pd.read_csv(...) and inspect the returned table.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1F8B3664-87EF-4FE3-A6CF-F4D17455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3B2CF27-8E42-40FD-9A11-6F1F9CD3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C3C74B38-44FF-445B-830B-AF57A78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D4A64F42-BB06-459F-9F0C-53A1CD51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AD35B95-7D40-478F-AEC0-E8296843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30" name="Straight Connector 29">
            <a:extLst xmlns:a="http://schemas.openxmlformats.org/drawingml/2006/main">
              <a:ext uri="{FF2B5EF4-FFF2-40B4-BE49-F238E27FC236}">
                <a16:creationId xmlns:a16="http://schemas.microsoft.com/office/drawing/2014/main" id="{C345FA56-FC9C-4387-8441-D5F913C8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8B65E745-FBE4-4163-A016-CF7F36AA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What was produced?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AEE1911E-13CB-49CD-8685-15056B32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F7C596A4-3097-4445-94F2-BD4540A1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a table, number, or plot produced by the code.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9C005FF8-CE00-4629-AC98-80F54D9C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51B286E0-32C3-41DC-998D-50CB820E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7704BD09-58D3-4D5A-A9FB-ABCE5510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936247D2-49ED-4BF5-8C09-183DFE3F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E957F62B-B84B-41A0-BFA6-86BB8DCA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Meaning</a:t>
            </a:r>
          </a:p>
        </p:txBody>
      </p:sp>
      <p:sp>
        <p:nvSpPr>
          <p:cNvPr id="39" name="Straight Connector 38">
            <a:extLst xmlns:a="http://schemas.openxmlformats.org/drawingml/2006/main">
              <a:ext uri="{FF2B5EF4-FFF2-40B4-BE49-F238E27FC236}">
                <a16:creationId xmlns:a16="http://schemas.microsoft.com/office/drawing/2014/main" id="{F82FB375-3898-473B-821E-DCB090AA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DA78D545-7335-4F60-8475-CA67ADD2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What does it imply?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3898ED6C-0109-49D7-A598-3FC7DA6E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5E9DA380-8E8E-432F-8073-380EA065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explain whether the result changes the financial interpretation.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D9CF38DE-6A45-4CD5-98A8-DF60DF4B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11087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00B53320-A77D-45A1-8646-1C6E28C2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070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Do not hide the interpretation in a final paragraph disconnected from the code.</a:t>
            </a:r>
          </a:p>
        </p:txBody>
      </p:sp>
    </p:spTree>
    <p:extLst>
      <p:ext uri="{BB962C8B-B14F-4D97-AF65-F5344CB8AC3E}">
        <p14:creationId xmlns:p14="http://schemas.microsoft.com/office/powerpoint/2010/main" val="80642159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EE6F7DA-5BE5-4090-93AA-2510A549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A3DA0B1-7C09-4015-BD0F-115DCF41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2DE023C-A6F2-45DC-9AA6-4F394E47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Make the data path explicit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0DDE157-098C-44E1-BBAD-CB53407C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Use a relative path that another machine can reproduce.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4D1DA11-01B1-412C-BDF2-32C99FE7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123BD80-4835-4293-AC98-32B60D2C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A03DF4D-482A-480B-976E-6B93681B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499755B-67C8-453C-8E55-3C7525DB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160E066-7F1E-498F-A73E-8A96833C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from pathlib import Path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DATA_DIR = Path("data")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FILE = DATA_DIR / "finance-charts-apple.csv"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print(FILE)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print(FILE.exists())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3E2E9FE-4A40-4B94-ABDE-43535AB9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B7EF7F8-9077-4F56-B2BE-B448E8D7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78ACC79-9E4E-45D1-954C-21BBEF63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0FC8A2F-95EB-4A72-9486-09BD6567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data/finance-charts-apple.csv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True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D4E8B7C-8D78-4199-9704-5AB1FDCD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B3423B0-4D40-4A81-BC30-051A141D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59D5DE4-9183-4476-9D47-A9C2482E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path check uses a file that is included in the course package and creates an immediate failure if the file is missing.</a:t>
            </a:r>
          </a:p>
        </p:txBody>
      </p:sp>
    </p:spTree>
    <p:extLst>
      <p:ext uri="{BB962C8B-B14F-4D97-AF65-F5344CB8AC3E}">
        <p14:creationId xmlns:p14="http://schemas.microsoft.com/office/powerpoint/2010/main" val="134051219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6497653-542D-4BD8-AB3F-2415AE9E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C7AC8D6-8382-40DF-B21E-B23B7BB8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A031AD8-570D-42BF-886A-47909B84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Load a real credit-risk table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0D34208-F793-464A-9D91-9D9586BE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course package includes the UCI Default of Credit Card Clients data as a CSV.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58D3F5B-2472-45E4-8030-58F16191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EF0B66E-F1ED-424A-B855-17B8B378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E097E46-8AA3-4E20-8D7F-EE2E6F94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367151D-7D2D-4724-BF6A-4F3FE62F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211B65E-BFAE-4D05-90C4-2A2D1511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credit = pd.read_csv(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"data/credit/default_of_credit_card_clients.csv"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)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print(credit.shape)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print(credit["default payment next month"].value_counts())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A9001A8-41B9-4F86-A375-3F147C2B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C9EDD78-C107-447D-B2AC-5EFF7A42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255ACB7-9CEB-4A4B-B967-E6B214B7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CF91495-ABCC-4FCB-92C8-EE2765A1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(30000, 25)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0    23364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1     6636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AC6CBF8-8B72-4F97-9753-9EA5BCCC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F66715C-A86A-41F8-8C8B-6A519F39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9FE343F-3A3D-4454-A557-A7C80731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479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This table contains borrower characteristics and a next-month default outcome. The target definition belongs in the notebook before modelling.</a:t>
            </a:r>
          </a:p>
        </p:txBody>
      </p:sp>
    </p:spTree>
    <p:extLst>
      <p:ext uri="{BB962C8B-B14F-4D97-AF65-F5344CB8AC3E}">
        <p14:creationId xmlns:p14="http://schemas.microsoft.com/office/powerpoint/2010/main" val="70568695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61BA3FE-98D4-4D69-8239-00807D46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946B318-18BB-4DC8-B68A-149BC93D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F6657EB-727F-4764-A3A7-8FF94215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Download an open financial dataset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1FEA64E-95B2-4558-A6A0-20FCE4F6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same public CSV can be loaded directly in Colab.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002968C-154F-48CC-8F54-AF0FBDEE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DBB4C6E-FA86-444C-9507-9DE9C384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C6F71DD-35A9-4669-8978-F165D0AD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77A4F28-0115-446F-9AE9-4EBC5CBB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15F4356-6433-4134-AD9F-EB362D78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import pandas as pd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url = (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"https://raw.githubusercontent.com/plotly/"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"datasets/master/finance-charts-apple.csv"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prices = pd.read_csv(url, parse_dates=["Date"])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print(prices.shape)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815A2EF-77AF-454E-9BA3-EA373E66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D41C8F7-A7A7-4D3A-B0E9-EDFEBA48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B41E687-2720-46C8-B39A-FF0B09E7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DBF25C6-4959-4448-8262-92D41AB8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(506, 12)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23544B2-5DAB-42F0-9D53-12E3740A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93D8782-722C-4A56-A8AC-E1A3A69F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AB8AC91-F303-435D-84E1-124F271F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dataset contains daily Apple price, volume, and derived chart fields. The source URL stays in the notebook.</a:t>
            </a:r>
          </a:p>
        </p:txBody>
      </p:sp>
    </p:spTree>
    <p:extLst>
      <p:ext uri="{BB962C8B-B14F-4D97-AF65-F5344CB8AC3E}">
        <p14:creationId xmlns:p14="http://schemas.microsoft.com/office/powerpoint/2010/main" val="94896479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A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D2E81EB-710C-4276-A8CB-D1BE8262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F15021B-E7A7-4703-92FA-22C3F528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800100"/>
            <a:ext cx="3143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0" b="1" i="0">
                <a:solidFill>
                  <a:srgbClr val="102D49"/>
                </a:solidFill>
                <a:latin typeface="Aptos"/>
                <a:ea typeface="Aptos"/>
                <a:cs typeface="Aptos"/>
              </a:defRPr>
            </a:pPr>
            <a:r>
              <a:rPr sz="12750" b="1" i="0">
                <a:solidFill>
                  <a:srgbClr val="102D4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A0448CC-E49E-49F1-B04D-E9F903BC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28744B9-016B-48EC-8E64-312A00AA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PART 2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D88FC84-4B93-43F1-8B35-9C0E1794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Python core structures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814E230-FCC4-4CE1-8200-4BB09F07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BFD0D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BFD0DF"/>
                </a:solidFill>
                <a:latin typeface="Aptos"/>
                <a:ea typeface="Aptos"/>
                <a:cs typeface="Aptos"/>
              </a:rPr>
              <a:t>Variables, collections, and control flow are the building blocks of financial analysis.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D06D195-1319-4E9E-96CD-9A3AEA1E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91C18BF-0735-410C-B938-C78AF6F5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3ADB642-8FD7-445B-A0A1-9506B063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5333609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174DDF9-8764-44B3-9B3A-CCFDBEDC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35B6B32-E416-4837-8A1A-E5CDF2DE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PYTHON FOUNDATIONS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A701AEF-5403-4300-B9D1-AA961EA0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Assignment gives a value a name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DA40A6F-930F-459E-BF4D-C09C4018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 variable stores a value so the calculation can be read, checked, and reused.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633B8D5-7834-4197-8DA7-97D9D25D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5149C57-858A-4140-B5B9-4FCDAD84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DDE38DA-736B-40A3-B699-2A58584C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3987426-DF7F-4763-881C-BE7AEEEB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STATE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E169E5C-46EB-48AE-B5E2-BCB7EBF4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After balance = 10_000, the name balance refers to a numeric value that later expressions can use.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004CA66-A956-4D4E-9167-8A5FDC5F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99210D3-02F2-4DF7-A4D0-5BD3E746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MEANING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5919867-90B9-4A49-98C1-371051DA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 good name carries the financial meaning. balance, annual_rate, and months are easier to audit than x, y, and z.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39B2DAF-165E-43D8-864B-D856680E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44CBECD-5F08-42A8-922E-923A9911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Names are part of the explanation, not decoration around the code.</a:t>
            </a:r>
          </a:p>
        </p:txBody>
      </p:sp>
    </p:spTree>
    <p:extLst>
      <p:ext uri="{BB962C8B-B14F-4D97-AF65-F5344CB8AC3E}">
        <p14:creationId xmlns:p14="http://schemas.microsoft.com/office/powerpoint/2010/main" val="108263602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383F5C3-A8B6-4F57-8637-A4D2468D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AC045E3-E662-46F7-8A92-A74C1E7C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PYTHON FOUNDATIONS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17864AD-4EC8-4ED9-9E86-6B141746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number carries a unit and a convention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CCFF821-012C-4043-B0C3-4E6A5017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same numeric value can mean a percentage, a currency amount, or a count depending on the context.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EB44B62-2D93-43CC-890D-1486A062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71FA005-906B-4762-BDCC-B19945B5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C15A5EC-BACC-4985-A9F1-2D8A9B62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18978E5-7F0A-4B00-B4A3-3DBE88B5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STORED VALUE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477A674-2CFC-4FE5-9F30-EF960A3E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Store 7.25% as 0.0725 when the formula expects a decimal rate. Store €10,000 as 10000 when the unit is euros.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9CA42EA-1672-4446-B4BD-A8A7F9BB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F028D82-4A14-42EF-9FE7-DE1D645A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SAFE PRACTICE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EF81CE0-799C-4EA4-8D36-94B47000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Name the unit in the variable or nearby comment. Before calculating, ask whether the inputs share the same scale.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511B31E-4A96-40F1-8E98-DBCAD5E7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392A862-0AAE-4D31-9A09-5625DFDA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Many financial coding errors are unit errors, not Python errors.</a:t>
            </a:r>
          </a:p>
        </p:txBody>
      </p:sp>
    </p:spTree>
    <p:extLst>
      <p:ext uri="{BB962C8B-B14F-4D97-AF65-F5344CB8AC3E}">
        <p14:creationId xmlns:p14="http://schemas.microsoft.com/office/powerpoint/2010/main" val="119360359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D0F531E-8C79-4827-8C31-F2EC776A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C12086E-99CE-4D1C-A38F-44F00287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7EC882F-FEFA-4493-8A79-AFFA1072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Strings and dates carry structure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5BD47AA-F7FF-4FC4-BAA8-645BFD45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Financial data often arrive as text and must be converted before analysis.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0AFDB00-5498-4252-9488-430508D3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04C8090-3478-466C-9A97-6AFB2D1F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59B7B1C-394B-4B8D-A0EF-DD81A282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E928B0A-8D50-4489-965F-5C9F4DD4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267CCC9-DA33-48B5-B1AA-34243F44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date_text = "2026-01-15"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trade_date = pd.to_datetime(date_text)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print(trade_date.year)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print(trade_date.month)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print(trade_date.strftime("%B %Y"))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117DDB1-1345-489F-882F-76660DEA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904DEA7-BCEE-4025-A7B5-B3244485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958F7C5-6D9E-4CA1-8A4B-AD66CCEF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A243C3B-62C2-4035-B7DE-FB0F2029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2026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1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January 2026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F95930B-DA5C-48D4-91CE-9839C96C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95B93C4-3FEE-4797-9763-292D974B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A36820F-DA8F-4E91-9F22-30F8E7C3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 date stored as text cannot be grouped reliably until it is parsed into a date type.</a:t>
            </a:r>
          </a:p>
        </p:txBody>
      </p:sp>
    </p:spTree>
    <p:extLst>
      <p:ext uri="{BB962C8B-B14F-4D97-AF65-F5344CB8AC3E}">
        <p14:creationId xmlns:p14="http://schemas.microsoft.com/office/powerpoint/2010/main" val="21318581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DACF6D6-2F9D-4EFC-BFB9-C2E10333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5431B93-3E74-4BC3-AB8D-A187256A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1D8AB87-5DE6-4623-81DB-B0A9048E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Format outputs for a reader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B93E171-7B94-47E5-A514-52D963F8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stored decimal and the displayed percentage serve different purposes.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9FA48BE-71A8-4DE6-87C7-3B2F59B6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A270AC4-A794-4039-B3BE-11AFC386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89A18CF-057B-4DCF-B732-E259A798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90C2EB9-4B6F-4AAD-B5CD-9B925ABB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93C16D5-2D70-4182-BBFA-B235A951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annual_rate = 0.0725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loan_balance = 12_000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print(f"Rate: {annual_rate:.2%}")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print(f"Balance: €{loan_balance:,.0f}")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4350A6F-1A48-49CA-9EBC-867A12D1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379C39C-98BA-48B5-8EB9-ECCE8268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FBE3FA6-B771-4707-9C67-0332656E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4DF5DB1-0C81-4E10-8A38-C35BA586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Rate: 7.25%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Balance: €12,000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F671DF3-6C96-4C3F-83A4-14147991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84F8F45-976E-403E-88BF-AA13E5EF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2D0F177-F6FB-4C54-BA56-B7298E00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Keep numeric values in a calculation-friendly form and format them only when presenting results.</a:t>
            </a:r>
          </a:p>
        </p:txBody>
      </p:sp>
    </p:spTree>
    <p:extLst>
      <p:ext uri="{BB962C8B-B14F-4D97-AF65-F5344CB8AC3E}">
        <p14:creationId xmlns:p14="http://schemas.microsoft.com/office/powerpoint/2010/main" val="176469766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698B41F-B2FC-4649-B231-4F586FEC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8645195-9D0F-4470-B3B3-63DDEB5A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FEF8380-D8E4-4C12-B748-07170FC3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Operator order matters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5167C0F-9D25-42BD-9482-41C9EC07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Python follows the same arithmetic precedence used in ordinary mathematics.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6C5689B-79E0-4C03-9018-F8E27C95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78872D0-C899-4D0A-9942-550E12D1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6AC40BB-4013-4CC3-AB90-5978C654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1320197-D9AA-46DC-BC3D-539C2100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83BC414-5713-445C-9276-1AE42391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principal = 10_000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rate = 0.06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years = 2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wrong = principal * rate + years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right = principal * (1 + rate * years)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print(wrong)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print(right)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064CB78-A6C2-4661-8F13-CF5ABD38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F15DEEA-5E5B-4125-994A-6632A620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8DFB082-8B4A-4CAF-BC51-7DC83F87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BBA3B46-32F1-424E-AADB-FA601D25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602.0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11200.0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E0ECF04-48F0-4374-9843-5AE4E169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8EC6DB4-0F67-459A-9742-5F1A25ED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4FBBEA2-6B47-444A-A834-E219AE51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Parentheses make the intended financial formula visible. Never rely on a reader guessing the convention.</a:t>
            </a:r>
          </a:p>
        </p:txBody>
      </p:sp>
    </p:spTree>
    <p:extLst>
      <p:ext uri="{BB962C8B-B14F-4D97-AF65-F5344CB8AC3E}">
        <p14:creationId xmlns:p14="http://schemas.microsoft.com/office/powerpoint/2010/main" val="4796897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C0363B9F-9411-42FB-B5EA-C010E55D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DBBF6F6-A01E-4036-8BAB-9C2C0ADF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PYTHON FOUNDATIONS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B54FC21-6B37-4CFF-BD1E-1519EDEC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Core types and their financial meaning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29BCC26-B6B4-472F-98DD-2E42E957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type determines which operations make sense.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FB87C87-811C-4180-8572-86BCE0EA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48499D2-3444-4636-8DA9-DCDE26B1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3FF049E-0394-4927-832C-09CC6A40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0B33825-8F62-4F2A-9AEA-152F24EF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Type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EA0DA16-035F-44DC-81D5-9C93EBDF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324100"/>
            <a:ext cx="2952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5F8688E-1EF6-4C61-811D-F08B5788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0"/>
            <a:ext cx="268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3DEA0B6-085D-48BD-A668-64227F32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24100"/>
            <a:ext cx="6515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B360F7B-E117-476D-BF67-B45CAE03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76500"/>
            <a:ext cx="624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Typical use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9F1CA94-3552-4D61-BF36-65CF36EB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00B1B5C-57A7-43BE-AA97-9F1A9A0A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int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2E06367-7D0C-4FD1-A928-F116A7B7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003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C342E1B-91B8-48B1-8449-20EEE3EF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962275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D572EBA-D47D-410B-8A98-D5183CE8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00350"/>
            <a:ext cx="6515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077D49C-3DAF-439A-8D5E-9C0E22B1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62275"/>
            <a:ext cx="624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Number of months or observations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431965E-CE57-4001-B640-EFA33E6F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A775746-44FD-4C93-AF67-8BE1A7E5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float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DCFE9B0-7E4A-4317-BC3C-2B96275D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147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BB5B59E6-41C2-4789-B154-F8FF83C3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76625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0.0725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EAE4D6A-4BF4-443A-BE4F-B25A64E6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14700"/>
            <a:ext cx="6515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FD21FF5-BCBA-43DC-814C-30FC7650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76625"/>
            <a:ext cx="624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Rate, return, or balance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1CA17001-654C-4495-B540-AA6C9449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5AE0767C-BD88-42CC-A17B-B5168316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str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72B75E37-321E-49F3-ADCA-8A32DBE5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290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A8B851B-BCBA-40E0-B60E-93182055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90975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"Prime"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34B98ECA-E67F-47DF-AE62-5E0B6DF5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29050"/>
            <a:ext cx="6515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86D1D960-CD00-4D01-829D-EDA9D190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90975"/>
            <a:ext cx="624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Segment, date label, or identifier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1CD1C1B1-53B0-4D6B-BD37-60473B2B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F0446975-7D84-40DC-8B7D-160B4FDB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bool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63C4C000-44AB-403D-92C9-C49B71D2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3434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C090CA37-BCEA-449F-9481-F069F069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05325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True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9617D160-FD99-4118-B5DD-8F678ED4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343400"/>
            <a:ext cx="6515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D81D25D9-7E7D-4665-AFA1-2AF1EADB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505325"/>
            <a:ext cx="624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Flag or condition</a:t>
            </a:r>
          </a:p>
        </p:txBody>
      </p:sp>
    </p:spTree>
    <p:extLst>
      <p:ext uri="{BB962C8B-B14F-4D97-AF65-F5344CB8AC3E}">
        <p14:creationId xmlns:p14="http://schemas.microsoft.com/office/powerpoint/2010/main" val="88923871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45BCB31-AB76-4040-9628-9A1871D8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7E9E853-D6E4-4911-B5AE-03A7D026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AF6864F-A1E9-4EE1-ADB7-386E061A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Financial arithmetic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B0E582B-E7CD-4029-864B-A47F0809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 transparent calculation is easier to audit than a hidden shortcut.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A1CC212-0ECE-4FAA-B785-34C14E48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64174FA-EF9E-488A-AA31-3D482F2C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281F60C-6CBB-4EDB-AA2E-DE47F992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3386621-AECE-4E36-8F5F-5A6857EC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3E0BD55-58DC-4876-9DFC-95AD786F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principal = 10_000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annual_rate = 0.06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years = 2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interest = principal * annual_rate * years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future_value = principal + interest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print(future_value)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579B4AC-0D82-406B-935E-4AC637E6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343166E-30DA-4959-BED4-9606F943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DF84E4C-612F-4988-984F-67EB37A9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1DF8D59-9044-40B5-89E0-07C67BDE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11200.0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25A3DA6-0369-483F-A53E-942A926E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A4DA654-33E1-446F-ACCF-5E065C31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610DEB3-0441-4947-AA30-3C4BAABA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calculation is simple, but the same convention must remain clear in a larger model.</a:t>
            </a:r>
          </a:p>
        </p:txBody>
      </p:sp>
    </p:spTree>
    <p:extLst>
      <p:ext uri="{BB962C8B-B14F-4D97-AF65-F5344CB8AC3E}">
        <p14:creationId xmlns:p14="http://schemas.microsoft.com/office/powerpoint/2010/main" val="10633456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1EDE43B-01A9-4237-AD55-B0FCE72B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B765787-A3C8-4B15-812D-38BB25CF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FINANCIAL CONVENTIONS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5D50237-5C20-465D-9331-E0A05D0A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percentage is a number with a convention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71A4729-96E2-49A7-B288-1B83434B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stored value and the displayed value are not always the same.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316BF30-1D7E-43B3-A117-AFFB299B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5441976-E9AC-48CC-AFDC-8D921F8D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2740A1C-F038-4BC2-B27F-72BA52A8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649604A-C581-477B-A867-CC737D59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DECIMAL RATE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B82820D-9DAA-4DE6-BB01-F5048F49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0.0725 means 7.25% when the code expects a decimal.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81A7697-B7AB-4F4C-8EC5-65F2AE1D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2469DFA-F573-43FE-9836-26FF4FC2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COMMON ERROR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E7F6C42-B7D6-43D5-842A-E90A2564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Using 7.25 where the formula expects 0.0725 changes the scale of the result by one hundred.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54A2713-2E86-43AA-9501-AC8101E5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5FA8EC1-FFC4-4058-8783-0868F62C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State the unit beside the number whenever the convention matters.</a:t>
            </a:r>
          </a:p>
        </p:txBody>
      </p:sp>
    </p:spTree>
    <p:extLst>
      <p:ext uri="{BB962C8B-B14F-4D97-AF65-F5344CB8AC3E}">
        <p14:creationId xmlns:p14="http://schemas.microsoft.com/office/powerpoint/2010/main" val="26686501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6DA146B6-4FBE-40CC-932D-A24A3F31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294A01F-FFFB-4D30-9DD5-551D3B9C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COLLECTIONS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DA517BA-F18B-48DE-B0A4-CB901FB1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Choose the structure that matches the meaning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2F94E7B-624F-41AC-95B2-31656454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Order, mutability, and labels determine the right choice.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5077E8B-DCF7-4850-9E1C-A6C19582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3CDFC2A-B340-47CD-99B9-10B1A15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37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01595AB-C214-4FCD-B36B-26316DC4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98A169C-9401-47B6-AF7D-2455410A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54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Structure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D3C2896-8F94-4FDD-9705-FA6AE61E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324100"/>
            <a:ext cx="342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680BE82-96E4-4FCE-9B7E-B1932138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3162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4D8C187-AD08-4421-A85E-EEF835FB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24100"/>
            <a:ext cx="5848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8B1AC78-BAEB-4796-9BA6-CBA39C79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76500"/>
            <a:ext cx="558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Use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EF1E2B7-80D6-4B92-90CD-3D0A104A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94A8527-4ABF-420F-849C-D6385945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List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7487032-2592-4144-908B-FF030B26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8003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644FEAC-818A-4C59-9304-EE1418CB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62275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[0.012, -0.006, 0.009]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F073B93-C0B3-4371-8495-5104D4D2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00350"/>
            <a:ext cx="584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41599B2-E472-41FE-8F88-FCE7842A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62275"/>
            <a:ext cx="558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Ordered values that may change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14DA015-2D3D-4453-957C-7F4C8BD8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7BB39CB9-C0CB-4B9F-9160-EE5C1FB3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Tuple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E696196E-63C3-4A66-85D1-DFE42D36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3147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9FFC3D1-5BFB-49E4-AEA5-46313A1E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76625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(date, return, flag)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D004499C-F6B5-4474-9D07-21D2F83D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14700"/>
            <a:ext cx="584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152F8F1A-7F11-4407-9EB1-1AC6858E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76625"/>
            <a:ext cx="558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Fixed-position record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AF5861A8-66E8-48D3-9E04-311F1804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EAB0331-1A08-45EB-9714-6CB7CE44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Dictionary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E3DBE112-C339-41B6-8F1F-0894AA81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290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321D412-166F-4F3E-B161-EB9E248F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990975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{"balance": 12000}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A5C9BB03-E576-4899-B5CB-BD1F162B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29050"/>
            <a:ext cx="584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26491557-639C-4A7D-A706-9E9E17D6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990975"/>
            <a:ext cx="558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Named fields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73EC96DC-14C6-4D57-87D5-8533E662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5C0C99F9-FD2F-41C6-A8FF-8069C513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Set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A4C34D94-FAA9-4ACE-9D75-2858637E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3434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EF31D17E-6BEC-48FD-BC36-01ECEAE3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505325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{"Prime", "Retail"}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64073F09-8230-423F-95C7-D0E4DE39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343400"/>
            <a:ext cx="584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C6E8322F-6258-4642-9E63-27F991E6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05325"/>
            <a:ext cx="558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Unique values</a:t>
            </a:r>
          </a:p>
        </p:txBody>
      </p:sp>
    </p:spTree>
    <p:extLst>
      <p:ext uri="{BB962C8B-B14F-4D97-AF65-F5344CB8AC3E}">
        <p14:creationId xmlns:p14="http://schemas.microsoft.com/office/powerpoint/2010/main" val="148467241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611C91A-3F66-4BD2-B0F7-613C85C9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878D6-78C1-4E86-8022-A7B0B5A9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COLLECTIONS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29436E9-7B27-4FB3-9C3C-B2646A3E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Lists and tuples preserve position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81334A3-7F0B-4174-88A8-2532AE29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Both structures are ordered, but they communicate different intentions.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02FD661-1BCB-4D70-91F6-5AEE93DE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163C860-9469-40E4-9DA7-96E65BB3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38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7AADFDE-798C-40AD-BAC0-A35B9100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9201361-F60E-439E-B74A-FC3E02DE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LIST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CA1C9B0-D0FD-4ACA-B690-695DCC53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Use a list for a sequence that may change, such as monthly returns collected during a loop.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0F52765-62BB-4F86-9E61-A5C7ECCC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0CF13BD-2F41-48AA-B889-5E788504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TUPLE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EDD5540-3414-4F7D-86FD-1AACDF28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Use a tuple for a fixed record, such as (date, return, default_flag) where the positions have a stable meaning.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1F29BF3-42FB-4C61-AE8C-08C80E5F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4E3256B-78AF-4F4E-9895-4F2020E1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Choose the structure that tells the reader whether change is expected.</a:t>
            </a:r>
          </a:p>
        </p:txBody>
      </p:sp>
    </p:spTree>
    <p:extLst>
      <p:ext uri="{BB962C8B-B14F-4D97-AF65-F5344CB8AC3E}">
        <p14:creationId xmlns:p14="http://schemas.microsoft.com/office/powerpoint/2010/main" val="108769361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039EE8D-C659-4698-B0EE-EF205660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282ABC1-840E-41A5-9EF2-C888B2D9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COLLECTIONS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73C2D23-FA62-49B2-8867-03DC28E2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Dictionaries and sets solve different problems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E3EF2E9-49E9-4D43-943F-9FD348B1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Labels and uniqueness are more important than position in these structures.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91B1836-CD7E-4A0B-9B3C-52BB6E5B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354E99D-03C4-499D-891D-AF6E26F2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39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3D9E7BC-89A7-48F9-A6EB-D04D4BAC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FC0939E-F498-44E0-92AD-BA1F1C79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DICTIONARY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B55D3D3-0000-44E8-9BB6-67E3B062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Use named keys when values have different meanings or units, such as balance, term_months, and segment.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9692321-DD3D-4491-B554-45B59D5E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CB6D51F-479D-4C9B-8036-22821D12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SET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B85CD77-F8EF-449B-8EB2-F91F18A0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Use a set when only unique membership matters, such as the distinct borrower segments present in a table.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549CF20-F952-47C4-885F-4F48014B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716F59B-86E6-431F-A186-AC095AD0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set removes duplicates. A dictionary preserves explicit labels.</a:t>
            </a:r>
          </a:p>
        </p:txBody>
      </p:sp>
    </p:spTree>
    <p:extLst>
      <p:ext uri="{BB962C8B-B14F-4D97-AF65-F5344CB8AC3E}">
        <p14:creationId xmlns:p14="http://schemas.microsoft.com/office/powerpoint/2010/main" val="168500684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99CBC46-FBB9-4807-B85B-F7D50FC8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1494D5D-8A0C-4730-A825-9F178ECF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COLLECTIONS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FB48D1C-3800-41A3-8FE7-E082B473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Copying prevents accidental changes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70CB425-D292-440A-82A7-022E0CF5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Two names can refer to the same mutable list unless a copy is requested.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C56E72C-0936-4E43-BCF9-48DBD1ED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F68F327-AC4C-427C-BEC9-156D81D0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4F75039-7D2D-4011-863C-00135ADE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EF10869-B845-4131-A19C-B32FE813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SHARED OBJECT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C614D14-E85A-4389-99A2-9A866EB8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If b = a and a changes, b sees the change because both names refer to the same list.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FFB806D-C44C-4CF0-A5EA-91CDF15C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E16F846-2FD4-49E6-9441-7FEF0584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INDEPENDENT OBJECT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2520ED9-D191-4E5A-8172-D16BC114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Use b = a.copy() when the new sequence should change independently from the original.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17E6410-8689-45B3-8BA4-C68FED64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E83CB33-CAF0-4256-B97B-86176D11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distinction matters when transforming feature lists or return histories.</a:t>
            </a:r>
          </a:p>
        </p:txBody>
      </p:sp>
    </p:spTree>
    <p:extLst>
      <p:ext uri="{BB962C8B-B14F-4D97-AF65-F5344CB8AC3E}">
        <p14:creationId xmlns:p14="http://schemas.microsoft.com/office/powerpoint/2010/main" val="2854868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DF8CC74-D00C-488F-89C1-40423E1D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16F1E18-F47B-4208-8E76-DD60856E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157F9E1-DBE3-4090-A843-9A604C90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Indexing and slicing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DFD7F35-A92B-4FDE-A986-220644E2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Select one observation or a contiguous window.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A6CF4FE-102E-46A7-80A1-0318DABD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03C9715-28BB-4F62-BD15-60E9D1F8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41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D6529C1-76BA-4A88-ADA4-7F35048A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5448B7A-9FA9-431B-87FC-7F6B7945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6CB0D75-3290-4B27-8313-6BC76FF3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returns = [0.012, -0.006, 0.009, 0.004]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print(returns[0])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print(returns[-1])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print(returns[1:3])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B172EDF-2D9A-41BB-B671-F5170B28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CEFCE85-2550-4B46-A876-A1D7682E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4A244C1-9B8C-4D7B-B4D7-79236080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414C0E2-97A9-4F49-9058-4C3C0ECC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0.012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0.004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[-0.006, 0.009]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CA81ADD-3E68-4AC2-9D21-1C5777C0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1335A6A-2395-43B2-98FC-C9751C29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62B2EBF-69C9-4FCE-8DCC-BA9088FD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Indexing starts at zero. Slicing creates a new view of the sequence.</a:t>
            </a:r>
          </a:p>
        </p:txBody>
      </p:sp>
    </p:spTree>
    <p:extLst>
      <p:ext uri="{BB962C8B-B14F-4D97-AF65-F5344CB8AC3E}">
        <p14:creationId xmlns:p14="http://schemas.microsoft.com/office/powerpoint/2010/main" val="183057102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59E2077-1A79-4354-875C-F5E0AEE5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C10BAF2-F814-4C7D-808F-D24EE0AE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537B0AF-51EA-4C45-B1AB-373D286D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labelled financial record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768E66B-C11B-4A7C-AEEF-AF41ACB6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 dictionary makes the role of each value explicit.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2836729-C236-45B5-925A-2A2F85CF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B265DC6-1BBC-4F6C-A761-A92FC7BA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FD0A1DC-FE83-4498-89F4-93DE2651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B007921-E9FF-4E23-ACB1-2965378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B0FCBC3-7246-43A6-BBBC-FFFAC317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loan = {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"balance": 12_000,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"term_months": 36,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"segment": "Prime"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print(loan["balance"])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print(loan["segment"])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D85E034-E586-4F08-B079-065DAFA7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CE947E7-FDBD-4EB9-BD23-764EC802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306AF6C-F1F2-4E76-B63A-5F2CCFE8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38EB706-00AF-4E12-A598-FDBD286A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12000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Prime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E4D0391-777A-4041-993B-73CA4160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E171097-E282-4A26-969D-CF1B5C46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915E058-80B2-40BC-AAB2-665B511E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Labels reduce ambiguity when a record contains values with different units.</a:t>
            </a:r>
          </a:p>
        </p:txBody>
      </p:sp>
    </p:spTree>
    <p:extLst>
      <p:ext uri="{BB962C8B-B14F-4D97-AF65-F5344CB8AC3E}">
        <p14:creationId xmlns:p14="http://schemas.microsoft.com/office/powerpoint/2010/main" val="13917588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EAEC74C8-E98B-49FE-9213-B295A65C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7D14D89-26EB-4141-9A39-6C46DE49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CONTROL FLOW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69501A3-58D7-4454-B117-0E618F61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rule becomes code through a condition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A29EED9-48CF-4A9F-A5F3-52F8E22C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structure mirrors a decision rule used in finance.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5152ED6-A7C5-4C76-83E2-14DB481C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FE325E9-FE01-4EA8-8383-5CAE797C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43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A78D9B2-BC57-499A-869D-28BD9005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6BA9A01-9DB8-4410-ACD3-C2130E7C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526560DC-5964-4074-89BC-2FD98DF5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54C735C-85ED-401E-ABA0-308D3B0A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1CB37E8-0393-4678-809F-5E781ED0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7DE2A4CD-3601-4A80-9FA1-87346BB3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C4CBD4F-4BF3-48DE-9873-3F34C743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Read the value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8DE324F-BE19-4D09-9635-32BDFE8C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34B1C8A-FF99-4771-9C4B-1AF6BBAC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read a probability of default such as 0.08.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60C8B95-FCA8-4482-B272-7DDE12F5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D18CF4D-885A-4C9B-A655-2198C19F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0D89934B-0EF6-4C52-8EE5-B200AE0E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D15DC75-1CCB-4A0B-AF84-0352C360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5AC9F3F0-7730-4B8D-A181-CF6AE267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Condition</a:t>
            </a:r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B48CB84E-04D8-4772-A465-141ECF93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0AC52D2-B204-48BE-A53A-B2303C5F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Evaluate the rule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407B8E65-362B-4EDA-9F61-33567B3A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9B8C868-D0DE-49CD-82B3-E198BF23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test whether the probability is below 0.02 or 0.08.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548FA612-1D62-4E2E-9244-E77C58B5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F46E8F2E-DFDD-4D71-87BE-0E842D29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094DAB1F-C20C-4A47-86D6-C501096F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5FD2AE1B-F7F6-4856-9D3F-7B14866B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A8D32D36-7F2C-4721-B46E-AA299FC8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Branch</a:t>
            </a:r>
          </a:p>
        </p:txBody>
      </p:sp>
      <p:sp>
        <p:nvSpPr>
          <p:cNvPr id="30" name="Straight Connector 29">
            <a:extLst xmlns:a="http://schemas.openxmlformats.org/drawingml/2006/main">
              <a:ext uri="{FF2B5EF4-FFF2-40B4-BE49-F238E27FC236}">
                <a16:creationId xmlns:a16="http://schemas.microsoft.com/office/drawing/2014/main" id="{5C881139-D1F4-444F-8430-BF4A089D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D1F77220-5E19-4265-8833-9729D527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Choose the path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5A38BC1E-C36C-43F6-A096-6EAC37A0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E6362354-974A-4DFE-8B4E-08BC02D7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assign low, medium, or high risk according to the rule.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804FFECD-5D43-415C-AA1D-2F386655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80D39291-74FF-4D27-9E95-2329545E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8F5290E4-9364-479C-BEDD-1BEAB541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A62D9BBE-2BB2-4179-AB4C-E66C213A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32AD8957-F9B6-4E55-928B-63BF16F1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39" name="Straight Connector 38">
            <a:extLst xmlns:a="http://schemas.openxmlformats.org/drawingml/2006/main">
              <a:ext uri="{FF2B5EF4-FFF2-40B4-BE49-F238E27FC236}">
                <a16:creationId xmlns:a16="http://schemas.microsoft.com/office/drawing/2014/main" id="{FD488312-AA40-4A6C-BCEE-BA59C9A1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8EDE0CB8-2E96-4E10-A1EF-04054C69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Store the label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D4671682-581E-495E-BAC1-0100A2EC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526239C3-0D30-4506-9FD8-8F286136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store the label and print it for inspection.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D8275530-75D4-4A56-A754-754DDBD0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11087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9AA76E1B-CC07-4DBE-93D8-49BCBF83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070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Write the rule in plain language before translating it into Python.</a:t>
            </a:r>
          </a:p>
        </p:txBody>
      </p:sp>
    </p:spTree>
    <p:extLst>
      <p:ext uri="{BB962C8B-B14F-4D97-AF65-F5344CB8AC3E}">
        <p14:creationId xmlns:p14="http://schemas.microsoft.com/office/powerpoint/2010/main" val="158676466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2848446-B6B2-4093-AF04-31786805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CBB6238-F382-4891-8FA6-54BF4D50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CONTROL FLOW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E212C04-61D7-4225-B125-8E37F308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Indentation defines the branch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3D687FC-A80F-4579-807C-3C7CFD6A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Python uses indentation to show which statements belong to a condition.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C7F9D3F-C8E6-4052-B877-0966DAA3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2AF90D0-F22B-42DF-9D3F-2F36A159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44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F9F2B66-B831-428B-9B92-E0B15907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9EBA94A-059D-4A3B-B172-00638C2E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READABLE RULE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B22898D-A7CD-4061-ABD6-022071CA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indented block runs only when its condition is true. elif tests the next condition only when earlier tests failed.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000BF19-791A-4C3D-83D5-EEC85E76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EC63A29-3FB6-4F5F-9C2B-AB5450C1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COMMON FAILURE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CADAFC0-F011-4576-B18C-46014F0D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Inconsistent indentation or overlapping thresholds can assign the wrong risk band without producing an obvious error.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734B94C-1160-474C-AF41-14E83011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99D12F4-12B5-4C99-B14D-59472E94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Check boundary values explicitly: below, exactly at, and above each threshold.</a:t>
            </a:r>
          </a:p>
        </p:txBody>
      </p:sp>
    </p:spTree>
    <p:extLst>
      <p:ext uri="{BB962C8B-B14F-4D97-AF65-F5344CB8AC3E}">
        <p14:creationId xmlns:p14="http://schemas.microsoft.com/office/powerpoint/2010/main" val="71970943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48109A6-FDA3-4AEB-88AE-FCD2417F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D1CFFCC-FD34-4E50-88A2-8D319455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0F1E0AC-6D51-4CF4-BB1D-790D29DC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Combine conditions carefully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37E0119-E63F-4076-8997-495FF35C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Boolean operators make a rule more precise, but the logic must match the financial policy.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88B0BD2-8459-4CF6-B369-08C6DF2B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B15A482-4017-4C3C-AAB9-C448B4E5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45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DB1E77D-BD6D-46CB-BF54-83B0CCC6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9D9E0AF-01D8-4728-8C7C-8F7AB9D7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2E5411D-1A59-4689-9072-76F74677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income = 42_000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existing_debt = 8_000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eligible = (income &gt;= 30_000) and (existing_debt &lt; 10_000)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review = (income &lt; 30_000) or (existing_debt &gt;= 10_000)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print(eligible)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print(review)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A3F6E7B-11CA-4E0B-B6A0-2CB79463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526AC9A-C0EB-432C-8264-107A134E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5228D96-F8CD-4B08-82C7-712E7865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448436B-1F45-45D7-B52D-ADBE4DE8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True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False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03A033B-F4B3-4CDF-A7E9-8D1691A0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E268A82-B001-4343-A9D4-CADD844D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2DD6FB9-955B-4640-8A0F-1F243B00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Parentheses expose the two tests. A rule should be checked at its boundary cases before it is used on a dataset.</a:t>
            </a:r>
          </a:p>
        </p:txBody>
      </p:sp>
    </p:spTree>
    <p:extLst>
      <p:ext uri="{BB962C8B-B14F-4D97-AF65-F5344CB8AC3E}">
        <p14:creationId xmlns:p14="http://schemas.microsoft.com/office/powerpoint/2010/main" val="127563556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6E8E2B8-3E2A-40B5-82CA-3A55882A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F661BD9-DB3F-47D6-86C3-D4ADEE5F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6FC5567-9C04-4D0F-9278-BDFB07A5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Classify a risk band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17B1FCB-F259-4873-BDFC-2556169F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order of conditions matters.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7EB9A8A-E59F-4F7C-BC2C-0BC486F8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69DC263-EAC7-473B-9C1E-61AF69B5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46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048B557-5723-49F1-B7F3-2A3820D1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CF5E052-F730-401C-8A74-898282A6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BB1130E-A330-4398-976F-FD75918B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pd = 0.08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if pd &lt; 0.02: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band = "low"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elif pd &lt; 0.08: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band = "medium"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else: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band = "high"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print(band)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003CB57-2D96-402C-BC21-DDD4FD15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CFD70F8-F81C-4F9F-9269-216F89A2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1A2D56F-310B-4A13-A575-0C6A4F5D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E35BE61-1697-46CC-A076-74C66705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high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8A1E23A-434B-4B72-BD5F-B6FE0C89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CEE8AE9-26CD-475B-81DE-15C45A1E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957C7E7-CD75-4594-A530-072FF0A0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boundary at 0.08 belongs to the final branch because the second condition is strict.</a:t>
            </a:r>
          </a:p>
        </p:txBody>
      </p:sp>
    </p:spTree>
    <p:extLst>
      <p:ext uri="{BB962C8B-B14F-4D97-AF65-F5344CB8AC3E}">
        <p14:creationId xmlns:p14="http://schemas.microsoft.com/office/powerpoint/2010/main" val="96393183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838D8B8-0A87-488F-AE95-F1846142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9CA2E5F-6103-48B8-8284-88CB0023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4A22851-8A23-4A24-8A4B-292D5E52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Loop through returns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77419EB-FEAE-4D3D-ADCE-184F162F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enumerate() keeps the position and value together.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65D0502-599A-4E33-9BCF-5F60E095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12AD5A4-F93C-4FD7-BFC9-49FA5423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47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E5A8B69-D663-4559-BC2F-1C6922AE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40D1DFD-E70C-488D-8405-D80122E2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D73B723-6A8A-4078-B489-7C500763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returns = [0.012, -0.006, 0.009]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for month, value in enumerate(returns, start=1):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print(month, value)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7C69BEA-B12A-49FD-9783-DE611F37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CA4285B-95DA-4A64-ADFE-42BBCCA1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C6A10C6-83BB-41FF-88AC-50F865A8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4402A77-19CC-4A13-AB95-C92A57C3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1 0.012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2 -0.006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3 0.009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1732160-E0CB-47A6-921A-5C608DD7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9E92507-BA41-4539-9918-7DACC194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1CC97A8-D0DC-45FD-AD2F-2A8B3DAE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 loop makes the repeated operation explicit without copying code.</a:t>
            </a:r>
          </a:p>
        </p:txBody>
      </p:sp>
    </p:spTree>
    <p:extLst>
      <p:ext uri="{BB962C8B-B14F-4D97-AF65-F5344CB8AC3E}">
        <p14:creationId xmlns:p14="http://schemas.microsoft.com/office/powerpoint/2010/main" val="30805140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472A531-003E-4EBD-ADB2-D6F8DADD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FEE05DC-39F6-4C62-94C6-DA8DEBE3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A5B4439-601D-42CD-AB5A-2738DB91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Pair two financial sequences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51C6516-C14E-46F2-A5CF-CCD44108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zip() makes a position-by-position comparison readable.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DA537BA-14F8-4DF6-B5DC-C472E23F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955305F-CC37-4B94-AA3C-3620C75C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5168A2A-4F71-40F6-99BC-C5BDD899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46A0FB7-FFD0-4134-8110-633FDA1C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67B395C-A638-463E-AF86-609593D3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actual = [0.02, -0.01, 0.03]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forecast = [0.01, -0.02, 0.02]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for observed, predicted in zip(actual, forecast):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error = observed - predicted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print(round(error, 3))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DD635E7-18F7-40A6-A053-3D8587D8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F782E4E-E018-4CE8-8EB3-66A8ABB8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A36E51E-0000-432F-A959-0A536E5E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BBB9A4B-C0FD-4B81-807B-FB3DDDDE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0.01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0.01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0.01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444EB62-93F3-41AD-A48A-01A6261D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BC1BC25-B825-4C60-AAD3-5C4C9B27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7C9758F-CC98-4109-AD3A-01982B32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loop compares aligned observations. In a DataFrame, the same alignment must be checked through the index or date.</a:t>
            </a:r>
          </a:p>
        </p:txBody>
      </p:sp>
    </p:spTree>
    <p:extLst>
      <p:ext uri="{BB962C8B-B14F-4D97-AF65-F5344CB8AC3E}">
        <p14:creationId xmlns:p14="http://schemas.microsoft.com/office/powerpoint/2010/main" val="1241768385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DDB8CAE-5C81-4AD5-B959-56417230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1959C4F-C1E9-45B7-83ED-ACB457C9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A14A502-B3F4-40F5-B5D9-4812321D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Use a guard in a while loop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5DDEB77-1C49-43EC-9670-50C2D2B3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 while loop needs a condition that can eventually stop.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81FE901-E703-4C36-8FE2-497FE380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EDD69EE-40A9-4161-A3B3-63CA5928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49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37B6850-0529-4938-A151-78398992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02EF0BF-E7E0-4407-ADEA-D6E995DB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644219B-E775-4B8B-A995-0BBEB827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balance = 1000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months = 0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while balance &gt; 0 and months &lt; 3: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balance -= 250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months += 1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print(balance, months)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9D84B51-9378-45B1-ACD5-EAFC5CF3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6F935D9-E30F-40DF-B164-BBED46CE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64DE6F4-A423-43E2-9802-E3875B3F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EC2BFB4-6403-463A-95EE-8501855A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250 3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AEBECC0-BDC4-42BC-AA13-6985E69B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C481FD7-270C-4942-BB03-53D79AB7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14D629A-31A1-4A1D-9C98-DC10D5A1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second condition protects the calculation from running indefinitely.</a:t>
            </a:r>
          </a:p>
        </p:txBody>
      </p:sp>
    </p:spTree>
    <p:extLst>
      <p:ext uri="{BB962C8B-B14F-4D97-AF65-F5344CB8AC3E}">
        <p14:creationId xmlns:p14="http://schemas.microsoft.com/office/powerpoint/2010/main" val="1007765960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AD66E4C-8A0A-4E48-8FF0-A002170B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5055478-8A01-401C-8E7B-7EB7F8BA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CONTROL FLOW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3F9C275-4595-4462-9087-0F1EC302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Debug repeated logic by checking one iteration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FC26534-BC06-4EE6-8744-53CA4C5C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When a loop produces an unexpected result, inspect the input, the intermediate value, and the updated state.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397B9F8-01DB-4B20-B6C0-7B7D696F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D15809F-363B-46A1-B0A2-273DB4F5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6DDECD8-6BC6-41FD-9B41-1480E922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9CFE91F-747E-4438-9AE1-7FA9904C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TRACE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F7222A6-88BD-451C-A937-85577925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Print the index and the value for a small sample before running the loop over the full dataset.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BA4EB54-D3AC-4282-80BB-73AE4070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6502C61-33EF-4717-9B74-0D891E4C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PROTECT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61379A4-4875-4124-8F8A-546E656D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Add a stopping condition, assert the expected type, and test an empty or boundary case.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DE63B77-1884-450C-8CAF-8950CB76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543552F-9301-4DF7-9843-A1F2C68A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small controlled example is often faster to understand than a large output table.</a:t>
            </a:r>
          </a:p>
        </p:txBody>
      </p:sp>
    </p:spTree>
    <p:extLst>
      <p:ext uri="{BB962C8B-B14F-4D97-AF65-F5344CB8AC3E}">
        <p14:creationId xmlns:p14="http://schemas.microsoft.com/office/powerpoint/2010/main" val="286533581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71A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4696C39-1980-4400-BAA1-EB64C7AA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D76E44B-C246-48F1-BFAD-3944647B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800100"/>
            <a:ext cx="3143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0" b="1" i="0">
                <a:solidFill>
                  <a:srgbClr val="102D49"/>
                </a:solidFill>
                <a:latin typeface="Aptos"/>
                <a:ea typeface="Aptos"/>
                <a:cs typeface="Aptos"/>
              </a:defRPr>
            </a:pPr>
            <a:r>
              <a:rPr sz="12750" b="1" i="0">
                <a:solidFill>
                  <a:srgbClr val="102D4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F5482DB-A67C-440E-8292-F0731630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3204E78-2A78-42BD-9F1C-DCFCBF1F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PART 3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AE15860-038C-4163-A639-6DF39AEA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Functions, files, and packages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3E0AE73-2B21-4A3B-9093-BB7E987D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BFD0D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BFD0DF"/>
                </a:solidFill>
                <a:latin typeface="Aptos"/>
                <a:ea typeface="Aptos"/>
                <a:cs typeface="Aptos"/>
              </a:rPr>
              <a:t>Reusable code turns a one-off calculation into a dependable analytical component.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6D574F6-5946-436C-B772-93D8ED01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664776A-E8FF-45F5-BE1A-005E66CD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DD7BB4-237E-4F6C-952F-C6EFB92B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21467480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AA3118E-8FDF-4717-BBF2-A0179EEB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5A2E5E2-255F-47A1-8F9C-395EB4C2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FUNCTIONS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65C632E-AB99-436D-A2CA-4192EBA9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Functions reduce repeated financial logic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BC50ECD-06DE-49D7-874A-D82FA378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 function lets one checked calculation serve many observations or scenarios.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7B191A9-4D08-4575-9803-A65E480B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77AC55C-28D0-486F-AFF7-0D11959E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52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4BBD544-49CF-4DA5-ADE7-B0A72826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73CBD92-577A-40A9-9AF9-EF699CAA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WITHOUT A FUNCTION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43D7932-20EF-4231-B1C4-913A9781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same formula is copied into several cells. One correction may be applied in one place and missed in another.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0DD6E08-5017-4E20-A393-29752FAF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141257B-6E82-4063-AF09-0CF0C3DE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WITH A FUNCTION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1C1295F-2ED1-4A8F-863B-CED4CECD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formula has one definition, named inputs, and a return value that can be tested before it enters a larger model.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2966A5D-A326-4EB7-ACBC-53D6771D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2C32EF8-D3D3-434D-BB1B-2B928899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Reuse is valuable only when the function’s assumptions are documented.</a:t>
            </a:r>
          </a:p>
        </p:txBody>
      </p:sp>
    </p:spTree>
    <p:extLst>
      <p:ext uri="{BB962C8B-B14F-4D97-AF65-F5344CB8AC3E}">
        <p14:creationId xmlns:p14="http://schemas.microsoft.com/office/powerpoint/2010/main" val="933994063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3747F64-C663-4D87-B127-29D0440D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C2D579B-D36E-41D6-A0B1-B5908445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F5A7657-23E4-43C7-BB5B-D7F2C862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Validate an input before calculating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A13B74E-2C63-45F7-8BDD-9A130316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 function can stop an invalid financial input before it contaminates later results.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4D8A455-7002-481B-8073-5FAEE3FD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A7BFBAB-5A19-4D0A-A0CB-DAF9067D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53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382C55F-C88B-492E-8B42-656AB033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4DF2C8F-7BC2-4A63-A54C-B1791050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BCDC3B5-FBD7-4F31-9E83-0EF4979C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def simple_interest(principal, rate, years):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if principal &lt; 0 or rate &lt; 0 or years &lt; 0: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    raise ValueError("Inputs must be non-negative")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return principal * rate * years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print(simple_interest(10_000, 0.06, 2))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D8F9BA3-6EF1-4C0C-A48B-D3C90D94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81B86F9-1D9C-428A-8AFC-59F49232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7BFADE4-CE8E-4EB3-A439-ACBA77F6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671923F-FA3F-443C-853C-47DAB8D0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1200.0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FA93083-0D2F-4892-A814-7C2BB44E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A2BA839-8271-4CA6-BE3C-C1492EEF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197093C-2711-434B-86DD-571676B8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Validation turns an implicit assumption into an explicit control.</a:t>
            </a:r>
          </a:p>
        </p:txBody>
      </p:sp>
    </p:spTree>
    <p:extLst>
      <p:ext uri="{BB962C8B-B14F-4D97-AF65-F5344CB8AC3E}">
        <p14:creationId xmlns:p14="http://schemas.microsoft.com/office/powerpoint/2010/main" val="1660745127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1E9F23C-2267-4979-9E7F-784825F3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F6108BB-BEA1-49FE-9945-D384C126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F40597D-A5B7-4B9B-8CC5-8FCA225A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function has a contract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5811EC8-78AE-47FE-BA84-66411CA1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input, calculation, and return value should be visible.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C481180-6CED-4A99-82CF-DD27A394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68F70F9-E882-460F-B063-AE413F0F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54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BE76B0A-17AD-4A17-8C94-3D87D20C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50802EA-C580-45FB-8B5E-9B667CD0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306B3C2-7424-4C58-AA70-F0823B76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def mean(values):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return sum(values) / len(values)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returns = [0.012, -0.006, 0.009]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print(mean(returns))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9754EB5-11C6-449F-AD26-5B06E630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4FA751E-FA17-4670-95F6-FE4DCD9C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A51F467-F38D-4927-B600-049F71BF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775E607-7B6D-439E-8D3B-56545006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0.005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CAF4329-80EE-4FDE-BFE3-F2B26CC9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2C64309-50F4-4ED2-9476-7879CA95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4188CEF-B7A9-4691-9DD6-6FBA34BE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 function has one main job and returns a value that later code can reuse.</a:t>
            </a:r>
          </a:p>
        </p:txBody>
      </p:sp>
    </p:spTree>
    <p:extLst>
      <p:ext uri="{BB962C8B-B14F-4D97-AF65-F5344CB8AC3E}">
        <p14:creationId xmlns:p14="http://schemas.microsoft.com/office/powerpoint/2010/main" val="642878437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0C809C4-B6A3-4A32-ACE0-4F22FDC5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EA31DFD-0832-4EED-8571-4C03FD10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2DCB78A-F813-4AE9-B5E1-5CAB3488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financial function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CA8917E-60FE-432E-BB88-E705A878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Name the calculation and make the assumption reusable.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28BF2DF-5154-4287-8AC9-8A732007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9AEC6CF-CE99-4625-A3C6-71E46C80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55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2252032-4E77-4EC3-85D3-F8FBF8A1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E6255E0-1DFE-45AD-9613-7EDEADFF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A7EFAEE-3B0D-4776-91D2-C63E5B67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def simple_interest(principal, rate, years):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return principal * rate * years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interest = simple_interest(10_000, 0.06, 2)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print(interest)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A0E5520-9799-4239-970C-D79ECF26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927F101-EFAE-449E-9B19-AFB80303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D72CEC0-AF5B-486C-BBF5-B51EBE52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5684A75-85BA-40B7-87C5-2CB128EC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1200.0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2CF43E2-8A90-4F7B-9F84-2B4838BC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1F4F0BF-85D2-470D-9CE6-3F295E77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8D06752-52B6-4C36-83EF-5833E387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rate is a decimal. That convention belongs in the function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1807385181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C8FE276-8218-4D8F-B7CB-73EE4FC2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29B5258-A80B-4A87-BBBE-AE833A59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4FEDFDB-01AA-4279-8FC6-E16BDDBB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Document the unit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4E4155C-DC8D-4604-8E5A-43C39FF6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 docstring prevents a correct formula from being used incorrectly.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FE4905E-4712-4ED8-91C9-3C46310F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CCFC22A-2A62-46BB-A372-9008AF4A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56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D95D658-E5AA-45DD-AA17-CA499F38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E95580F-FC93-475E-B3E8-54E7F54E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1B720FB-A2FE-4B11-8388-71343748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def simple_interest(principal, rate, years):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"""Return interest; rate is a decimal."""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return principal * rate * years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print(simple_interest(10_000, 0.06, 2))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0DF0C39-3389-4AD2-AA16-1A069CBF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9269094-0A81-4D97-84C1-4689D580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0A606F1-AA7E-438A-9D8C-E54F76B7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7A245A4-89F5-4567-8ABF-BED09206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1200.0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5C65B1A-E832-43CD-BE21-4182D178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23E0019-C823-4332-9177-B1D6D060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BD1F12C-1DBB-4FFC-A0B1-C9780625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Inputs and units are part of the function’s analytical meaning.</a:t>
            </a:r>
          </a:p>
        </p:txBody>
      </p:sp>
    </p:spTree>
    <p:extLst>
      <p:ext uri="{BB962C8B-B14F-4D97-AF65-F5344CB8AC3E}">
        <p14:creationId xmlns:p14="http://schemas.microsoft.com/office/powerpoint/2010/main" val="1446846006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BE62473F-65B1-4C6B-B87B-9660576F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D5F6F5E-E651-482E-B21F-EB2C1C0B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DATA FILES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28F780D-CF28-44E4-9539-EC61B9A3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file is part of the model input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2B5AB7F-ECB6-40ED-A827-0379643A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Treat each hand-off from source to analysis as a place where an error can occur.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0553866-C5EB-4D8F-B4F8-945A92E4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C76C629-188B-4ED1-B8F5-6E2B7DC9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57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FD566E9-B7F8-495A-B64F-210DABB9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C1C5F6C-BCC2-4187-9CBA-105BD8B2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E0EAD9F1-E4CA-4D88-8F3F-EB0A2536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A81EBEF-EB74-4247-B1D5-3BABCC32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24FD25E-9268-4E65-86D5-675B7F86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AB43BC0E-744A-4826-8981-C766E10F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5B718EC-5833-4299-BCF2-1A4DAF64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Publisher or API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0152559-629E-46C9-8EDA-F7DF6DF5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EBED069-EB16-4879-AD7F-1A9C3386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UCI repository, Yahoo Finance, or an approved API.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58A76B3-21E6-44DB-9A5F-C7B7B847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7CDFCF0-C8D8-406E-AE20-05EE6571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1B96FAD2-7B5D-47F9-B81C-2AF81E86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33ED2A0-7083-45B6-9A9C-011B0145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88518C7-B894-4F8D-9D87-64E8BA0D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File</a:t>
            </a:r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F0B41022-1503-44EA-88C1-147C052E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8BD6E5F-1FB4-47C5-A495-EF9364D7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CSV or Parquet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D9A0ECE3-4B1C-4BEA-BF52-7A2973C4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06B8F8CF-DAE3-4507-B170-658DD199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447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a CSV saved inside the course package or downloaded in Colab.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833A9E55-901E-4EDB-9E90-63D56763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1C8B0710-F0BC-426C-A9FE-31CBE228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6B75564C-889F-40D3-86C3-2D300B27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BD12EFD4-8595-4F53-A266-BA1C3E07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6087533C-2927-459A-908B-6E03CB32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DataFrame</a:t>
            </a:r>
          </a:p>
        </p:txBody>
      </p:sp>
      <p:sp>
        <p:nvSpPr>
          <p:cNvPr id="30" name="Straight Connector 29">
            <a:extLst xmlns:a="http://schemas.openxmlformats.org/drawingml/2006/main">
              <a:ext uri="{FF2B5EF4-FFF2-40B4-BE49-F238E27FC236}">
                <a16:creationId xmlns:a16="http://schemas.microsoft.com/office/drawing/2014/main" id="{C3AC4FA0-8ACE-474C-B1AF-CEE4BB47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ADDE8E47-0D76-49A5-8DB1-98DFE091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Rows and columns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669EC34F-7196-4EC4-83F4-EB21D60D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F35550CE-1BB0-412F-B1E8-D64F2229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rows are borrowers; columns are variables and the target.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F4DBE047-1ABD-46C5-93D7-BC71CE91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83ABEACD-5B5D-4677-B0D8-3F233586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5E82C21E-EB33-4200-9D33-2F549846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20CA98E5-3AE7-4252-B4E5-997DCC71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1B5CBA5A-0FD2-4B54-B712-07ADDC67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39" name="Straight Connector 38">
            <a:extLst xmlns:a="http://schemas.openxmlformats.org/drawingml/2006/main">
              <a:ext uri="{FF2B5EF4-FFF2-40B4-BE49-F238E27FC236}">
                <a16:creationId xmlns:a16="http://schemas.microsoft.com/office/drawing/2014/main" id="{9BE67EE0-3CCF-4D44-B837-18F5AA2A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82DB4FA7-8BFE-4521-AF67-63F010EF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Table or plot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8C571D0E-9EEC-4AFC-A1F2-38103B98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AD76735F-84A1-4644-A595-887F8093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a labelled summary table or plot with an interpretation.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22D1A9A1-7A17-4EE0-9E08-ADBE76FD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11087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A5197871-09FE-496A-B93C-80F84FEC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070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A file that loaded successfully is not necessarily a dataset that has been understood.</a:t>
            </a:r>
          </a:p>
        </p:txBody>
      </p:sp>
    </p:spTree>
    <p:extLst>
      <p:ext uri="{BB962C8B-B14F-4D97-AF65-F5344CB8AC3E}">
        <p14:creationId xmlns:p14="http://schemas.microsoft.com/office/powerpoint/2010/main" val="1866727844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670268B-9DF7-4AD7-9D82-E27EF86E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D3D87CD-8FF9-4533-B836-7BBB8366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2623059-874B-4001-B0B4-FFC7CE71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Read and write a small text file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AEEEB4B-EF32-4AFC-90F0-11E0B6C7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File handling makes the input and output of a workflow explicit.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70E4BBC-33F2-4982-B00C-45EF1805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24909CE-830D-42CE-9AAE-7610E17C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58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2CC3FA7-F9D4-450B-B3E1-357BBB51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32B8A6E-EF3A-4595-9561-D4037661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76753ED-8C26-456C-9AAD-55000FF1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from pathlib import Path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notes = Path("week1_notes.txt")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notes.write_text("The dataset contains daily observations.")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print(notes.read_text())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F870544-D96F-4CD4-ACD3-8CE5D5C2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4578998-68E6-4C6C-B210-20153364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955FACC-DF7F-4FCC-8975-F0CA68E8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93B4751-9560-4CBF-8F15-9A0A3071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The dataset contains daily observations.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B2B8104-4755-479D-8104-CCDC0232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C9E8277-B405-45AF-9129-AF6F9087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F81712A-46FD-4E11-B3B8-EE7B5F98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 reproducible workflow records what was done and where the result was saved.</a:t>
            </a:r>
          </a:p>
        </p:txBody>
      </p:sp>
    </p:spTree>
    <p:extLst>
      <p:ext uri="{BB962C8B-B14F-4D97-AF65-F5344CB8AC3E}">
        <p14:creationId xmlns:p14="http://schemas.microsoft.com/office/powerpoint/2010/main" val="733846565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DAE18E8-9D5B-4DF7-A3F4-3BDB9BF0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E0E26DE-21C2-4D77-9A30-F5311D7A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87EFDFC-EEC3-4BA9-8C1B-D9F2DF31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Standardise the public columns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12EC0D2-59C7-41E7-9F84-919C6372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Short names make later calculations easier to read.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556ED8E-89E2-4747-B19F-0F7AAC59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ECD8A7C-AAA3-4155-92EA-3159C4A1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59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04AB476-388E-41B5-AF4A-37D0367C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E46D0B6-9724-43C4-8847-38701C94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43A46A-C79C-4B51-9BEE-64886E87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prices = prices.rename(columns={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"Date": "date",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"AAPL.Close": "close",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"AAPL.Volume": "volume"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})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prices = prices.sort_values("date")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print(prices[["date", "close", "volume"]].head(3))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62E1AA4-7DC6-45B1-B7AB-CE3CB116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A7355A1-E2A7-4082-908F-6422995E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60818FE-D1C0-4EAA-B58C-3257D751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0345F7C-00E4-4E57-8079-B699D058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date       close       volume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2015-02-17  127.83  63152400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...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F0B7066-5397-412E-9603-00EF9CD8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00984A7-7A25-45D2-BDB5-AD2442E9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1DE8B78-3CBD-4A81-BAF6-C4751535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Renaming is part of data preparation. Keep the original source names documented.</a:t>
            </a:r>
          </a:p>
        </p:txBody>
      </p:sp>
    </p:spTree>
    <p:extLst>
      <p:ext uri="{BB962C8B-B14F-4D97-AF65-F5344CB8AC3E}">
        <p14:creationId xmlns:p14="http://schemas.microsoft.com/office/powerpoint/2010/main" val="1060564471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7F4F0D7-B11A-4D45-B512-A2C789BA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24D552F-EBA6-43C6-8B43-CBC5C4B6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6BB12DA-0211-417E-96E3-CBF7A99F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Colab setup stays minimal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1D58A69-CC5E-4D1E-BC7D-B46BE7A7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Install an extra package only when the analysis needs it.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D952D20-B118-4753-8239-66E22DBF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5BFF88A-F0BA-45AB-9E6B-0155774D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60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1386BF3-AEBF-40AA-9D85-59D78ABD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D2E8BB4-2DB7-4F81-A901-2D6FAB19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0A6A353-CFBD-4462-B2BA-90BFE0E5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# Core libraries are already available in Colab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import numpy as np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import pandas as pd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import matplotlib.pyplot as plt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# Example for a later lecture, when needed: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# %pip install -q yfinance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8B3FBEF-A66C-4C54-8B9D-D77978D2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93178BD-6CB2-4E31-9A50-809A74B2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B060BCF-EFD6-414C-99BC-FA68C8A6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D5A5E94-78E8-4A0A-B2CF-33B72B8D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Core libraries ready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1A37E16-5E08-4D35-AAC5-EC52CFB7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70DFBBE-8F2B-4D4F-8C05-2261E5F5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0EE158A-4976-4AE9-9747-0DF62F82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course avoids turning setup into a lecture on versions and package management.</a:t>
            </a:r>
          </a:p>
        </p:txBody>
      </p:sp>
    </p:spTree>
    <p:extLst>
      <p:ext uri="{BB962C8B-B14F-4D97-AF65-F5344CB8AC3E}">
        <p14:creationId xmlns:p14="http://schemas.microsoft.com/office/powerpoint/2010/main" val="60140846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A7E2129-07E2-429E-B236-89B2E93E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E471240-A253-46C4-BFBE-396A520D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PACKAGES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79E738E-3D55-4915-B179-DCC62EF4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Imports connect the notebook to tested tools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40B7950-0683-4F90-AC93-FBB84298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 package is useful when it removes repeated implementation work without hiding the analytical decision.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0EE64E0-0EA3-44F8-B31E-B6688F43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70FFFC3-5667-48B2-BA6F-D0943B2E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61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363BC62-5580-4BAE-8C62-5A838783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7B994A7-529E-4512-984F-6C26FFC2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IMPORT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21217ED-F0BD-416A-A5AF-060E9812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Use a clear import such as import pandas as pd and then call a named operation such as pd.read_csv.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5CB77F1-DC58-4D6E-B190-625C5C59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7E18043-66F9-467F-8E22-BFB322AE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DOCUMENT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B03317B-5827-4183-8806-E4603EBB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Record the package, the operation used, and any important option. The reader should know what the code is doing.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E367D06-F944-418F-A87F-E83BD2AD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AD5B0AB-E0A7-43C0-9DAA-753B7A64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short import cell should make the rest of the notebook easier to read.</a:t>
            </a:r>
          </a:p>
        </p:txBody>
      </p:sp>
    </p:spTree>
    <p:extLst>
      <p:ext uri="{BB962C8B-B14F-4D97-AF65-F5344CB8AC3E}">
        <p14:creationId xmlns:p14="http://schemas.microsoft.com/office/powerpoint/2010/main" val="1827532191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DE9A4B0-BDEE-4EDE-88A9-FD41F777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F61EB94-AEF3-433E-BDCF-4028A71B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FE766C7-97BE-480C-ADD9-0392127D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clean notebook should run in a fresh session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651ADB1-49D3-4AB7-B0EC-31A5FCB0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order of cells should not depend on hidden state left from an earlier experiment.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0FD058F-22BD-4D18-A43E-4C22714D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FE90AF2-C69B-447E-BEC3-E5A3B0EE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62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13F6C1B-DABE-4089-97A3-B43D2A28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5AF16C8-F9A6-4584-9962-4687051F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345891A-825A-4FAD-9D4E-FBC50149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Restart the runtime and run all cells from top to bottom. Confirm that paths, imports, transformations, and outputs work again.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D51FDE4-6BCD-4CA8-A74E-DA48A133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C108DF6-6621-4CAB-BB1B-72D5415B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CBD8452-3A08-4BFE-A27D-25190730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Keep the question, source, code, output, interpretation, and limitations close together so another reader can follow the chain.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9A64FDF-6319-4F3A-8F74-F3267D42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661AF6F-2B5A-4218-8BF4-4FB16D81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Reproducibility is a practical modelling skill, not a formatting preference.</a:t>
            </a:r>
          </a:p>
        </p:txBody>
      </p:sp>
    </p:spTree>
    <p:extLst>
      <p:ext uri="{BB962C8B-B14F-4D97-AF65-F5344CB8AC3E}">
        <p14:creationId xmlns:p14="http://schemas.microsoft.com/office/powerpoint/2010/main" val="1521624426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A22DA66A-B0A8-484E-BDB5-7ED5BCA8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3E5E26F-D8CF-4676-BE81-FE5532B3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DATA PROVENANCE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A353E74-532E-4926-B8F2-4FAB2F58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Every dataset needs an identity card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3C4C202-5AAA-476B-AB91-488F9E2A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Record enough context to understand what the columns mean.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8925DB9-93A5-41A0-A5D1-E26954E9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B0D0D39-CDA6-4014-B71A-B634241B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63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8943C86-41EC-46AB-AFF0-5C31FB63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F1F6AFE-F2A6-4303-B259-CA9213F4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B1DEF482-D14A-4C04-AB65-86B74570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7DA8606-4F17-45D0-B9A9-3567CB21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44B0F57-61EE-4F33-9E43-74DA502F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476850E8-BA8F-4D20-A346-8A720421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39D9C82-3C49-4DDB-8F34-1BBFB224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Who published it?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30F4C09-44AC-400C-BF59-5722542A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E8D1FEA-495D-43F2-9E1B-D92478A2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UCI repository, Yahoo Finance, or an approved API.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8D9E1FC-2550-412F-BE2F-0310F058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CCBE4FD-2F80-48C0-A109-56B8E9FB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A7322F10-D46A-4400-B876-E462E846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00DCBB69-235A-40E0-A8FE-6FC4B4AA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B35AF59-2A6A-4C1C-9DDE-A2118AE0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Period</a:t>
            </a:r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F742A234-8851-42A1-9733-1F868C82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671F6845-717A-4A81-AAD7-A7639318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When was it measured?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6906753E-499D-4E3F-B15C-415BD63A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26D4D46-DAFA-4056-99C6-B03530DE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325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record whether the observations are daily, monthly, or annual.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F935A142-6D43-48DB-AFBC-CD139637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9D00982-924D-47C6-9F74-255C5E3F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AF44439A-1451-402D-80CE-DE7381C6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9D361C0D-987B-4F08-A38F-C5479189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DD983609-2DE9-4224-B608-1F9CCF31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Unit</a:t>
            </a:r>
          </a:p>
        </p:txBody>
      </p:sp>
      <p:sp>
        <p:nvSpPr>
          <p:cNvPr id="30" name="Straight Connector 29">
            <a:extLst xmlns:a="http://schemas.openxmlformats.org/drawingml/2006/main">
              <a:ext uri="{FF2B5EF4-FFF2-40B4-BE49-F238E27FC236}">
                <a16:creationId xmlns:a16="http://schemas.microsoft.com/office/drawing/2014/main" id="{7533922B-B09C-4224-A561-D636C8F4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30834EF0-83D5-491C-8D11-E2A30437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What does one row mean?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A945098F-43E1-45E6-A53F-3AEAAD53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900998D9-45C5-4895-825A-4266F560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write exactly what one row represents before calculating statistics.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7626F0B3-86A5-4417-BDFD-E83CF7E8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65AEA93D-68C0-478A-ACE2-0B12F15D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5D329F27-0760-4813-92D9-1541B8EC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53CAB9D8-7C28-4E3C-A916-512E6F9D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19CC622B-841D-4E53-B74A-4EB77779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Target</a:t>
            </a:r>
          </a:p>
        </p:txBody>
      </p:sp>
      <p:sp>
        <p:nvSpPr>
          <p:cNvPr id="39" name="Straight Connector 38">
            <a:extLst xmlns:a="http://schemas.openxmlformats.org/drawingml/2006/main">
              <a:ext uri="{FF2B5EF4-FFF2-40B4-BE49-F238E27FC236}">
                <a16:creationId xmlns:a16="http://schemas.microsoft.com/office/drawing/2014/main" id="{619E2571-C0DC-4288-8C9D-51AEC3A7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694D0D46-16E1-47EF-B69D-91B7474E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What outcome is defined?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F2BD382A-2CAD-4376-9F30-6EE6CF99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FAF34D62-922B-4113-9985-7F3092E2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define default=1 and non-default=0 before modelling.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409D0450-7291-45CF-ADF7-64B8D8B1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11087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AAC0786A-8B49-4C78-BBD0-83DB2448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070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The source, access date, units, row meaning, and target definition belong in the notebook.</a:t>
            </a:r>
          </a:p>
        </p:txBody>
      </p:sp>
    </p:spTree>
    <p:extLst>
      <p:ext uri="{BB962C8B-B14F-4D97-AF65-F5344CB8AC3E}">
        <p14:creationId xmlns:p14="http://schemas.microsoft.com/office/powerpoint/2010/main" val="1702292133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071A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22F4EF-3D66-44E8-A72E-AEDD1C0E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A79CDB9-B21F-4357-BF18-5D561308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800100"/>
            <a:ext cx="3143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0" b="1" i="0">
                <a:solidFill>
                  <a:srgbClr val="102D49"/>
                </a:solidFill>
                <a:latin typeface="Aptos"/>
                <a:ea typeface="Aptos"/>
                <a:cs typeface="Aptos"/>
              </a:defRPr>
            </a:pPr>
            <a:r>
              <a:rPr sz="12750" b="1" i="0">
                <a:solidFill>
                  <a:srgbClr val="102D4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9045E8F-617B-45DF-BDF2-ECF700D8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5B021CA-82C6-45EB-AE1C-D17A6B22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PART 4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01507C9-3B51-499D-840A-9B23317B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Financial data and statistics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3D47485-7345-438F-83F1-EDAC7779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BFD0D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BFD0DF"/>
                </a:solidFill>
                <a:latin typeface="Aptos"/>
                <a:ea typeface="Aptos"/>
                <a:cs typeface="Aptos"/>
              </a:rPr>
              <a:t>Describe the sample before asking a model to predict anything.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50C6085-3679-4DAD-A2B0-AE1CBF4F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523239A-F528-4817-8184-FCC6773F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23DD48F-2804-4DC1-A721-97F3112A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1537444808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F82A0D01-D0D4-40E0-B2F7-CC34BD63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EF787B9-D9DB-4B8E-AF23-3FC9EF0B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OBSERVATION UNIT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838EB97-0347-459D-B672-BB59B9D0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Define the row before interpreting the column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DA7F9CC-36A6-4591-86E1-B6C0AF55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same statistic changes meaning when the observation unit changes.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095186A-B036-4AB0-BE49-8C12EC00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33502C2-1B24-4707-9C14-CC11D8E5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65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3719482-3062-49A9-BFBC-16407963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468984B-3583-4E1B-A1DA-B1E078C2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11C59133-F6C2-4A67-9091-C52E3DDB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FA74284-7A50-42AE-A46B-3A9764FB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6FFDAFF-9B95-4F65-BDC5-49731056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Borrower</a:t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B80C8D8D-C090-4B09-B184-FDF133FF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A771A51-DCDC-402A-9430-1D3EA97C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One person or firm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C6E7D85-96AD-4F92-9DB0-1C75713B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C5B0549-9965-4150-83D9-D77FD6CD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one row per applicant in a credit-default dataset.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85F8350-4B79-420F-9632-36E6659A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5D9BA0C-1068-4A2D-9407-AB9F5076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3593E46D-4762-4372-895C-AFE8AACF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E46DA13-36FF-4879-9ED2-1F719DB0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64E306E-7010-42F6-AA87-06B6648A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Loan</a:t>
            </a:r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4EDD80E4-F963-48D2-954C-BECF7813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BCB256B6-79ED-4451-B8B9-5BAADF4F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One credit facility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CDBA17D2-4BC7-4AC7-AB60-FDE3F6ED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2011D5A-C316-4117-BFD5-6D1FC466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one row per facility when several loans belong to one borrower.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B0C98FD1-7F13-4757-974C-39EF3482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1923BC83-23B7-4A0D-BC47-74FF1221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3D9AF96F-0EE6-4205-B4CB-2955E4A3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AA5F3D53-F0D7-4E66-96ED-BB80A235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C8EB140-40FC-4F7E-B8D0-6FDFA950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Month</a:t>
            </a:r>
          </a:p>
        </p:txBody>
      </p:sp>
      <p:sp>
        <p:nvSpPr>
          <p:cNvPr id="30" name="Straight Connector 29">
            <a:extLst xmlns:a="http://schemas.openxmlformats.org/drawingml/2006/main">
              <a:ext uri="{FF2B5EF4-FFF2-40B4-BE49-F238E27FC236}">
                <a16:creationId xmlns:a16="http://schemas.microsoft.com/office/drawing/2014/main" id="{156617A2-015F-4767-811D-6A19E783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6D0BFDB4-AA02-4D28-BA7E-9E88477E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One account-month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500A540A-137A-49F8-993A-E3C30859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254B1CC3-2DC1-4563-9D1C-D55766BB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one account-month for a panel of repayment behaviour.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530D437B-85FC-4461-9635-B6E97493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AB77B34C-DB7F-4B8E-8751-089C0D15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32F56F0E-EFC8-4E16-938D-D07A979C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9C4D7A6D-F91E-4A29-B999-57B42BEE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6E838791-9946-4747-AD7C-FBAEEAD0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Stock</a:t>
            </a:r>
          </a:p>
        </p:txBody>
      </p:sp>
      <p:sp>
        <p:nvSpPr>
          <p:cNvPr id="39" name="Straight Connector 38">
            <a:extLst xmlns:a="http://schemas.openxmlformats.org/drawingml/2006/main">
              <a:ext uri="{FF2B5EF4-FFF2-40B4-BE49-F238E27FC236}">
                <a16:creationId xmlns:a16="http://schemas.microsoft.com/office/drawing/2014/main" id="{69A07FF9-86AD-4BAD-8E12-898784AB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E00420B4-1841-40E7-B02F-2A4D74F8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One security-month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3BC38381-6D94-44F2-A402-786E9B24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039BF41C-CE36-4607-90F6-591194C1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one security-month when comparing asset returns.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B90E4677-0BB0-4C72-B2CB-6525328A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11087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37676EA0-D362-4DBE-A25F-65D80989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070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Write one sentence that defines the observation unit before computing a summary.</a:t>
            </a:r>
          </a:p>
        </p:txBody>
      </p:sp>
    </p:spTree>
    <p:extLst>
      <p:ext uri="{BB962C8B-B14F-4D97-AF65-F5344CB8AC3E}">
        <p14:creationId xmlns:p14="http://schemas.microsoft.com/office/powerpoint/2010/main" val="122177907"/>
      </p:ext>
    </p:extLst>
  </p:cSld>
</p:sld>
</file>

<file path=ppt/slides/slide6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20B6620-8DA6-4462-9D82-D49C0EA8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3DD8EE-CAFE-4B2B-A7F4-F0F5330A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DESCRIPTIVE STATISTICS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6A7C8-0FCA-486E-BBFD-11348747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6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The functions describe the sample before modelling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42D4F-0649-498C-8D2B-878AA4B4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Theory comes first. The following code cells apply these definitions to the public Apple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3F314F-C16C-4910-B41A-0AF0DCB1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11087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214C20-D063-408A-BD64-782C1562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83530-5567-479E-8D8B-77A145FB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479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Statistic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386C88-E6C9-4EAB-957E-74839640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4315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6D94D9-2B3A-4281-BB97-E9B7B637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4792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Notation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5F68B5-35C2-4AB9-85E1-C83BE1F3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431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2A92B-D2B3-439A-9CF6-529917A1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47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Question answered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F0987E-8BAF-4284-BA6D-0048B9B4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43150"/>
            <a:ext cx="2619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6740BD-6B42-4B79-8001-0ECF3F98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47925"/>
            <a:ext cx="2428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Library function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8C96AA-0F38-4EC8-A0BD-FBDAF364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1524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135121-F899-4897-86D2-C9E94C7E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33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Count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6CDBB8-20AD-47B8-A16E-6C8187F0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05100"/>
            <a:ext cx="3143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0FB06C-99F6-4BA9-BFA5-D7DE9BAF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8130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AA2B3B-491D-4E94-9C66-33FA58FB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05100"/>
            <a:ext cx="2667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9F609E-9088-4222-A226-3D09FD8E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How many valid observations are available?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FFDDE6-FE76-4943-AA45-3EF2F199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05100"/>
            <a:ext cx="26193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5DD7D6-49B5-438D-9437-83BBA33E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pandas: series.count()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D091AE-F0BC-45F2-906C-6FA089C8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33725"/>
            <a:ext cx="1524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A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B152B5-9603-4AA2-93B9-DF68294D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9925"/>
            <a:ext cx="133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Mean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5CE4DA-55C3-4103-B437-7240E209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33725"/>
            <a:ext cx="3143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A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3D0933-1E7A-4639-A753-F0C8FFF7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09925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x̄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D366BC-DD4C-424D-9EA6-365B4D58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33725"/>
            <a:ext cx="2667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A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7DABB1-9C1F-4261-BDEB-C0CAA63C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099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The equal-weight average of the observed values.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7BB2E1-DCFB-4750-9F6E-EF1EFBD6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33725"/>
            <a:ext cx="26193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A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36E87B-985E-4101-98FE-958F1F53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09925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pandas: series.mean() | NumPy: np.mean(series)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E754ED-FF8B-4B36-8FE0-FE7865D5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1524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5BA9D9-CE87-4A64-BF64-867FAE93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133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Median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070785-AD9E-4BAC-A0BF-1F60CCF8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62350"/>
            <a:ext cx="3143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F95F50-795F-4B49-B965-2B833993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3855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x̃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825696-C34D-4098-AED5-65357F5A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62350"/>
            <a:ext cx="2667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ABC5F1-1392-42FF-B619-CD95355D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38550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The middle ordered value, less sensitive to extreme observations.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DBC2D6-43BB-432E-B6DB-B0B74569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62350"/>
            <a:ext cx="26193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3A8870-4662-4B87-A82A-980E7DE3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38550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pandas: series.median() | NumPy: np.median(series)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B062F6-2E17-4892-ABC5-C9855548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90975"/>
            <a:ext cx="1524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A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D54F4F-F73C-440A-B79D-DB94BF18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67175"/>
            <a:ext cx="133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Variance / SD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F9C89F-5D40-4F23-943C-CA06A0B9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90975"/>
            <a:ext cx="3143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A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AD1473-87FF-4219-A44B-791A7D66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67175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s² / 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8DE915-FEA1-438D-AD7C-198D6322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90975"/>
            <a:ext cx="2667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A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51F1E7-F940-4C30-97C6-C81BC9D0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671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Sample dispersion around the mean, in squared and original units.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D204B8-03A1-4329-A59A-A84FF36B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90975"/>
            <a:ext cx="26193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A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385B27E-3D02-4EDB-A546-D36AC53C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67175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pandas: series.var(), series.std() | NumPy: np.var(..., ddof=1), np.std(..., ddof=1)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0357D24-6AA6-4EF5-AFB6-0D8FCC2D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524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9D71845-6D6D-4CE0-B46E-A10992CB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133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Range / quantiles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26AD95A-B939-43D4-8120-5EB1F29D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19600"/>
            <a:ext cx="3143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DB13493-526C-4B5C-9E01-4DAE07DD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9580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min, max, q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CF2EE0B-4CED-43DA-B876-4950206E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19600"/>
            <a:ext cx="2667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67B0132-45CA-461F-931C-5AD0D5E5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95800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Lower, upper, and selected positions in the ordered sample.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A586CC6-7557-4F3A-ACFC-C7F2482E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19600"/>
            <a:ext cx="26193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6A86146-82B3-4290-977B-05D2A409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95800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pandas: series.min(), series.max(), series.quantile(q)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DD8E7A7-EF92-4FE2-A3BF-3BCB7072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48225"/>
            <a:ext cx="1524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A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280CE85-10D0-4848-B3DE-1F5755CA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24425"/>
            <a:ext cx="133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Describe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E16DCC8-C4F5-4072-9FDC-F46861B0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48225"/>
            <a:ext cx="3143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A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5232B56-F458-403D-8808-63A4BC7E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24425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summary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FFC0287-129D-46EE-A980-14BAEED2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48225"/>
            <a:ext cx="2667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A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698D644-CB39-41E4-A49F-B2CC31F4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244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A library shortcut that reports count, mean, SD, min, quartiles, and max.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268B752-AB89-43E1-A140-2CA6E22D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48225"/>
            <a:ext cx="26193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A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DAA93DB-8ACF-4F88-88C9-84DDC9D2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24425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pandas: series.describe()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9595F39-9428-402F-8138-E1A09175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0"/>
            <a:ext cx="11087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solidFill>
              <a:srgbClr val="EAF7F1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C8E3BED-FA02-4260-9A76-20984952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86425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A9D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2A9D70"/>
                </a:solidFill>
                <a:latin typeface="Bitstream Charter"/>
                <a:ea typeface="Bitstream Charter"/>
                <a:cs typeface="Bitstream Charter"/>
              </a:rPr>
              <a:t>Reading rule: choose the statistic that matches the question, inspect the units, and state the sample period before interpreting the value.</a:t>
            </a:r>
          </a:p>
        </p:txBody>
      </p:sp>
    </p:spTree>
    <p:extLst>
      <p:ext uri="{BB962C8B-B14F-4D97-AF65-F5344CB8AC3E}">
        <p14:creationId xmlns:p14="http://schemas.microsoft.com/office/powerpoint/2010/main" val="1078053696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5CDAA7F-8F10-4C6C-B9D5-10B8F93B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325B6FC-3947-4471-97A4-4679E889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6812ED4-A553-4552-ADDE-AEBA9F5C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first DataFrame audit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F9CBA68-7228-4A7E-B734-FCC013DC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Shape, names, types, and missingness establish the data contract.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7085C67-7B48-48CF-81AD-B26AF1E0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F3250FB-37E9-4708-A84B-9279AEBE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66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397C3B8-9436-4791-85D6-7A3E13D9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DC3A25E-99F5-4D79-8278-4187E9F2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44B5E5C-3AE0-4853-A5B9-E3A37088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print(prices.shape)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print(prices.columns.tolist())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print(prices.dtypes)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print(prices.isna().sum())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0468BCB-5206-444E-92F8-E5D408AC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5848619-0888-44D9-8407-24CD79C4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A0AB953-B6DF-49FA-988B-7869D4ED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55C5414-103F-446F-B879-804A411D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(506, 12)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['date', 'close', 'volume', ...]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date       datetime64[ns]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...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B252768-6354-48C3-AED8-C1F81594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A7D1D89-8274-494F-BD72-DFA7396A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336508A-CE2F-4A4D-A62F-7725409B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These four checks tell you what the table contains before you interpret it.</a:t>
            </a:r>
          </a:p>
        </p:txBody>
      </p:sp>
    </p:spTree>
    <p:extLst>
      <p:ext uri="{BB962C8B-B14F-4D97-AF65-F5344CB8AC3E}">
        <p14:creationId xmlns:p14="http://schemas.microsoft.com/office/powerpoint/2010/main" val="432265866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6D929D1D-61E3-42C3-BE3A-F1425C7E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9E80D88-5225-47A9-A99A-5A892816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27985F2-1634-48B6-A550-8A9808CB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Inspect missing values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078DFA7-5F26-4E39-8F1E-BC39C6E1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Missingness is part of the data description.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7D62EC1-91AF-4086-AA44-59E2E24D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018FA6-592E-48B2-A423-B8E562CB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67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3CE8F8B-4BD1-46CE-A739-16D4E1CF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724F20B-F19F-4CCA-8C73-E6A15837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4D16804-9DD4-4897-AB2B-E8A907A8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missing = prices.isna().sum()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missing_rate = missing / len(prices)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print(pd.DataFrame({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"count": missing,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"rate": missing_rate.round(3)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}))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CA2D0C0-1B64-4767-82C9-1B91F929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3B0347E-033B-4B5A-BF5A-B7BC4A0F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1AE9F86-FF19-4987-B316-5DF69978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C000588-5EA3-4292-B735-CBBC925E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count  rate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date        0  0.000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close       0  0.000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8B8D1C8-2F4F-46F8-BEE0-6E870028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ED64EFE-2BA5-46AD-9BD9-A9987425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7BC53A0-6A61-4319-B37F-2C91BB44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rate makes missingness comparable across columns. A zero count is still evidence worth checking.</a:t>
            </a:r>
          </a:p>
        </p:txBody>
      </p:sp>
    </p:spTree>
    <p:extLst>
      <p:ext uri="{BB962C8B-B14F-4D97-AF65-F5344CB8AC3E}">
        <p14:creationId xmlns:p14="http://schemas.microsoft.com/office/powerpoint/2010/main" val="602482810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4BFA296-B760-4D96-B109-3E5E4EBF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7CB510F-8DF8-4015-9577-87BCCDF5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D11A949-8390-461F-B7A2-04183AE7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Group prices by calendar year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D0172EA-67F8-485A-BACF-B11B15A1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 grouped statistic changes the question from individual days to annual summaries.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F78C072-257D-4ED2-A042-932DC5DE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1B8DBFB-8701-4393-B9D8-CB78B427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68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65809D3-F3B0-4CFB-8B15-B2150B10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06E4666-C0A2-4038-9BAA-E1E6F1E4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4562207-C896-446E-9641-5BF153BA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prices["year"] = prices["date"].dt.year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annual = prices.groupby("year").agg(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mean_close=("close", "mean"),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median_close=("close", "median"),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trading_days=("date", "size")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)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print(annual)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B2B346D-BDB2-4F96-9CBF-D1D54726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1A2DD75-E680-4766-B011-CCAF9C7B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1E8C74-2FEE-4281-B1A9-F961CE88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39A9BB0-ED26-4948-A3AC-D3347939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mean_close  median_close  trading_days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2015 ...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92E7303-4DD1-4A04-920F-90A5D320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BC1FEBB-D36F-4540-B7BF-5AB7FBD6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8BAF7D0-BB4E-4F2A-BE93-72D911A4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grouping unit is the calendar year. The result is descriptive and depends on the sample period.</a:t>
            </a:r>
          </a:p>
        </p:txBody>
      </p:sp>
    </p:spTree>
    <p:extLst>
      <p:ext uri="{BB962C8B-B14F-4D97-AF65-F5344CB8AC3E}">
        <p14:creationId xmlns:p14="http://schemas.microsoft.com/office/powerpoint/2010/main" val="718623521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48FA725-CE1A-4497-9939-2F81C290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77FA5D5-D3CD-4F6F-9BD7-AB0F033E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9D047D9-8F82-42C8-8D7B-E40C9F40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Calculate a correlation matrix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E3994C8-3460-4218-9CE6-95927A49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Correlation summarises linear co-movement between numeric variables.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45EBF06-772C-4E0F-AF66-24F21B16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882FB17-F03A-47D2-AE88-13D3B414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69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8B84063-DF5D-492D-8BAE-48E68F3A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C9784B3-4B65-465A-9445-B3156550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61D1117-A407-4FA3-9591-F3E258A3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prices["simple_return"] = prices["close"].pct_change()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numeric = prices[["close", "volume", "simple_return"]]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print(numeric.corr().round(3))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3843BA3-774F-41A7-9338-7E94DFEE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8765C97-874F-474A-8E61-7655A41C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44425B9-AF70-401D-9B81-9B949DFF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D9FD7E2-3DF1-4E13-B11F-0BBD0401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                 close  volume  simple_return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close            1.000 ...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ED07727-81AE-49B3-BF02-51CD65F7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1245C3A-2382-4FFB-A0AC-61AC4445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32C496E-D9A4-449F-94F7-1DE2F7E4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Correlation is unit-free, but it does not establish causality and may change across time periods.</a:t>
            </a:r>
          </a:p>
        </p:txBody>
      </p:sp>
    </p:spTree>
    <p:extLst>
      <p:ext uri="{BB962C8B-B14F-4D97-AF65-F5344CB8AC3E}">
        <p14:creationId xmlns:p14="http://schemas.microsoft.com/office/powerpoint/2010/main" val="747941450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E1FF91F-3B67-4AF7-A9A2-058F297B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D9A38D2-26DA-4D17-8488-7F9F0438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MATHEMATICAL FOUNDATION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215B4C0-3359-4EDA-9C59-FA911944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Arithmetic mean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566D44F-6B8F-4CED-BD0D-494A16CA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mean is the balance point of observed values.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0D86637-288F-411B-A7A3-D2D59BD6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1C04AF6-034D-4793-AE11-FED73510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70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397BDB1-73EB-4CCF-A060-94ED21EB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110871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pic>
        <p:nvPicPr>
          <p:cNvPr id="23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5c4e8b7bf44da0">
            <a:extLst>
              <a:ext uri="{96DAC541-7B7A-43D3-8B79-37D633B846F1}">
                <asvg:svgBlip xmlns:asvg="http://schemas.microsoft.com/office/drawing/2016/SVG/main" r:embed="Rcbcf03b2b9c8457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6800" y="2533650"/>
            <a:ext cx="10058400" cy="857250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E1D1B2C-A42F-4130-99E6-94155D0F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DEFINITION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1EEBDB1-6193-4B8A-9C17-6EDBB3DE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xᵢ is observation i and n is the number of observations. Every observation receives equal weight.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3E915C5-D734-4005-B6ED-FCCE70A4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3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5061044-AAFD-423B-8771-5527433C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1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FINANCE EXAMPLE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0556EA9-A956-469A-A3BA-034A3F62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5770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For Apple closing prices, the mean summarises the centre of the observed price sample. It does not describe every trading day.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416B7A9-355D-47DA-9748-E0066B88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9618" y="2120207"/>
            <a:ext cx="4461164" cy="16802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acc>
                    <m:accPr>
                      <m:chr m:val="̅"/>
                    </m:accPr>
                    <m:e>
                      <m:r>
                        <a:rPr xmlns:a="http://schemas.openxmlformats.org/drawingml/2006/main" lang="en-US" sz="4000" i="1">
                          <a:latin typeface="Cambria Math"/>
                          <a:ea typeface="Cambria Math"/>
                          <a:cs typeface="Cambria Math"/>
                        </a:rPr>
                        <m:t>𝑥</m:t>
                      </m:r>
                    </m:e>
                  </m:acc>
                  <m:r>
                    <a:rPr xmlns:a="http://schemas.openxmlformats.org/drawingml/2006/main" lang="en-US" sz="4000" b="0" i="1">
                      <a:latin typeface="Cambria Math"/>
                      <a:ea typeface="Cambria Math"/>
                      <a:cs typeface="Cambria Math"/>
                    </a:rPr>
                    <m:t>=</m:t>
                  </m:r>
                  <m:f>
                    <m:num>
                      <m:r>
                        <a:rPr xmlns:a="http://schemas.openxmlformats.org/drawingml/2006/main" lang="en-US" sz="4000" b="0" i="1"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lang="en-US" sz="4000" b="0" i="1">
                          <a:latin typeface="Cambria Math"/>
                          <a:ea typeface="Cambria Math"/>
                          <a:cs typeface="Cambria Math"/>
                        </a:rPr>
                        <m:t>𝑛</m:t>
                      </m:r>
                    </m:den>
                  </m:f>
                  <m:nary>
                    <m:naryPr>
                      <m:chr m:val="∑"/>
                      <m:subHide m:val="off"/>
                      <m:supHide m:val="off"/>
                    </m:naryPr>
                    <m:sub>
                      <m:r>
                        <a:rPr xmlns:a="http://schemas.openxmlformats.org/drawingml/2006/main" lang="en-US" sz="4000" b="0" i="1">
                          <a:latin typeface="Cambria Math"/>
                          <a:ea typeface="Cambria Math"/>
                          <a:cs typeface="Cambria Math"/>
                        </a:rPr>
                        <m:t>𝑖</m:t>
                      </m:r>
                      <m:r>
                        <a:rPr xmlns:a="http://schemas.openxmlformats.org/drawingml/2006/main" lang="en-US" sz="4000" b="0" i="1">
                          <a:latin typeface="Cambria Math"/>
                          <a:ea typeface="Cambria Math"/>
                          <a:cs typeface="Cambria Math"/>
                        </a:rPr>
                        <m:t>=1</m:t>
                      </m:r>
                    </m:sub>
                    <m:sup>
                      <m:r>
                        <a:rPr xmlns:a="http://schemas.openxmlformats.org/drawingml/2006/main" lang="en-US" sz="4000" b="0" i="1">
                          <a:latin typeface="Cambria Math"/>
                          <a:ea typeface="Cambria Math"/>
                          <a:cs typeface="Cambria Math"/>
                        </a:rPr>
                        <m:t>𝑛</m:t>
                      </m:r>
                    </m:sup>
                    <m:e>
                      <m:sSub>
                        <m:e>
                          <m:r>
                            <a:rPr xmlns:a="http://schemas.openxmlformats.org/drawingml/2006/main" lang="en-US" sz="4000" b="0" i="1"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  <m:sub>
                          <m:r>
                            <a:rPr xmlns:a="http://schemas.openxmlformats.org/drawingml/2006/main" lang="en-US" sz="4000" b="0" i="1">
                              <a:latin typeface="Cambria Math"/>
                              <a:ea typeface="Cambria Math"/>
                              <a:cs typeface="Cambria Math"/>
                            </a:rPr>
                            <m:t>𝑖</m:t>
                          </m:r>
                        </m:sub>
                      </m:sSub>
                    </m:e>
                  </m:nary>
                </m:oMath>
              </m:oMathPara>
            </a14:m>
            <a:endParaRPr sz="4000"/>
          </a:p>
        </p:txBody>
      </p:sp>
    </p:spTree>
    <p:extLst>
      <p:ext uri="{BB962C8B-B14F-4D97-AF65-F5344CB8AC3E}">
        <p14:creationId xmlns:p14="http://schemas.microsoft.com/office/powerpoint/2010/main" val="1222104732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8F9F383-9D68-4095-9812-7DE92028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8F14FA7-4D16-440E-A50A-61B6484A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MATHEMATICAL FOUNDATION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9524E8A-3AD9-4CBA-9EFF-45AC1893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Median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F709CC5-5541-48C9-A8D8-A8F3D8D6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median uses the ordered position and resists extreme values.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C7AC562-9515-4AF6-BDAC-771473F4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9F6B2E8-2767-4AA5-B8B1-485E0056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71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327E047-91BF-4727-8499-E125C5BA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110871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pic>
        <p:nvPicPr>
          <p:cNvPr id="23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290c67d2964171">
            <a:extLst>
              <a:ext uri="{96DAC541-7B7A-43D3-8B79-37D633B846F1}">
                <asvg:svgBlip xmlns:asvg="http://schemas.microsoft.com/office/drawing/2016/SVG/main" r:embed="R8649cf8f746c42c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6800" y="2533650"/>
            <a:ext cx="10058400" cy="857250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7C943E9-B6D5-4931-AC67-1E8C9865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DEFINITION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D457217-7B96-4C81-A359-3E1E8FE3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Order the observations first. The middle position defines the median when n is odd.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C392B3D-829B-4538-AC84-4396012A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3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EAF45FE-77FC-4468-AD96-0BECB433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1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FINANCE EXAMPLE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F5E0704-05E7-4468-B9C0-302E7674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5770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For a skewed financial variable, the median can describe a typical observation better than the mean.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6F15D03-44CC-42FD-AA56-BD4ECD19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912" y="2296391"/>
            <a:ext cx="6507038" cy="1438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acc>
                    <m:accPr>
                      <m:chr m:val="̃"/>
                    </m:accPr>
                    <m:e>
                      <m:r>
                        <a:rPr xmlns:a="http://schemas.openxmlformats.org/drawingml/2006/main" lang="en-US" sz="3600" i="1">
                          <a:latin typeface="Cambria Math"/>
                          <a:ea typeface="Cambria Math"/>
                          <a:cs typeface="Cambria Math"/>
                        </a:rPr>
                        <m:t>𝑥</m:t>
                      </m:r>
                    </m:e>
                  </m:acc>
                  <m:r>
                    <a:rPr xmlns:a="http://schemas.openxmlformats.org/drawingml/2006/main" lang="en-US" sz="3600" b="0" i="1">
                      <a:latin typeface="Cambria Math"/>
                      <a:ea typeface="Cambria Math"/>
                      <a:cs typeface="Cambria Math"/>
                    </a:rPr>
                    <m:t>=</m:t>
                  </m:r>
                  <m:d>
                    <m:dPr>
                      <m:begChr m:val="{"/>
                      <m:grow m:val="off"/>
                    </m:dPr>
                    <m:e>
                      <m:eqArr>
                        <m:e>
                          <m:sSub>
                            <m:e>
                              <m:r>
                                <a:rPr xmlns:a="http://schemas.openxmlformats.org/drawingml/2006/main" lang="en-US" sz="3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xmlns:a="http://schemas.openxmlformats.org/drawingml/2006/main" lang="en-US" sz="3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(</m:t>
                              </m:r>
                              <m:r>
                                <a:rPr xmlns:a="http://schemas.openxmlformats.org/drawingml/2006/main" lang="en-US" sz="3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𝑛</m:t>
                              </m:r>
                              <m:r>
                                <a:rPr xmlns:a="http://schemas.openxmlformats.org/drawingml/2006/main" lang="en-US" sz="3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+1)/2</m:t>
                              </m:r>
                            </m:sub>
                          </m:sSub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 ,             </m:t>
                          </m:r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𝑛</m:t>
                          </m:r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 </m:t>
                          </m:r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𝑜𝑑𝑑</m:t>
                          </m:r>
                        </m:e>
                        <m:e>
                          <m:sSub>
                            <m:e>
                              <m:r>
                                <a:rPr xmlns:a="http://schemas.openxmlformats.org/drawingml/2006/main" lang="en-US" sz="3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xmlns:a="http://schemas.openxmlformats.org/drawingml/2006/main" lang="en-US" sz="3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(</m:t>
                              </m:r>
                              <m:r>
                                <a:rPr xmlns:a="http://schemas.openxmlformats.org/drawingml/2006/main" lang="en-US" sz="3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𝑛</m:t>
                              </m:r>
                              <m:r>
                                <a:rPr xmlns:a="http://schemas.openxmlformats.org/drawingml/2006/main" lang="en-US" sz="3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+1)/2</m:t>
                              </m:r>
                            </m:sub>
                          </m:sSub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xmlns:a="http://schemas.openxmlformats.org/drawingml/2006/main" lang="en-US" sz="3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xmlns:a="http://schemas.openxmlformats.org/drawingml/2006/main" lang="en-US" sz="3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𝑛</m:t>
                              </m:r>
                              <m:r>
                                <a:rPr xmlns:a="http://schemas.openxmlformats.org/drawingml/2006/main" lang="en-US" sz="3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/2</m:t>
                              </m:r>
                            </m:sub>
                          </m:sSub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,  </m:t>
                          </m:r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𝑛</m:t>
                          </m:r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 </m:t>
                          </m:r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𝑒𝑣𝑒𝑛</m:t>
                          </m:r>
                        </m:e>
                      </m:eqArr>
                    </m:e>
                  </m:d>
                </m:oMath>
              </m:oMathPara>
            </a14:m>
            <a:endParaRPr/>
          </a:p>
        </p:txBody>
      </p:sp>
    </p:spTree>
    <p:extLst>
      <p:ext uri="{BB962C8B-B14F-4D97-AF65-F5344CB8AC3E}">
        <p14:creationId xmlns:p14="http://schemas.microsoft.com/office/powerpoint/2010/main" val="1855279124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8B377B7-9193-405E-9ABA-B5F2C636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59C32AF-EE5C-4731-A955-EC999BF3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MATHEMATICAL FOUNDATION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2499390-575C-4EC6-A1D7-2670512C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Variance and standard deviation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E9E1F6-E91D-4925-9E30-18650E3B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Dispersion measures how far observations sit from the sample mean.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6E32C46-D1CA-4D84-81E0-BCF599C0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7FB0864-2204-4968-B177-6ECA7BCC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72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666FABE-D2C2-4BE8-8C81-8EECF0C2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110871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3FD0D0B-0260-4A35-AC66-B8B79F9A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DEFINITION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D34FE49-08F1-49B8-A035-7C678E03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Variance is in squared units. Standard deviation returns to the original unit and is easier to interpret financially.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FAD6864-9D5E-4732-BA7B-FB151080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3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0BB5F62-D365-4AE7-A6CB-63D1EBCB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1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FINANCE EXAMPLE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E428D1F-E961-4E35-8313-2D39BC7A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5770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 larger standard deviation means the observed closing prices vary more around their sample mean.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9418F6B-CF75-43BB-83D1-D72FBD40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93114"/>
            <a:ext cx="9505950" cy="9596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r>
                        <a:rPr xmlns:a="http://schemas.openxmlformats.org/drawingml/2006/main" lang="en-US" sz="4400" i="1">
                          <a:latin typeface="Cambria Math"/>
                          <a:ea typeface="Cambria Math"/>
                          <a:cs typeface="Cambria Math"/>
                        </a:rPr>
                        <m:t>𝑠</m:t>
                      </m:r>
                    </m:e>
                    <m:sup>
                      <m:r>
                        <a:rPr xmlns:a="http://schemas.openxmlformats.org/drawingml/2006/main" lang="en-US" sz="4400" i="1"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</m:sup>
                  </m:sSup>
                  <m:r>
                    <a:rPr xmlns:a="http://schemas.openxmlformats.org/drawingml/2006/main" lang="en-US" sz="4400" i="1">
                      <a:latin typeface="Cambria Math"/>
                      <a:ea typeface="Cambria Math"/>
                      <a:cs typeface="Cambria Math"/>
                    </a:rPr>
                    <m:t>=</m:t>
                  </m:r>
                  <m:f>
                    <m:num>
                      <m:r>
                        <a:rPr xmlns:a="http://schemas.openxmlformats.org/drawingml/2006/main" lang="en-US" sz="4400" i="1"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lang="en-US" sz="4400" i="1">
                          <a:latin typeface="Cambria Math"/>
                          <a:ea typeface="Cambria Math"/>
                          <a:cs typeface="Cambria Math"/>
                        </a:rPr>
                        <m:t>𝑛</m:t>
                      </m:r>
                      <m:r>
                        <a:rPr xmlns:a="http://schemas.openxmlformats.org/drawingml/2006/main" lang="en-US" sz="4400" b="0" i="1">
                          <a:latin typeface="Cambria Math"/>
                          <a:ea typeface="Cambria Math"/>
                          <a:cs typeface="Cambria Math"/>
                        </a:rPr>
                        <m:t>−1</m:t>
                      </m:r>
                    </m:den>
                  </m:f>
                  <m:nary>
                    <m:naryPr>
                      <m:chr m:val="∑"/>
                      <m:subHide m:val="off"/>
                      <m:supHide m:val="off"/>
                    </m:naryPr>
                    <m:sub>
                      <m:r>
                        <a:rPr xmlns:a="http://schemas.openxmlformats.org/drawingml/2006/main" lang="en-US" sz="4400" i="1">
                          <a:latin typeface="Cambria Math"/>
                          <a:ea typeface="Cambria Math"/>
                          <a:cs typeface="Cambria Math"/>
                        </a:rPr>
                        <m:t>𝑖</m:t>
                      </m:r>
                      <m:r>
                        <a:rPr xmlns:a="http://schemas.openxmlformats.org/drawingml/2006/main" lang="en-US" sz="4400" i="1">
                          <a:latin typeface="Cambria Math"/>
                          <a:ea typeface="Cambria Math"/>
                          <a:cs typeface="Cambria Math"/>
                        </a:rPr>
                        <m:t>=1</m:t>
                      </m:r>
                    </m:sub>
                    <m:sup>
                      <m:r>
                        <a:rPr xmlns:a="http://schemas.openxmlformats.org/drawingml/2006/main" lang="en-US" sz="4400" i="1">
                          <a:latin typeface="Cambria Math"/>
                          <a:ea typeface="Cambria Math"/>
                          <a:cs typeface="Cambria Math"/>
                        </a:rPr>
                        <m:t>𝑛</m:t>
                      </m:r>
                    </m:sup>
                    <m:e>
                      <m:sSub>
                        <m:e>
                          <m:r>
                            <a:rPr xmlns:a="http://schemas.openxmlformats.org/drawingml/2006/main" lang="en-US" sz="4400" b="0" i="1">
                              <a:latin typeface="Cambria Math"/>
                              <a:ea typeface="Cambria Math"/>
                              <a:cs typeface="Cambria Math"/>
                            </a:rPr>
                            <m:t>(</m:t>
                          </m:r>
                          <m:r>
                            <a:rPr xmlns:a="http://schemas.openxmlformats.org/drawingml/2006/main" lang="en-US" sz="4400" i="1"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  <m:sub>
                          <m:r>
                            <a:rPr xmlns:a="http://schemas.openxmlformats.org/drawingml/2006/main" lang="en-US" sz="4400" i="1">
                              <a:latin typeface="Cambria Math"/>
                              <a:ea typeface="Cambria Math"/>
                              <a:cs typeface="Cambria Math"/>
                            </a:rPr>
                            <m:t>𝑖</m:t>
                          </m:r>
                        </m:sub>
                      </m:sSub>
                      <m:r>
                        <a:rPr xmlns:a="http://schemas.openxmlformats.org/drawingml/2006/main" lang="en-US" sz="4400" b="0" i="1"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</m:e>
                  </m:nary>
                </m:oMath>
              </m:oMathPara>
            </a14:m>
            <a:r>
              <a:rPr sz="4400"/>
              <a:t> </a:t>
            </a:r>
            <a14:m xmlns:a14="http://schemas.microsoft.com/office/drawing/2010/main">
              <m:oMathPara xmlns:m="http://schemas.openxmlformats.org/officeDocument/2006/math">
                <m:oMath>
                  <m:acc>
                    <m:accPr>
                      <m:chr m:val="̅"/>
                    </m:accPr>
                    <m:e>
                      <m:r>
                        <a:rPr xmlns:a="http://schemas.openxmlformats.org/drawingml/2006/main" lang="en-US" sz="4400" i="1">
                          <a:latin typeface="Cambria Math"/>
                          <a:ea typeface="Cambria Math"/>
                          <a:cs typeface="Cambria Math"/>
                        </a:rPr>
                        <m:t>𝑥</m:t>
                      </m:r>
                    </m:e>
                  </m:acc>
                  <m:sSup>
                    <m:e>
                      <m:r>
                        <a:rPr xmlns:a="http://schemas.openxmlformats.org/drawingml/2006/main" lang="en-US" sz="4400" b="0" i="1"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e>
                    <m:sup>
                      <m:r>
                        <a:rPr xmlns:a="http://schemas.openxmlformats.org/drawingml/2006/main" lang="en-US" sz="4400" b="0" i="1"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</m:sup>
                  </m:sSup>
                  <m:r>
                    <a:rPr xmlns:a="http://schemas.openxmlformats.org/drawingml/2006/main" lang="en-US" sz="4400" b="0" i="1">
                      <a:latin typeface="Cambria Math"/>
                      <a:ea typeface="Cambria Math"/>
                      <a:cs typeface="Cambria Math"/>
                    </a:rPr>
                    <m:t xml:space="preserve">, </m:t>
                  </m:r>
                  <m:r>
                    <a:rPr xmlns:a="http://schemas.openxmlformats.org/drawingml/2006/main" lang="en-US" sz="4400" b="0" i="1">
                      <a:latin typeface="Cambria Math"/>
                      <a:ea typeface="Cambria Math"/>
                      <a:cs typeface="Cambria Math"/>
                    </a:rPr>
                    <m:t>𝑠</m:t>
                  </m:r>
                  <m:r>
                    <a:rPr xmlns:a="http://schemas.openxmlformats.org/drawingml/2006/main" lang="en-US" sz="4400" b="0" i="1">
                      <a:latin typeface="Cambria Math"/>
                      <a:ea typeface="Cambria Math"/>
                      <a:cs typeface="Cambria Math"/>
                    </a:rPr>
                    <m:t>=</m:t>
                  </m:r>
                  <m:rad>
                    <m:radPr>
                      <m:degHide m:val="on"/>
                    </m:radPr>
                    <m:e>
                      <m:sSup>
                        <m:e>
                          <m:r>
                            <a:rPr xmlns:a="http://schemas.openxmlformats.org/drawingml/2006/main" lang="en-US" sz="4400" i="1">
                              <a:latin typeface="Cambria Math"/>
                              <a:ea typeface="Cambria Math"/>
                              <a:cs typeface="Cambria Math"/>
                            </a:rPr>
                            <m:t>𝑠</m:t>
                          </m:r>
                        </m:e>
                        <m:sup>
                          <m:r>
                            <a:rPr xmlns:a="http://schemas.openxmlformats.org/drawingml/2006/main" lang="en-US" sz="4400" i="1"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e>
                  </m:rad>
                  <m:r>
                    <a:rPr xmlns:a="http://schemas.openxmlformats.org/drawingml/2006/main" lang="en-US" sz="4400" b="0" i="1"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</m:oMath>
              </m:oMathPara>
            </a14:m>
            <a:endParaRPr/>
          </a:p>
        </p:txBody>
      </p:sp>
    </p:spTree>
    <p:extLst>
      <p:ext uri="{BB962C8B-B14F-4D97-AF65-F5344CB8AC3E}">
        <p14:creationId xmlns:p14="http://schemas.microsoft.com/office/powerpoint/2010/main" val="635330822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6FAF4CF-1881-41A5-A860-92EE785E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003447B-9220-4249-8848-0D7FC369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MATHEMATICAL FOUNDATION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6131E9D-CD9A-4656-BAC3-15B9E586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Z-score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6718C91-471D-403A-BDBD-9578A810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Standardisation expresses a value in sample standard-deviation units.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F31A2AF-125B-492E-B5CE-19612CFB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33CD2C7-D4CE-4A77-80B0-68D5BA84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73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4BCE268-4CA5-4D98-8581-3576B6A2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110871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pic>
        <p:nvPicPr>
          <p:cNvPr id="23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4ff8b14b6b48f1">
            <a:extLst>
              <a:ext uri="{96DAC541-7B7A-43D3-8B79-37D633B846F1}">
                <asvg:svgBlip xmlns:asvg="http://schemas.microsoft.com/office/drawing/2016/SVG/main" r:embed="Rbbc36c82b7c0488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6800" y="2533650"/>
            <a:ext cx="10058400" cy="857250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C254915-D76D-452C-A2E6-386CDEA7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DEFINITION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8AA960B-9FC7-415F-846A-1EBD484C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zᵢ measures the distance from the mean relative to the sample spread. It has no original measurement unit.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909B853-B78F-4B52-8353-CE6040D9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3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7978EE3-F7F5-4D41-9D40-E7AB4657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1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FINANCE EXAMPLE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D57ECF3-9295-485E-A35B-3B03323A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5770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 closing price with z = 2 lies two sample standard deviations above the sample mean.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30F0BE7-32C0-4AB7-87B1-1BF0A173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346" y="2286000"/>
            <a:ext cx="2984022" cy="1229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4000" b="0" i="1">
                          <a:latin typeface="Cambria Math"/>
                          <a:ea typeface="Cambria Math"/>
                          <a:cs typeface="Cambria Math"/>
                        </a:rPr>
                        <m:t>𝑧</m:t>
                      </m:r>
                    </m:e>
                    <m:sub>
                      <m:r>
                        <a:rPr xmlns:a="http://schemas.openxmlformats.org/drawingml/2006/main" lang="en-US" sz="4000" i="1">
                          <a:latin typeface="Cambria Math"/>
                          <a:ea typeface="Cambria Math"/>
                          <a:cs typeface="Cambria Math"/>
                        </a:rPr>
                        <m:t>𝑖</m:t>
                      </m:r>
                    </m:sub>
                  </m:sSub>
                  <m:r>
                    <a:rPr xmlns:a="http://schemas.openxmlformats.org/drawingml/2006/main" lang="en-US" sz="4000" b="0" i="1">
                      <a:latin typeface="Cambria Math"/>
                      <a:ea typeface="Cambria Math"/>
                      <a:cs typeface="Cambria Math"/>
                    </a:rPr>
                    <m:t xml:space="preserve">= </m:t>
                  </m:r>
                  <m:f>
                    <m:num>
                      <m:sSub>
                        <m:e>
                          <m:r>
                            <a:rPr xmlns:a="http://schemas.openxmlformats.org/drawingml/2006/main" lang="en-US" sz="4000" i="1"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  <m:sub>
                          <m:r>
                            <a:rPr xmlns:a="http://schemas.openxmlformats.org/drawingml/2006/main" lang="en-US" sz="4000" i="1">
                              <a:latin typeface="Cambria Math"/>
                              <a:ea typeface="Cambria Math"/>
                              <a:cs typeface="Cambria Math"/>
                            </a:rPr>
                            <m:t>𝑖</m:t>
                          </m:r>
                        </m:sub>
                      </m:sSub>
                      <m:r>
                        <a:rPr xmlns:a="http://schemas.openxmlformats.org/drawingml/2006/main" lang="en-US" sz="4000" i="1"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acc>
                        <m:accPr>
                          <m:chr m:val="̅"/>
                        </m:accPr>
                        <m:e>
                          <m:r>
                            <a:rPr xmlns:a="http://schemas.openxmlformats.org/drawingml/2006/main" lang="en-US" sz="4000" i="1"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</m:acc>
                      <m:r>
                        <a:rPr xmlns:a="http://schemas.openxmlformats.org/drawingml/2006/main" lang="en-US" sz="4000"/>
                        <m:t xml:space="preserve"> </m:t>
                      </m:r>
                    </m:num>
                    <m:den>
                      <m:r>
                        <a:rPr xmlns:a="http://schemas.openxmlformats.org/drawingml/2006/main" lang="en-US" sz="4000" b="0" i="1">
                          <a:latin typeface="Cambria Math"/>
                          <a:ea typeface="Cambria Math"/>
                          <a:cs typeface="Cambria Math"/>
                        </a:rPr>
                        <m:t>𝑠</m:t>
                      </m:r>
                    </m:den>
                  </m:f>
                </m:oMath>
              </m:oMathPara>
            </a14:m>
            <a:endParaRPr/>
          </a:p>
        </p:txBody>
      </p:sp>
    </p:spTree>
    <p:extLst>
      <p:ext uri="{BB962C8B-B14F-4D97-AF65-F5344CB8AC3E}">
        <p14:creationId xmlns:p14="http://schemas.microsoft.com/office/powerpoint/2010/main" val="1803835712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E729E7B-7E7E-4B4F-BA91-6BD53964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2D502DE-E57F-4DDD-9328-08103970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MATHEMATICAL FOUNDATION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576C0F1-F045-4171-8891-20072B37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Simple and log returns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0F17F54-A8BD-488E-8DCE-6EDDCA30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Price data are often converted into changes over time.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CA53F0A-5D8E-474B-892A-06BA110A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7A22C63-D236-4441-B3FA-D7403D33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74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FDF9398-1303-4F86-AA6C-969702EA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110871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412B763-FF03-4051-8BE4-462BA8C9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DEFINITION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6206968-95EC-4FFB-98B4-1AFE8148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Pₜ is the price at time t. Use one return definition consistently in a workflow.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EB5DA21-D3D4-4423-B4D3-EE1ECB9A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3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6626DB4-CD70-4216-ACDB-54A91204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1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FINANCE EXAMPLE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5AB503E-0AA6-46A2-AEAC-761D02BD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5770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first return is missing because the first price has no previous trading-day price.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02FFDDE-6E37-4939-8339-C33519CE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32457"/>
            <a:ext cx="3013710" cy="11307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3600" b="0" i="1">
                          <a:latin typeface="Cambria Math"/>
                          <a:ea typeface="Cambria Math"/>
                          <a:cs typeface="Cambria Math"/>
                        </a:rPr>
                        <m:t>𝑅</m:t>
                      </m:r>
                    </m:e>
                    <m:sub>
                      <m:r>
                        <a:rPr xmlns:a="http://schemas.openxmlformats.org/drawingml/2006/main" lang="en-US" sz="3600" b="0" i="1"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sub>
                  </m:sSub>
                  <m:r>
                    <a:rPr xmlns:a="http://schemas.openxmlformats.org/drawingml/2006/main" lang="en-US" sz="3600" b="0" i="1">
                      <a:latin typeface="Cambria Math"/>
                      <a:ea typeface="Cambria Math"/>
                      <a:cs typeface="Cambria Math"/>
                    </a:rPr>
                    <m:t>=</m:t>
                  </m:r>
                  <m:f>
                    <m:num>
                      <m:sSub>
                        <m:e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𝑃</m:t>
                          </m:r>
                        </m:e>
                        <m:sub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xmlns:a="http://schemas.openxmlformats.org/drawingml/2006/main" lang="en-US" sz="3600" b="0" i="1"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𝑃</m:t>
                          </m:r>
                        </m:e>
                        <m:sub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𝑡</m:t>
                          </m:r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−1</m:t>
                          </m:r>
                        </m:sub>
                      </m:sSub>
                    </m:num>
                    <m:den>
                      <m:sSub>
                        <m:e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𝑃</m:t>
                          </m:r>
                        </m:e>
                        <m:sub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𝑡</m:t>
                          </m:r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−1</m:t>
                          </m:r>
                        </m:sub>
                      </m:sSub>
                    </m:den>
                  </m:f>
                </m:oMath>
              </m:oMathPara>
            </a14:m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0B3F080-5045-4B9D-B8C8-F69D9048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977" y="2326816"/>
            <a:ext cx="2689134" cy="11307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3600" b="0" i="1">
                          <a:latin typeface="Cambria Math"/>
                          <a:ea typeface="Cambria Math"/>
                          <a:cs typeface="Cambria Math"/>
                        </a:rPr>
                        <m:t>𝑟</m:t>
                      </m:r>
                    </m:e>
                    <m:sub>
                      <m:r>
                        <a:rPr xmlns:a="http://schemas.openxmlformats.org/drawingml/2006/main" lang="en-US" sz="3600" b="0" i="1"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sub>
                  </m:sSub>
                  <m:r>
                    <a:rPr xmlns:a="http://schemas.openxmlformats.org/drawingml/2006/main" lang="en-US" sz="3600" b="0" i="1">
                      <a:latin typeface="Cambria Math"/>
                      <a:ea typeface="Cambria Math"/>
                      <a:cs typeface="Cambria Math"/>
                    </a:rPr>
                    <m:t>=</m:t>
                  </m:r>
                  <m:r>
                    <a:rPr xmlns:a="http://schemas.openxmlformats.org/drawingml/2006/main" lang="en-US" sz="3600" b="0" i="1">
                      <a:latin typeface="Cambria Math"/>
                      <a:ea typeface="Cambria Math"/>
                      <a:cs typeface="Cambria Math"/>
                    </a:rPr>
                    <m:t>𝑙𝑜𝑔</m:t>
                  </m:r>
                  <m:f>
                    <m:num>
                      <m:sSub>
                        <m:e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𝑃</m:t>
                          </m:r>
                        </m:e>
                        <m:sub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</m:num>
                    <m:den>
                      <m:sSub>
                        <m:e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𝑃</m:t>
                          </m:r>
                        </m:e>
                        <m:sub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𝑡</m:t>
                          </m:r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−1</m:t>
                          </m:r>
                        </m:sub>
                      </m:sSub>
                    </m:den>
                  </m:f>
                </m:oMath>
              </m:oMathPara>
            </a14:m>
            <a:endParaRPr/>
          </a:p>
        </p:txBody>
      </p:sp>
    </p:spTree>
    <p:extLst>
      <p:ext uri="{BB962C8B-B14F-4D97-AF65-F5344CB8AC3E}">
        <p14:creationId xmlns:p14="http://schemas.microsoft.com/office/powerpoint/2010/main" val="1854722368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DD2A6B2-D191-45B3-BED7-33B1D47F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F97DA8B-1EAC-4251-BF48-C9B03457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RETURNS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847C2E8-274A-4B75-BCA1-B92B4783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return is a change relative to a previous price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343EB5C-1B9A-41D4-910A-ACFCA178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denominator determines the scale of the reported change.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5AD6B5F-7C3E-4365-8CB7-EC59C863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E7C8F86-E2D8-440B-949A-5A1F61CF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75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7917206-1A7C-44A2-9742-7B66AB63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E6ECF96-0E26-42CE-8ED3-CB41AA20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SIMPLE RETURN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0B4BF93-561A-4FF5-BD9B-3C3196FC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simple return is easy to interpret as a percentage change and is often used for portfolio wealth calculations.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2024A02-7F53-4AD3-B3C8-3C184EA9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A5A7DDE-84DA-4CAD-BF0C-0D958512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LOG RETURN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37A9111-D3F0-4CC6-A2F7-3D5E657D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log return is additive across time under standard assumptions, which can simplify some statistical calculations.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E5A5E31-D7E7-4537-BE98-C399EA3F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6FEC110-6FED-4A64-906C-38C41BBA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Choose the definition before computing summaries and keep the choice consistent.</a:t>
            </a:r>
          </a:p>
        </p:txBody>
      </p:sp>
    </p:spTree>
    <p:extLst>
      <p:ext uri="{BB962C8B-B14F-4D97-AF65-F5344CB8AC3E}">
        <p14:creationId xmlns:p14="http://schemas.microsoft.com/office/powerpoint/2010/main" val="1138627725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8048776-285D-438C-8E57-6F15504E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CBF507C-143A-40AF-A3F0-2BDF280F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C65D0C5-6DED-4163-97FA-DBC8A970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Calculate returns from the public prices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9912DE1-BE01-41C4-BC09-3D8834A2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first row becomes missing by construction because no lagged price exists.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A355AA6-77A4-42D7-9310-5580CA64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8C1BCE3-13F6-4A58-B74E-8FC1EDBF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76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3B9BB75-27DA-4B95-982A-89A3DACF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8F45EEA-D88C-433D-B559-A70B16D4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820AB76-9A48-44C9-8D48-F3D441CC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prices["simple_return"] = prices["close"].pct_change()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prices["log_return"] = np.log(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prices["close"] / prices["close"].shift(1)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)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print(prices[["date", "simple_return"]].head())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AF3773-E5FE-4064-BAB8-C149E53E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0ED8330-F04F-469F-ABE6-DFF8688B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777C073-8697-4F60-A361-911665CC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4852E3F-8BD3-4E30-AB81-270DD967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date       simple_return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2015-02-17        NaN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2015-02-18     0.0067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...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4648346-DD81-4BE0-9B78-1F5DAD3F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650871F-82A5-444C-8F99-05946E81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61ADEA4-934F-428E-8B36-F51F3FBA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missing first observation is a consequence of the definition, not automatically a data error.</a:t>
            </a:r>
          </a:p>
        </p:txBody>
      </p:sp>
    </p:spTree>
    <p:extLst>
      <p:ext uri="{BB962C8B-B14F-4D97-AF65-F5344CB8AC3E}">
        <p14:creationId xmlns:p14="http://schemas.microsoft.com/office/powerpoint/2010/main" val="2111487136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60BE9EF-6C57-4608-B4C2-E2EC3AC2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8568ED8-CD12-444A-93CD-070FA94D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MATHEMATICAL FOUNDATION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344D3D1-D154-4D6A-ACED-2A8607F1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Correlation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EB708C0-E23F-40FB-B43B-CEEED125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Correlation rescales covariance to a unit-free measure.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9A5A662-9D74-463D-8AD3-3B565E2C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5D210E4-4F76-4E57-9451-1BD2AD25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77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E75977F-D598-4B6A-B18C-DC9202C2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110871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7E14D15-52E1-474F-8339-B1ADD21A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DEFINITION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7C21DA1-CEB3-46E2-ACD0-C329861F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Correlation lies between −1 and +1 when both standard deviations are positive.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EF89E2A-EFE0-4122-AC3F-D803C65B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3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C23161A-3531-4BE9-B1BD-DCE1750F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1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FINANCE EXAMPLE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6080B80-90E5-4E6D-BA92-28BDB455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5770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 high correlation between price and volume may indicate co-movement. It does not establish causality.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8DB57CA-99A4-4B05-A224-A06C2E73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491" y="2366474"/>
            <a:ext cx="5002460" cy="12106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xmlns:a="http://schemas.openxmlformats.org/drawingml/2006/main" lang="en-US" sz="3600" b="0" i="1">
                      <a:latin typeface="Cambria Math"/>
                      <a:ea typeface="Cambria Math"/>
                      <a:cs typeface="Cambria Math"/>
                    </a:rPr>
                    <m:t>𝐶𝑜𝑟𝑟</m:t>
                  </m:r>
                  <m:d>
                    <m:dPr>
                      <m:grow m:val="off"/>
                    </m:dPr>
                    <m:e>
                      <m:r>
                        <a:rPr xmlns:a="http://schemas.openxmlformats.org/drawingml/2006/main" lang="en-US" sz="3600" b="0" i="1">
                          <a:latin typeface="Cambria Math"/>
                          <a:ea typeface="Cambria Math"/>
                          <a:cs typeface="Cambria Math"/>
                        </a:rPr>
                        <m:t>𝑋</m:t>
                      </m:r>
                      <m:r>
                        <a:rPr xmlns:a="http://schemas.openxmlformats.org/drawingml/2006/main" lang="en-US" sz="3600" b="0" i="1"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xmlns:a="http://schemas.openxmlformats.org/drawingml/2006/main" lang="en-US" sz="3600" b="0" i="1">
                          <a:latin typeface="Cambria Math"/>
                          <a:ea typeface="Cambria Math"/>
                          <a:cs typeface="Cambria Math"/>
                        </a:rPr>
                        <m:t>𝑌</m:t>
                      </m:r>
                    </m:e>
                  </m:d>
                  <m:r>
                    <a:rPr xmlns:a="http://schemas.openxmlformats.org/drawingml/2006/main" lang="en-US" sz="3600" b="0" i="1">
                      <a:latin typeface="Cambria Math"/>
                      <a:ea typeface="Cambria Math"/>
                      <a:cs typeface="Cambria Math"/>
                    </a:rPr>
                    <m:t xml:space="preserve">= </m:t>
                  </m:r>
                  <m:f>
                    <m:num>
                      <m:r>
                        <a:rPr xmlns:a="http://schemas.openxmlformats.org/drawingml/2006/main" lang="en-US" sz="3600" b="0" i="1">
                          <a:latin typeface="Cambria Math"/>
                          <a:ea typeface="Cambria Math"/>
                          <a:cs typeface="Cambria Math"/>
                        </a:rPr>
                        <m:t>𝐶𝑂𝑉</m:t>
                      </m:r>
                      <m:r>
                        <a:rPr xmlns:a="http://schemas.openxmlformats.org/drawingml/2006/main" lang="en-US" sz="3600" b="0" i="1"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xmlns:a="http://schemas.openxmlformats.org/drawingml/2006/main" lang="en-US" sz="3600" b="0" i="1">
                          <a:latin typeface="Cambria Math"/>
                          <a:ea typeface="Cambria Math"/>
                          <a:cs typeface="Cambria Math"/>
                        </a:rPr>
                        <m:t>𝑋</m:t>
                      </m:r>
                      <m:r>
                        <a:rPr xmlns:a="http://schemas.openxmlformats.org/drawingml/2006/main" lang="en-US" sz="3600" b="0" i="1"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xmlns:a="http://schemas.openxmlformats.org/drawingml/2006/main" lang="en-US" sz="3600" b="0" i="1">
                          <a:latin typeface="Cambria Math"/>
                          <a:ea typeface="Cambria Math"/>
                          <a:cs typeface="Cambria Math"/>
                        </a:rPr>
                        <m:t>𝑌</m:t>
                      </m:r>
                      <m:r>
                        <a:rPr xmlns:a="http://schemas.openxmlformats.org/drawingml/2006/main" lang="en-US" sz="3600" b="0" i="1"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num>
                    <m:den>
                      <m:sSub>
                        <m:e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𝑠</m:t>
                          </m:r>
                        </m:e>
                        <m:sub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sub>
                      </m:sSub>
                      <m:sSub>
                        <m:e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𝑠</m:t>
                          </m:r>
                        </m:e>
                        <m:sub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𝑦</m:t>
                          </m:r>
                        </m:sub>
                      </m:sSub>
                    </m:den>
                  </m:f>
                </m:oMath>
              </m:oMathPara>
            </a14:m>
            <a:endParaRPr/>
          </a:p>
        </p:txBody>
      </p:sp>
    </p:spTree>
    <p:extLst>
      <p:ext uri="{BB962C8B-B14F-4D97-AF65-F5344CB8AC3E}">
        <p14:creationId xmlns:p14="http://schemas.microsoft.com/office/powerpoint/2010/main" val="1035754758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071A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C10585F-F25F-4799-A242-B0FCB7E9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5FA17BF-D413-409F-AD7F-A0895308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800100"/>
            <a:ext cx="3143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0" b="1" i="0">
                <a:solidFill>
                  <a:srgbClr val="102D49"/>
                </a:solidFill>
                <a:latin typeface="Aptos"/>
                <a:ea typeface="Aptos"/>
                <a:cs typeface="Aptos"/>
              </a:defRPr>
            </a:pPr>
            <a:r>
              <a:rPr sz="12750" b="1" i="0">
                <a:solidFill>
                  <a:srgbClr val="102D4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813B4A-726E-43CB-A820-4E0D6F22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7951CC7-97F5-49A6-B910-11ABD144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PART 5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DE74FD4-A89C-46A7-BB3A-6C2EA7CF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Visualising financial data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F9B1672-CA72-4B32-9EA1-F8CEE45E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BFD0D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BFD0DF"/>
                </a:solidFill>
                <a:latin typeface="Aptos"/>
                <a:ea typeface="Aptos"/>
                <a:cs typeface="Aptos"/>
              </a:rPr>
              <a:t>Charts reveal structure that tables can hide when the axes and units are clear.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229D6E5-DDCD-40D3-B4EF-AD68A66A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3CFCFC1-039F-4D96-A7AE-7C43EFE3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72DAD48-B136-47BC-A866-1B5F6BCA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78</a:t>
            </a:r>
          </a:p>
        </p:txBody>
      </p:sp>
    </p:spTree>
    <p:extLst>
      <p:ext uri="{BB962C8B-B14F-4D97-AF65-F5344CB8AC3E}">
        <p14:creationId xmlns:p14="http://schemas.microsoft.com/office/powerpoint/2010/main" val="1640704322"/>
      </p:ext>
    </p:extLst>
  </p:cSld>
</p:sld>
</file>

<file path=ppt/slides/slide8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51DC91-DC93-4BAD-81ED-CBDEB1E8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DAF84-33C4-410C-B54A-FEE411FB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VISUALISATION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C524F8-2FA5-499D-A4C2-F73B5671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6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Apple closing-price distribution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7F283-05EE-496F-B249-0679FFAC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The histogram shows how many trading days fall inside each price interval.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85800" y="2076450"/>
          <a:ext xmlns:a="http://schemas.openxmlformats.org/drawingml/2006/main" cx="108204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b51e99a674405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B563B-FAA8-46D0-8260-4496C29B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solidFill>
              <a:srgbClr val="EAF7F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B78A2-F710-4A95-83ED-D84F2177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9775"/>
            <a:ext cx="1043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A9D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2A9D70"/>
                </a:solidFill>
                <a:latin typeface="Bitstream Charter"/>
                <a:ea typeface="Bitstream Charter"/>
                <a:cs typeface="Bitstream Charter"/>
              </a:rPr>
              <a:t>Interpretation: the distribution describes the observed sample. It does not preserve the order of time and does not forecast future prices.</a:t>
            </a:r>
          </a:p>
        </p:txBody>
      </p:sp>
    </p:spTree>
    <p:extLst>
      <p:ext uri="{BB962C8B-B14F-4D97-AF65-F5344CB8AC3E}">
        <p14:creationId xmlns:p14="http://schemas.microsoft.com/office/powerpoint/2010/main" val="1176496188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9472CD4-7C28-449B-855C-8760A1DE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D0422B8-9B58-446C-98A7-A9447512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VISUALISATION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A73510A-E82C-4BF3-B69A-EAB149B2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chart answers a question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412E0A2-95D9-4094-AE33-85EB235E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Use the chart type that matches the analytical question.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D4CC2AC-4069-489A-B8CA-4366F81D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93BA282-69A7-4F90-8B44-FD3755C1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79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10A08BC-E141-4EFA-A1B8-158F4F8B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22098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A0BE3EB-0A2F-4674-9266-62B2A603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2209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05DA582-5C91-4633-8F8D-E276B0BD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DISTRIBUTION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79529FC-B94A-4B75-A24B-A0416ADE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How are values spread?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6DBD467-E369-465A-B7C7-FDE9D416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Histogram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D074F74-BFE4-4151-A038-6F0C7A1E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09850"/>
            <a:ext cx="22098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334FC7C-AA6C-428D-B634-06CF08FA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09850"/>
            <a:ext cx="2209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96BDCE4-3DD8-4046-9E44-75476F47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908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COMPARISON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B883AE0-C020-47FC-B38B-F4AC05A2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4290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How do groups differ?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39AD7FA-8272-43CF-96C9-58DF8AB3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386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Bar chart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9AB5A84-B010-4A00-AD2D-0D586FEA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09850"/>
            <a:ext cx="22098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993ABF06-8101-4E2A-89AC-A595D39D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09850"/>
            <a:ext cx="2209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15510379-4A56-46EC-93B8-766F3747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908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RELATIONSHIP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996BCA2-05D4-4312-9DFF-B58B1628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290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Do two variables move together?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66B7BBCD-353B-479A-9621-76CD9E72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386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Scatter plot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00486529-F46A-4751-8625-F6139E67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09850"/>
            <a:ext cx="22098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1D1E3BF8-FE30-476D-BAA2-16854F2E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09850"/>
            <a:ext cx="2209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4A4E1D0-538D-42F8-B2BC-8034AA4A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908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TIME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14FA468B-99BE-48FB-A4EC-388EB2C2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290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How does a value change?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09A595C-ACFA-4F8F-81F4-DB61190B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386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Line chart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43A34C95-D731-48FC-B90D-2BD9FEEB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1087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242494CB-C5FA-4406-9936-EE434F6A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1070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Label the variable, unit, time period, and transformation.</a:t>
            </a:r>
          </a:p>
        </p:txBody>
      </p:sp>
    </p:spTree>
    <p:extLst>
      <p:ext uri="{BB962C8B-B14F-4D97-AF65-F5344CB8AC3E}">
        <p14:creationId xmlns:p14="http://schemas.microsoft.com/office/powerpoint/2010/main" val="1928168540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EDDD5FC-DF0F-4EAA-8990-74ED36DA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549D3E0-F889-40B9-9282-16AAA77B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DD7EAE6-681B-45DC-AA87-20AC89D3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first histogram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208A30E-7A6E-4A2D-9B8E-FD69AFD4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 histogram shows the distribution of observed closing prices.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415B62F-0350-472E-9C37-6C963E7D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5CACC12-EF12-4A03-9526-D9FFAC32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80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7DC8D80-507C-428C-A87D-2AA42CCA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94E2F54-B98F-4B43-BD85-E95D831D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C97C399-7426-4B87-AED7-6B6BC461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plt.figure(figsize=(8, 4))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plt.hist(prices["close"].dropna(), bins=30,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     color="#1B6FB8", alpha=0.85)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plt.xlabel("Apple closing price")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plt.ylabel("Trading days")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plt.title("Distribution of closing prices")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plt.show()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ED5F8AE-E45B-46F0-8E01-E87C8E6A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FC3960-DADF-42B3-879D-48D91E70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2873E3D-5150-4504-9274-7534C507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E403B16-B6D8-4741-ACD7-07C87952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Histogram of Apple closing prices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4885336-8974-4FB9-9BE7-F111F30A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51EEEF8-AD7C-4AB6-AAB7-BB8AFA4A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64F27B8-35F6-44AF-B50D-991F9FA2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chart shows the sample distribution. It does not show the order of time, so it cannot reveal a trend.</a:t>
            </a:r>
          </a:p>
        </p:txBody>
      </p:sp>
    </p:spTree>
    <p:extLst>
      <p:ext uri="{BB962C8B-B14F-4D97-AF65-F5344CB8AC3E}">
        <p14:creationId xmlns:p14="http://schemas.microsoft.com/office/powerpoint/2010/main" val="296556397"/>
      </p:ext>
    </p:extLst>
  </p:cSld>
</p:sld>
</file>

<file path=ppt/slides/slide8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111CDB-9FC3-48F7-AB68-08331990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5FC0B-1711-49FC-9ED1-F9F15659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VISUALISATION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3B797E-8318-4C4D-9608-AEA84461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6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Apple closing price over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4FDEC-CDE8-4333-B727-0DFA3E9A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The line chart preserves the date order that a histogram removes.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85800" y="2076450"/>
          <a:ext xmlns:a="http://schemas.openxmlformats.org/drawingml/2006/main" cx="108204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612da66ce034f6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F585B-4D30-48DD-9FEF-7F1D5F3B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solidFill>
              <a:srgbClr val="EAF7F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A259E4-73FA-4FF8-85CD-00479C2E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9775"/>
            <a:ext cx="1043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A9D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2A9D70"/>
                </a:solidFill>
                <a:latin typeface="Bitstream Charter"/>
                <a:ea typeface="Bitstream Charter"/>
                <a:cs typeface="Bitstream Charter"/>
              </a:rPr>
              <a:t>Interpretation: time order makes trends, clusters, and sudden changes visible. A price chart alone is not an investment return series.</a:t>
            </a:r>
          </a:p>
        </p:txBody>
      </p:sp>
    </p:spTree>
    <p:extLst>
      <p:ext uri="{BB962C8B-B14F-4D97-AF65-F5344CB8AC3E}">
        <p14:creationId xmlns:p14="http://schemas.microsoft.com/office/powerpoint/2010/main" val="1225283486"/>
      </p:ext>
    </p:extLst>
  </p:cSld>
</p:sld>
</file>

<file path=ppt/slides/slide8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0007A9-1B52-409E-A490-1CE4BD01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32F00-311D-46B1-BCD4-236AFCF5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VISUALISATION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A62C1-E789-492D-8330-F570AB93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6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Apple price and trading volume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E5577-D57E-4B44-A115-4A840720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The scatter plot compares daily activity with the closing price.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85800" y="2076450"/>
          <a:ext xmlns:a="http://schemas.openxmlformats.org/drawingml/2006/main" cx="108204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7c5101946b44c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8A57A3-2640-4886-8D46-027F440F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solidFill>
              <a:srgbClr val="EAF7F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6E52A-59D0-4D8E-AF61-71E019F1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9775"/>
            <a:ext cx="1043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A9D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2A9D70"/>
                </a:solidFill>
                <a:latin typeface="Bitstream Charter"/>
                <a:ea typeface="Bitstream Charter"/>
                <a:cs typeface="Bitstream Charter"/>
              </a:rPr>
              <a:t>Interpretation: inspect clusters and unusual observations before calculating correlation. A visible relationship does not establish causality.</a:t>
            </a:r>
          </a:p>
        </p:txBody>
      </p:sp>
    </p:spTree>
    <p:extLst>
      <p:ext uri="{BB962C8B-B14F-4D97-AF65-F5344CB8AC3E}">
        <p14:creationId xmlns:p14="http://schemas.microsoft.com/office/powerpoint/2010/main" val="1706781652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1E07EA4-F61D-4C15-AE01-82E4536A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215CE40-F0D7-45DB-A367-DE34F6AD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397FE3E-B8C3-4E77-B03A-441034E4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Compare annual average prices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FCEEDA1-2C9B-4708-8EE3-608C310C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Group first, then visualise the group summary.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B9290AC-F18E-4A16-B158-6FA6D9DB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047C98C-6DAA-4162-B85E-EE5BD616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81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D95B67D-FF28-4155-882A-59C15226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47FFF0F-27AB-4FEB-BD02-B800593A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E99644F-C2F6-4C39-92A7-47BCE157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prices["year"] = prices["date"].dt.year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annual_close = prices.groupby("year")["close"].mean()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annual_close.plot(kind="bar", color="#10AFC0")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plt.ylabel("Average closing price")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plt.xlabel("Year")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plt.title("Average Apple closing price by year")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plt.show()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111E314-5873-459E-88FC-140AE6AA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5ED4F12-5FD9-4136-93CC-227586E0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7C20BD9-0EF0-4DA3-95D4-0C2BC9FA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48F401D-987E-47E7-ABE3-1678A591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Bar chart with one average per year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741F3AB-3811-434C-B399-CB2C61A0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DE91802-2853-4086-9A84-DC13333B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D54D4B6-0BA7-464A-B533-A28360D2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denominator is the number of trading days in each year. The average is descriptive, not a forecast.</a:t>
            </a:r>
          </a:p>
        </p:txBody>
      </p:sp>
    </p:spTree>
    <p:extLst>
      <p:ext uri="{BB962C8B-B14F-4D97-AF65-F5344CB8AC3E}">
        <p14:creationId xmlns:p14="http://schemas.microsoft.com/office/powerpoint/2010/main" val="1008786595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1AC71D8-A05A-4ABB-8DCB-8816CA62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87B14EC-F3D4-45DB-840C-EAB13106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BF182E9-8469-4ACF-95C6-40677977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Plot the time order explicitly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AEAB652-07FB-4D81-ABCE-84387A88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 line chart preserves the order that a histogram removes.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E862CEB-AE93-4D45-9AB7-5CE5CAF1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3E2491C-9C6B-40DE-A7F4-8B62C86E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82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43A960E-7B59-412F-BD02-062AEC11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4636337-158F-458D-9025-7BC97DB3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578B428-B5A2-4CDC-93AF-12D5FE7A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plt.figure(figsize=(9, 4))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plt.plot(prices["date"], prices["close"],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     color="#1B6FB8", linewidth=1.5)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plt.xlabel("Date")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plt.ylabel("Apple closing price")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plt.title("Apple closing price over time")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plt.tight_layout()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plt.show()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C4C4632-E641-4C21-B193-098DF5F1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E913A18-4831-41DC-9829-CF78CA93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C8150-3EEF-46C4-B7F5-F0DA4CFD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19037E3-5909-442B-8864-7ADAB855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Line chart with date on the horizontal axis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FA3DE95-15F1-4019-B439-81FD7160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0260A08-30AE-491D-A1FF-F48679B9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D734755-82F4-4228-AC62-FF2FE42D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Time order makes changes and clusters visible, but a price chart alone does not measure investment performance.</a:t>
            </a:r>
          </a:p>
        </p:txBody>
      </p:sp>
    </p:spTree>
    <p:extLst>
      <p:ext uri="{BB962C8B-B14F-4D97-AF65-F5344CB8AC3E}">
        <p14:creationId xmlns:p14="http://schemas.microsoft.com/office/powerpoint/2010/main" val="1319403205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1D3D367-F27A-47EB-A87A-A110494D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638B2A8-C76F-476E-B66A-D3C9B342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FE96AA3-CEC9-4F0A-82D3-44A9F23D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Inspect price and volume together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B492176-4FCB-4927-9A34-70A27CA2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 scatter plot can reveal clusters and nonlinear patterns.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B381ED6-5BF2-48BA-BA29-D7F13116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E9D0B02-ACE9-4EB6-8FDF-43A99B2D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83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059826E-CBF0-4F2A-A557-B080A987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95248D9-B2BC-4353-9082-4878B628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1FE8689-9991-4502-A6D5-697972DE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plt.scatter(prices["volume"], prices["close"],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        alpha=0.35, color="#1B6FB8")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plt.xlabel("Trading volume")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plt.ylabel("Closing price")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plt.title("Apple price and volume")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plt.show()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66A37A2-69DC-4643-A27D-E2F65869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0FD77E6-CCED-4F6E-BC48-5DED7552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59F3C29-9D19-4305-A357-8A89267D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785A3EC-727D-4AA8-9DF4-E743E18B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Scatter plot with trading days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44BAAE6-46B8-46A5-AAED-A6BD1884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01BC864-919D-4B49-8604-EFD82C1D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6E6367F-CE83-4CA9-BF7E-245E17F4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Look for clusters, unusual points, and changes in the relationship. The plot alone cannot establish a causal effect.</a:t>
            </a:r>
          </a:p>
        </p:txBody>
      </p:sp>
    </p:spTree>
    <p:extLst>
      <p:ext uri="{BB962C8B-B14F-4D97-AF65-F5344CB8AC3E}">
        <p14:creationId xmlns:p14="http://schemas.microsoft.com/office/powerpoint/2010/main" val="635674286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54753B5-3D11-42E4-8B72-EF57910C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D8243BC-BDDC-4E60-93A6-F71D114B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VISUAL AUDIT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D96D5B6-A942-4DBE-94C9-D587E5D5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axis is part of the evidence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71288D5-C1C5-4931-8580-D43320C4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An attractive chart can still communicate the wrong conclusion.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DD780E7-381A-4EE3-A1D2-A7E4FD62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2927A97-8BB3-476B-BE5A-40C8B02A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84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826B20C-7069-4A20-A144-4F11FC76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3321065-CE85-4022-A9F6-676D1898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MINIMUM STANDARD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24EAC80-4405-490E-AF91-FCECAF13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Label the variable, unit, time period, sample, and transformation.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646E033-0F6C-488A-A258-259C8FBD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18A0797-FA50-491B-9466-C88C4E90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BEFORE INTERPRETING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AF54E58-BDE4-4DBE-99CB-EF4953F0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Ask whether a different scale, denominator, or time window would change the visible pattern.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D9E5203-2F4A-4B96-9373-6D469CC6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F1DA0D5-01EB-4F52-B2EF-F061C996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Visual clarity should increase scrutiny.</a:t>
            </a:r>
          </a:p>
        </p:txBody>
      </p:sp>
    </p:spTree>
    <p:extLst>
      <p:ext uri="{BB962C8B-B14F-4D97-AF65-F5344CB8AC3E}">
        <p14:creationId xmlns:p14="http://schemas.microsoft.com/office/powerpoint/2010/main" val="210030799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35FFFA4-864F-49D9-B173-8D2CDD10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3DE2F15-088B-47EC-A433-FBC27429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VISUAL AUDIT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9FE4D58-18FB-49BF-872C-79F28930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chart answers one question at a time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B0C5036-D913-4BEB-908D-9BF2FD53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visual form should follow the analytical purpose.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39E84BE-4F44-4C62-9985-49686FB5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AA4AB6D-77A3-4757-9E2F-D3F53331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85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C926DF1-24E8-4C97-A586-7E030FCD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D418CEB-C44A-4EEA-9894-AF22928B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DISTRIBUTION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49ED558-0985-42A1-AD96-50B7A18E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Use a histogram or box plot to study spread, skewness, and unusual observations.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6D9196D-4B1B-453A-9CB4-B7F2361D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4A9D8F8-55D4-46BC-8596-D893B8B4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COMPARISON OR TIME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EC0C04B-EBB8-4075-AEA2-8B47BB9E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Use a bar chart for grouped summaries and a line chart when order over time matters.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CBCFC41-9704-462C-8F04-46A1E8FD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C49307F-BFBB-419D-8AC6-5D34A6CE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chart becomes evidence only when the reader knows what question it answers.</a:t>
            </a:r>
          </a:p>
        </p:txBody>
      </p:sp>
    </p:spTree>
    <p:extLst>
      <p:ext uri="{BB962C8B-B14F-4D97-AF65-F5344CB8AC3E}">
        <p14:creationId xmlns:p14="http://schemas.microsoft.com/office/powerpoint/2010/main" val="1044542509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BD8CE222-E073-4E4A-B308-EA16402D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5A55939-0962-40A6-95EA-EFABA97D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DATASET DOCUMENTATION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C90534A-E7EB-48D6-878F-182642AE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Apple teaching data: variable dictionary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368DD01-1C85-407D-A04F-18983601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These 11 source columns come from the public Plotly teaching file. The Week 1 notebook uses the three fields marked as primary.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6207A19-317A-46B0-8BE3-4DDE1886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23C324F-BD47-44B9-BD6E-EBFDFB6F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86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8D9ABCD-338D-4B9B-BAE5-8B666B63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51054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9CC06A6-A268-4C95-98F3-7364B5FD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5105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5326BFE-7F58-4E43-B175-8310607F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80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Market fields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011F874-2E91-479E-86AF-46CEF12D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051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3858C39-EF0F-44F4-982B-FE6559EB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Date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72C93FE-CDAD-4905-8013-C124B544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622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Trading date; one row is one daily market observation.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9846DBB-87C9-4B3E-9CE7-EE33D021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216FF3C-3806-4551-BEA6-596A5B0F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AAPL.Open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C2429F7-A942-47DD-9866-FE0B7539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004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Apple opening price for that trading day.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91A85DD-3C9C-40A6-A322-CCA45785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14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9D1006E-1220-4B83-9467-9CEE6169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AAPL.High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6C96CE1-7E67-4122-8B41-A1A61DAF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385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Highest reported Apple price during the trading day.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1972CC2A-DD1A-4799-BEAB-5143582A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D8B7D7CE-2263-4007-8C6B-1E1F4A0D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AAPL.Low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5DCFF8D-DF80-4E78-A5AB-BA13A38B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767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Lowest reported Apple price during the trading day.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F39A2F6-A279-4885-BB5B-B8D94D56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D3C3F1FC-8F63-41C7-91CB-96841201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AAPL.Close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5FDD68C6-B187-4D8E-8836-6DA23777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148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Apple closing price; primary price field in Week 1.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93B858F-9AC9-4388-AEFF-6EAACFE8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9585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11649459-EE79-49D2-A6DD-258906DA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AAPL.Volume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A28F7E4E-670A-47AE-AFD9-31F9C5F5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9530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Number of shares traded; primary activity field in Week 1.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21ACDEA-DFC2-4CB3-89C3-2056D26C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51054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34C812B0-10E5-4B6E-BDAE-8D3D695A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510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9DBAC244-8C62-4F1B-AE2B-BDE27925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480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Source-derived fields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B8F9D63B-D64C-404C-A8EE-B00E5293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5678E2E5-F85C-4C34-896E-02A4E4E4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717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AAPL.Adjusted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132A7E32-085E-4BBE-9A1C-5C7179B4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622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Adjusted close supplied by the source; check its definition before use.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4A8F1FFA-57A3-42D8-B350-84B98DD5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4325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E3E7B187-21FC-4A2F-B680-28A70DAC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dn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C4240A65-275A-4E35-AAAF-FFF68B66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004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Lower chart-band value supplied by the source file.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453E9A1D-856D-4F4B-9446-002D769C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814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6969F81D-D6D9-4FCC-897E-E08BAC99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480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mavg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12182AFA-5C3D-4AD6-95C3-FB76BBB2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385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Moving-average value supplied by the source file.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BB736C3F-EBCA-4B59-BF5B-8914F9AD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1955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C20D4F34-0A44-48AF-AABF-21C6B994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862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up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030EBD85-1954-42BF-9733-58DF5DD7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767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Upper chart-band value supplied by the source file.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2325F7C5-6572-428B-B6EC-A3D98AF5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577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336787C5-8E61-440E-B775-AAB10194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243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direction</a:t>
            </a:r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41847252-A5C8-4C62-969C-57FAC38E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148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Direction label supplied by the source; do not assume its coding without checking.</a:t>
            </a:r>
          </a:p>
        </p:txBody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D97A1A91-3EAA-475A-B687-96D6EA65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11087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C78AED24-6EDE-4655-9079-9F32FA12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70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Source: plotly/datasets finance-charts-apple.csv | 506 rows | one daily Apple observation | https://github.com/plotly/datasets</a:t>
            </a:r>
          </a:p>
        </p:txBody>
      </p:sp>
    </p:spTree>
    <p:extLst>
      <p:ext uri="{BB962C8B-B14F-4D97-AF65-F5344CB8AC3E}">
        <p14:creationId xmlns:p14="http://schemas.microsoft.com/office/powerpoint/2010/main" val="1877031865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F7D22215-4279-44CC-8BFD-04F09E56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D6D0C47-B6D3-40B5-B70E-401FA821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DATASET DOCUMENTATION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50FAB6D-9575-4099-B34E-348C7621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UCI credit data: dataset identity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31EC926-08A6-478C-8063-9DCAAB5F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This is a real supervised classification dataset, not a fabricated sample. Document the target before calculating any model metric.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C6CE221-7366-4196-8F4A-D4801EDA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EF7917B-B597-4F5F-B360-CFFF3059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87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C040FA1-6150-4CA0-873C-73736255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51054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EB84D81-01E4-41AF-8D99-15F9CAB7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5105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554050C-8EFD-49EA-B0B1-396A1F3D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80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one row represents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5769FB6-E41E-4838-A18D-EBB24A15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051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FC5DCC0-9AFB-404E-91BE-D8309E20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Observation unit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15344C2-CFDD-437E-AA34-4C3D1C84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622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One credit-card client record.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A2E9F96-855F-427D-B7FB-DA67355E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D00C955-9C18-43D3-A95B-71445B52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Sample size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CA2CE22-4ED2-4B1C-8A99-A6949A4A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004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30,000 records and 23 explanatory features.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0933003-8315-4B38-A798-A2BF19AF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14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1F74A76-7D79-4B40-AFF4-7C19FFED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Target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3BCA172-6198-4BBF-85D1-A6263A1C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385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default payment next month: 1 = default, 0 = no default.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937F904-51E0-4F0B-8288-D305E1D7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013F4A5-94E0-4CCE-BFEE-C7FF384E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Class counts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C51C0B8-BB97-43F1-9D47-0356892B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767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23,364 non-defaults and 6,636 defaults in the included CSV.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83A351D5-A9E3-40E7-8F8A-A3BBA0A5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8B7C72A-4E1B-413E-AF1B-900F05BE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Feature types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E923DDAC-15DB-4002-8D7A-821E9643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148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Integer and real-valued fields; several integers are coded categories.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CD6ECE82-C2A5-4E36-9D74-D66022ED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9585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BDAA8827-2B16-4A39-8C55-E881F073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Missing values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DFC3EA5-7A98-4512-A5A1-CAFB0649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9530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UCI documentation reports no missing values in the source dataset.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BFAA14BA-01A6-4B03-AD37-7187F7FF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51054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46DBCAA-F1E5-40BA-A75D-0E956193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510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C258D4F-AF12-477B-B22D-640E7588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480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Provenance and responsible use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AA70CAAE-877B-4024-A8C0-083F806C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E412EDAD-0722-4E68-B53C-E4AADE21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717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Publisher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2F6F1FFD-9EE6-4FBB-BCDD-58217AC2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622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UCI Machine Learning Repository; donated by I-Cheng Yeh.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25C4B7B6-EA2D-412B-B4C5-34BBFD70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4325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DFE4B2E3-643B-45C2-8C18-991D1E29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Original setting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98EAA915-077E-493A-A9CB-00D3793A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004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Credit-card default payments in Taiwan.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28E2972F-B325-41B4-9699-B8C1A4EA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814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13102147-FC56-4C7B-A1B9-3D3CD8AD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480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Citation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DE5AB083-949D-4A61-A498-DECD3BAA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385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Yeh (2009), DOI 10.24432/C55S3H.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FCA82973-81AB-4A92-9061-F5AF40A4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1955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3160F47C-F827-4123-8AC9-4F6E41A0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862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Licence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EE0117A2-019A-4A45-94A9-A46836A9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767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Creative Commons Attribution 4.0 International (CC BY 4.0).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FDBAB3CA-F348-408F-97A0-5E41643A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577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F28E296B-7C0C-4D6E-A5A0-954613E0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243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Teaching use</a:t>
            </a:r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BD5E25EF-A015-45DF-B273-26767EAF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148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EDA and later supervised-learning examples; not a claim about current lending populations.</a:t>
            </a:r>
          </a:p>
        </p:txBody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52E69F95-805E-47CA-9B66-D503923D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9585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8189F3E1-A61E-4AA9-86FC-4EF4BA1A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625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48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FAAEB1E2-12E0-4355-AC9C-F90DAE50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530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https://archive.ics.uci.edu/dataset/350/default+of+credit+card+clients</a:t>
            </a:r>
          </a:p>
        </p:txBody>
      </p:sp>
      <p:sp>
        <p:nvSpPr>
          <p:cNvPr id="49" name="Rectangle 48">
            <a:extLst xmlns:a="http://schemas.openxmlformats.org/drawingml/2006/main">
              <a:ext uri="{FF2B5EF4-FFF2-40B4-BE49-F238E27FC236}">
                <a16:creationId xmlns:a16="http://schemas.microsoft.com/office/drawing/2014/main" id="{281609A5-EA94-43F2-B91A-D9D3C3D6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11087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50" name="Rectangle 49">
            <a:extLst xmlns:a="http://schemas.openxmlformats.org/drawingml/2006/main">
              <a:ext uri="{FF2B5EF4-FFF2-40B4-BE49-F238E27FC236}">
                <a16:creationId xmlns:a16="http://schemas.microsoft.com/office/drawing/2014/main" id="{D72A248B-379B-4E4C-8F20-42EB3793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70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Official download: https://archive.ics.uci.edu/static/public/350/default+of+credit+card+clients.zip | Accessed for this package: 2026-10-03</a:t>
            </a:r>
          </a:p>
        </p:txBody>
      </p:sp>
    </p:spTree>
    <p:extLst>
      <p:ext uri="{BB962C8B-B14F-4D97-AF65-F5344CB8AC3E}">
        <p14:creationId xmlns:p14="http://schemas.microsoft.com/office/powerpoint/2010/main" val="1754750833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8F2FE3AC-237C-484B-BD2F-405156AC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67DFF4C-571C-4A09-B457-E4640CAC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DATASET DOCUMENTATION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6C90E4C-7087-4BFA-A640-15FE902D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UCI credit variables I: identity and borrower profile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C8A5D68-F588-4C55-9CFA-2FB76C07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coded values are part of the data definition. They must be documented before encoding or modelling.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EE0F0D5-89A3-4EA4-86E5-71DBFB2C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1CDCF89-6550-456E-8981-AFE6A0DF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88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7FBB6AB-273E-435F-AFAC-F12751DD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51054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7D31061-7E3D-4E01-B72E-7BCC03CB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5105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1EA69D-D75C-4DB8-AA13-3DF357CF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80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Identifier and credit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228B6D8-A7D2-429A-92E0-9D1D10A1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051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9E26C1A-0E72-4950-9C2F-1B8735C4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ID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B62787D-EC43-4642-A978-B5786756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622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Client identifier; use for traceability, not as a predictive feature.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DA0438C-EB58-48B7-AA63-4708E89C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0B9F6ED-DAFC-4B48-9AA1-C252ADD8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LIMIT_BAL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DDB9007-94A9-47F6-A4E7-CD11CDCE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004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Amount of the given credit in New Taiwan dollars, including individual and supplementary credit.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0F2B085-23B2-435E-934E-2C31CA49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14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D27E7A9-195D-4A84-9561-9899DEE8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SEX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0C86CAF-BE30-442B-88FA-F79CBD2D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385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Coded sex field: 1 = male, 2 = female in the source documentation.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2F0AD9C2-9F2C-40F0-90C3-3559C832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51054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DFDC371B-BFDA-476E-A3FD-FE707AB7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510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F5FB2DF6-1278-4FF9-9F10-6F295730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480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Demographic fields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63316F0-77B4-4ECF-8A31-3B2A365C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071F0CE-C367-4053-A145-493E25A0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717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EDUCATION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B23AF4F6-CAE4-4214-A9EA-EBBEDEA3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622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Coded education level: 1 graduate school, 2 university, 3 high school, 4 others.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2CFE2FAF-C6CA-492C-AE41-DC83CE14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4325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B44595AB-3588-4694-9FDD-73A649D7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MARRIAGE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9B10B193-40ED-40E8-8391-3E1F9BE3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004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Coded marital status: 1 married, 2 single, 3 others.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57569E66-8600-486D-BE0B-97342DCD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814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F13C38E-45CB-4726-A544-EC143592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480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AGE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B87177C-E96B-49BE-9E06-0BD60D0C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385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Age in years at the time of the record.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A4D9D7D2-E882-4EBF-906D-D957AE1E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11087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91450089-A01D-4ED1-B6A8-583BCBA3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70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Interpretation follows the official UCI variable documentation. Check coding values and possible out-of-range codes during Week 2 EDA.</a:t>
            </a:r>
          </a:p>
        </p:txBody>
      </p:sp>
    </p:spTree>
    <p:extLst>
      <p:ext uri="{BB962C8B-B14F-4D97-AF65-F5344CB8AC3E}">
        <p14:creationId xmlns:p14="http://schemas.microsoft.com/office/powerpoint/2010/main" val="1868458191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E8B9BC43-CA7F-4E21-A19A-C79CD500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FCD1652-0AC6-46F3-846D-2CE96BD9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DATASET DOCUMENTATION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0A47DAA-B7D7-4734-A007-6EB71DCD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UCI credit variables II: repayment history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7CC09CE-0E0F-4C8E-A4C7-4FB5D38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8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These six variables describe repayment status in the six months before the target month. The suffix identifies the month, not a generic feature number.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740DED6-4753-4D8C-AB7C-AA1BD837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6CD213C-9D06-4A84-9814-8441C45C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89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AEEB614-7354-46DC-860B-DFF88799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51054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48F981C-B591-489B-B3B8-E7CC4017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5105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3329B2C-0B9C-4E10-BCA8-631C3010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80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Recent months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793E76C-6D7A-4869-BF43-630E9F86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051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4E089E9-E659-437E-9219-DFB88536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PAY_0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D2F79A4-F7D3-433A-9F60-DFAC38F0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622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Repayment status in September 2005; the source uses 0 for September.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3E585E0-5EA9-4CEC-8918-A2B4EEB5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E650E01-D115-4546-A5AE-AE8B2AEB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PAY_2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16EBB93-84D3-44FC-A1B6-A75DA23A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004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Repayment status in August 2005.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D6F6DF9-2C31-4BF6-81D9-42CE021C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14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76A9000-5B5E-44A6-A448-FD7A9384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PAY_3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CE549EB-7425-4E9E-A6E0-F9707CBA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385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Repayment status in July 2005.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90B9E10-1EFA-48E5-8462-95462109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55A2B553-1015-475F-ADE0-7D948715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PAY_4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A65D956E-0692-4DB0-A6D3-DAED12F8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767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Repayment status in June 2005.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F6F132B2-C7E2-4D51-A5E6-30BB55B9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51054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CD0B06B5-C482-419A-840C-AD8544B9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510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402A467-2F9B-4A8F-A7A2-2029C1EF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480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Earlier months and coding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1D6E5A42-8A01-4696-99B7-0FF08CE3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389CFFA-6A14-4E43-8EDF-15DE2CFE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717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PAY_5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7CE55EC2-C7A6-4F88-9597-34448837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622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Repayment status in May 2005.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AA3662E0-754D-4E5D-B619-6B536279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4325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45EAA0D-88ED-4C30-B779-5EEC7B16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PAY_6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2EEB6E85-A906-4D33-BC90-78B21E23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004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Repayment status in April 2005.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022A4C95-1F36-45B6-95EB-5222D9DD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814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E18217E5-2DD0-4417-ABEC-36319385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480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Coding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99D6B82E-94E2-4131-B05D-61065883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385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−1 = paid duly; 1–9 = delay from one month to nine months or more; inspect 0 and −2 in the supplied file.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A0AC6A52-6640-4BA1-972E-AF79ED29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1955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AEE787D1-3C55-4B00-991A-8C8E2D93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862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Modelling note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53C0246A-71D5-45FA-AE80-4CC23CE4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767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Treat these as ordered repayment-status information only after confirming the source coding.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3C2459BD-6E3E-4F30-9984-E2F330B0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11087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827DD369-8082-4847-92E3-A1F7C19A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70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Source definition: UCI Default of Credit Card Clients, Additional Variable Information. Do not silently relabel coded values.</a:t>
            </a:r>
          </a:p>
        </p:txBody>
      </p:sp>
    </p:spTree>
    <p:extLst>
      <p:ext uri="{BB962C8B-B14F-4D97-AF65-F5344CB8AC3E}">
        <p14:creationId xmlns:p14="http://schemas.microsoft.com/office/powerpoint/2010/main" val="1080973710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Rectangle 53">
            <a:extLst xmlns:a="http://schemas.openxmlformats.org/drawingml/2006/main">
              <a:ext uri="{FF2B5EF4-FFF2-40B4-BE49-F238E27FC236}">
                <a16:creationId xmlns:a16="http://schemas.microsoft.com/office/drawing/2014/main" id="{BE815481-55CF-48C7-A74A-A6730059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5E15A5B-D05A-4BF4-9209-9C93D05F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DATASET DOCUMENTATION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FE7C825-F15B-426C-B1A0-6587011E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UCI credit variables III: bills, payments, and target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8DBBD11-16FB-43DA-A52E-919AACD1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Amounts are in New Taiwan dollars. The month suffix runs from September 2005 back to April 2005.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64675A8-11E6-4E06-88BF-7BC271B5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98FE56F-F49C-4B8A-BAAC-4614B37B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90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245EAFC-8B20-47C0-ACC3-E7CA0725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51054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E3294E2-1207-4A49-BD2C-5335A7C8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5105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1265504-212F-4C65-978A-96DF1FAF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80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Bill statements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053D7A0-944C-4A0B-800A-F90DB995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051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EC33BAA-8D77-4219-A2F8-65ACB8B7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BILL_AMT1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7855223-E2E7-4A2D-B55F-46EA402C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622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September 2005 bill statement amount.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4D4829B-1891-4D81-BE8A-84C20512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BD14AF7-EAA1-4569-B4BE-AACA227D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BILL_AMT2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4B75118-01B5-4E35-AAAE-15D947FB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004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August 2005 bill statement amount.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89D4E4A-2CBC-439A-84CE-842EC4DC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14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A95ADE1-0B6D-4B48-9B0A-4BA7304C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BILL_AMT3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68C4FEB-A30B-49A3-8876-7A02E869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385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July 2005 bill statement amount.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2E7F128-54BF-4E8D-B312-6F441D5D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B7A1FAD-7B7E-4F95-878A-FE0E22F2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BILL_AMT4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B2722B83-54CD-4EC6-A497-82007556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767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June 2005 bill statement amount.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4ACDE6F4-6B34-4B8E-BCCA-F7AF9C65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D5CF58CE-C1C1-4115-B16E-060F243B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BILL_AMT5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1ECB9DB6-0742-4DFD-8115-DA589519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148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May 2005 bill statement amount.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433B546A-3EA7-4AC8-AA3C-B2632DAE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9585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AE76B05-98BE-4DBF-8D9A-2ADA7ADB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BILL_AMT6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9BAB6259-0F1B-4F21-B372-C25A1E3A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9530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April 2005 bill statement amount.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27AA800-1C91-4A62-92E8-A4C821EB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51054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6B0AE768-2DBE-45AC-AA54-CA9F6F6D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510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C7066F5-DB39-4987-B48A-67CEDD73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480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Previous payments and outcome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E1A4804B-2039-409E-B6F0-BF226E1B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510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A5FD2AA1-56ED-4D95-A42D-1BEFF45E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717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4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84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PAY_AMT1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207E5D9D-2B0C-483B-8623-ABE8155D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6225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4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84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September 2005 previous payment amount.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0248E52C-4965-4655-950B-6265F430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48000"/>
            <a:ext cx="510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CF963A04-5012-471A-90CA-F960CCC3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146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4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84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PAY_AMT2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BD93FDA4-E0A2-4590-BDBD-CC075B4B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0515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4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84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August 2005 previous payment amount.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EA67DB12-6052-458C-B52F-B2643F92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90900"/>
            <a:ext cx="510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435FCAC6-A023-48D3-80ED-0BC3B071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575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4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84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PAY_AMT3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68F101B2-7192-4FD3-889E-5DC7DF69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4805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4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84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July 2005 previous payment amount.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88B01423-DB18-4E6E-BD95-B62342B5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33800"/>
            <a:ext cx="510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8E429FE3-FD90-49DB-9735-0ACC5FD3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004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4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84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PAY_AMT4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5C77FEED-CBAB-408C-B6B3-F5327E0F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9095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4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84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June 2005 previous payment amount.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4CCE7ADA-B4DA-4FA5-BA88-12C62CC8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76700"/>
            <a:ext cx="510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B77F17A0-C658-4771-9666-33C5B315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433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4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84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PAY_AMT5</a:t>
            </a:r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1E4E05C8-9017-4AF5-892E-1D2FC38F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3385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4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84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May 2005 previous payment amount.</a:t>
            </a:r>
          </a:p>
        </p:txBody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C8AE3567-CC9D-41CB-96D7-5C96CE69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19600"/>
            <a:ext cx="510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18BFE214-0472-464C-8F9B-69A95462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862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4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84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PAY_AMT6</a:t>
            </a:r>
          </a:p>
        </p:txBody>
      </p:sp>
      <p:sp>
        <p:nvSpPr>
          <p:cNvPr id="48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7BA973E1-BB2C-4B49-8CF2-4119E1A5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7675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4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84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April 2005 previous payment amount.</a:t>
            </a:r>
          </a:p>
        </p:txBody>
      </p:sp>
      <p:sp>
        <p:nvSpPr>
          <p:cNvPr id="49" name="Rectangle 48">
            <a:extLst xmlns:a="http://schemas.openxmlformats.org/drawingml/2006/main">
              <a:ext uri="{FF2B5EF4-FFF2-40B4-BE49-F238E27FC236}">
                <a16:creationId xmlns:a16="http://schemas.microsoft.com/office/drawing/2014/main" id="{64622BF7-689B-44B2-B398-5333E471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62500"/>
            <a:ext cx="510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50" name="Rectangle 49">
            <a:extLst xmlns:a="http://schemas.openxmlformats.org/drawingml/2006/main">
              <a:ext uri="{FF2B5EF4-FFF2-40B4-BE49-F238E27FC236}">
                <a16:creationId xmlns:a16="http://schemas.microsoft.com/office/drawing/2014/main" id="{A56C70DB-E747-4D52-A788-F117BAFC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291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726"/>
          </a:bodyPr>
          <a:lstStyle xmlns:a="http://schemas.openxmlformats.org/drawingml/2006/main"/>
          <a:p xmlns:a="http://schemas.openxmlformats.org/drawingml/2006/main">
            <a:pPr algn="l">
              <a:buNone/>
              <a:defRPr sz="84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84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default payment next month</a:t>
            </a:r>
          </a:p>
        </p:txBody>
      </p:sp>
      <p:sp>
        <p:nvSpPr>
          <p:cNvPr id="51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FEDE40CE-AF94-4EBC-A1B4-4F0007B2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1965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4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84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Target: 1 if the client defaulted next month, otherwise 0.</a:t>
            </a:r>
          </a:p>
        </p:txBody>
      </p:sp>
      <p:sp>
        <p:nvSpPr>
          <p:cNvPr id="52" name="Rectangle 51">
            <a:extLst xmlns:a="http://schemas.openxmlformats.org/drawingml/2006/main">
              <a:ext uri="{FF2B5EF4-FFF2-40B4-BE49-F238E27FC236}">
                <a16:creationId xmlns:a16="http://schemas.microsoft.com/office/drawing/2014/main" id="{61C34D45-21AC-416D-A1AC-498FBD74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11087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53" name="Rectangle 52">
            <a:extLst xmlns:a="http://schemas.openxmlformats.org/drawingml/2006/main">
              <a:ext uri="{FF2B5EF4-FFF2-40B4-BE49-F238E27FC236}">
                <a16:creationId xmlns:a16="http://schemas.microsoft.com/office/drawing/2014/main" id="{F5C21515-98EF-4AC5-9D2F-7F829184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70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Units and month definitions: UCI official documentation | Amounts are not percentages | Target must not be used as an input feature.</a:t>
            </a:r>
          </a:p>
        </p:txBody>
      </p:sp>
    </p:spTree>
    <p:extLst>
      <p:ext uri="{BB962C8B-B14F-4D97-AF65-F5344CB8AC3E}">
        <p14:creationId xmlns:p14="http://schemas.microsoft.com/office/powerpoint/2010/main" val="187038280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071A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9FA7778-2F7F-4AE5-9163-408DAEF2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8F525D8-B107-4627-B88D-D91AAFF3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800100"/>
            <a:ext cx="3143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0" b="1" i="0">
                <a:solidFill>
                  <a:srgbClr val="102D49"/>
                </a:solidFill>
                <a:latin typeface="Aptos"/>
                <a:ea typeface="Aptos"/>
                <a:cs typeface="Aptos"/>
              </a:defRPr>
            </a:pPr>
            <a:r>
              <a:rPr sz="12750" b="1" i="0">
                <a:solidFill>
                  <a:srgbClr val="102D4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A5742F9-05C9-4487-867F-DBBE4E7A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93C1DFA-6BB3-4D1C-89EA-D6D68BC6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PART 6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ED7923B-D76E-4306-B2E7-C45C1FB8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Week 1 exercise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A45FB18-2F71-4D93-BD61-628DA649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BFD0D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BFD0DF"/>
                </a:solidFill>
                <a:latin typeface="Aptos"/>
                <a:ea typeface="Aptos"/>
                <a:cs typeface="Aptos"/>
              </a:rPr>
              <a:t>Combine Python foundations, data inspection, descriptive statistics, and visualisation.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F02BEAD-0468-4395-B0CF-2C0A2489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B1B11E7-CABE-4D4D-A28D-588B4197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E8E7073-050C-4426-BE8A-9F08F630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91</a:t>
            </a:r>
          </a:p>
        </p:txBody>
      </p:sp>
    </p:spTree>
    <p:extLst>
      <p:ext uri="{BB962C8B-B14F-4D97-AF65-F5344CB8AC3E}">
        <p14:creationId xmlns:p14="http://schemas.microsoft.com/office/powerpoint/2010/main" val="1956147326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60DCFB3A-28C1-43F3-AF9C-15394F21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E0D2C22-BFDC-4698-9536-AA07FD81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WEEK 1 EXERCISE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0C6FF87-ECE4-4D06-BC8F-0BABDAD0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first financial-data notebook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20893A-1A99-48FF-9FE4-0B9CC99B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output is a short, reproducible analysis rather than a collection of commands.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88C5846-3FA0-4EA5-801F-6B3FB6CA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26FAB79-DE06-4605-8FB9-62DBABD0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92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0A98330-E4DD-4C60-B852-0085B482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B77BE0A-415D-43B4-B81F-D3309D8D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688B2D4A-B1C0-4FE1-8513-40D17532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C24CA92-1114-4B48-8F52-3010EC31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700D972-072A-45E0-B09D-F3C47C68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Setup</a:t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EA97312-544A-4C5C-8E1E-AA86077C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DB533B0-CEBC-45CA-83BE-92C6E9EF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Imports, path, versions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C08988C-5B6B-4604-BB02-17AD27F7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4050FDA-6897-4AEA-A7CA-652AD3EB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imports, path, versions.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A9BEDE4-413F-4FD6-8587-1240E8FD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F54179A-27F6-42C0-B514-3F89E820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A6B058D5-B4BF-4C57-A4FA-169DD1CA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0A942620-DB0D-4B35-96CB-13954606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DE92ED83-FB5D-4139-8CCA-53446489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9AD7AED5-1924-4425-91A0-FE3D9B09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A8648F57-789F-4720-9C34-6468B7A8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Rows, types, missingness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0A3013B2-1760-4871-9FC1-0CBA7CFD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A564868D-13C7-4208-BAA4-F2A7BE45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rows, types, missingness.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5CE94CED-22E6-429C-8FFD-3C372018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9F705F71-AE74-4B49-8F20-A976B6E5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18A33458-14E4-4C41-9858-0EDA816F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92B2DFC3-88F2-4D94-89A9-9B128C65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A972CD3B-5EA7-47BF-8CD1-7167DD39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Describe</a:t>
            </a:r>
          </a:p>
        </p:txBody>
      </p:sp>
      <p:sp>
        <p:nvSpPr>
          <p:cNvPr id="30" name="Straight Connector 29">
            <a:extLst xmlns:a="http://schemas.openxmlformats.org/drawingml/2006/main">
              <a:ext uri="{FF2B5EF4-FFF2-40B4-BE49-F238E27FC236}">
                <a16:creationId xmlns:a16="http://schemas.microsoft.com/office/drawing/2014/main" id="{D7E3BB27-A463-49AE-8043-91BE6F20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FD28C1BA-A122-4E9F-A01E-4C007F7E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Statistics and returns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33925C62-F929-4321-BAFB-66E97F3E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2F05C858-7783-460B-85AE-E5CDD5F4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statistics and returns.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8814AA14-18A8-4805-8A49-55DEDD55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324C5DBB-7CC9-4AF5-865B-5AF0D893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FE3AD7E6-D8A7-49D0-92AE-69133647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492144BA-6396-40FE-AEF7-0F64905B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0A06BD10-3526-4BF3-BC8F-4C9A5E83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Visualise</a:t>
            </a:r>
          </a:p>
        </p:txBody>
      </p:sp>
      <p:sp>
        <p:nvSpPr>
          <p:cNvPr id="39" name="Straight Connector 38">
            <a:extLst xmlns:a="http://schemas.openxmlformats.org/drawingml/2006/main">
              <a:ext uri="{FF2B5EF4-FFF2-40B4-BE49-F238E27FC236}">
                <a16:creationId xmlns:a16="http://schemas.microsoft.com/office/drawing/2014/main" id="{A72CE789-9F15-48B0-BD75-F58FF840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9CACBDA4-8626-48CB-8EF8-8DD6B0FB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Two labelled plots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DA4CC400-8033-4353-9720-0BB49B92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5EC3821A-758E-4D71-9E0B-A5C94B9C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two labelled plots.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D8A6CE33-F8BA-40F5-8352-31B7CDFD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11087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33FF43F6-CF8E-4AB0-AEAE-6D4EB77D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070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End with one paragraph that explains what the data show and what they cannot show.</a:t>
            </a:r>
          </a:p>
        </p:txBody>
      </p:sp>
    </p:spTree>
    <p:extLst>
      <p:ext uri="{BB962C8B-B14F-4D97-AF65-F5344CB8AC3E}">
        <p14:creationId xmlns:p14="http://schemas.microsoft.com/office/powerpoint/2010/main" val="1276333158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C14F8C0-6EEE-4B1C-B05E-335681CD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323923F-FAC6-4B81-8199-B59EF88D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0101CDD-9550-44A5-B6ED-37F67042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concise notebook skeleton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90F0A87-AB05-416F-B087-21B357DD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notebook should read like a short analytical report.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3CFFA8D-2FA8-4754-899E-66A86B05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CBE016B-A80D-44AB-80E1-2AF433CA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93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8CF2FEC-FE7F-4BF8-8C2A-8D650D98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E1A9C35-E61F-4629-9CC3-205AAF9C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CC849A8-E99D-466D-B2D9-C692F173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# 1. Question and context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# 2. Imports and data source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# 3. Load the public CSV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# 4. Inspect shape, types, missingness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# 5. Descriptive statistics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# 6. Two labelled visualisations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# 7. Financial interpretation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# 8. Limitations and next questions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545111E-8772-4978-BCA2-E915A594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546252A-976F-43CA-942F-08076BBC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DF3C752-5C26-4849-95BC-606E41CA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F8572E6-2FA4-4A9E-9DFB-C5CFF8D6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Eight visible notebook sections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E956529-0F7C-495B-AF33-060DA498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B044F28-0EDC-40DC-8CDD-B3A3462A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2C98489-7B1A-4C36-AC48-E578D4DB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structure makes the analysis easy to navigate and review.</a:t>
            </a:r>
          </a:p>
        </p:txBody>
      </p:sp>
    </p:spTree>
    <p:extLst>
      <p:ext uri="{BB962C8B-B14F-4D97-AF65-F5344CB8AC3E}">
        <p14:creationId xmlns:p14="http://schemas.microsoft.com/office/powerpoint/2010/main" val="1382430165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791E478-EA13-4530-B807-14012835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B9F328D-DBBE-4115-8CCB-63D4D6AA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SUBMISSION CHECK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683046C-ACDD-4B3C-BE21-ADB4DD55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first notebook is complete when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96E6FA4-31A4-4177-97E6-983E991C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Check the evidence before moving to modelling.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A4E24BD-0D5A-4697-90D0-DF0A6E2A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AF5A6C8-C99B-4712-9F1D-6F5D67CC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94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46B2BC5-2E2C-4751-A859-17BB402C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470BE63-9D52-4EC9-9A02-C718CA7C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209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2193A40-7DD9-48A1-9C26-05B54810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24100"/>
            <a:ext cx="8610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CB23412-9C90-40BF-9625-D2E3F0DC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76500"/>
            <a:ext cx="834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2B03C9D-EFDF-40DD-8E16-8E24F175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3D2D12E-B95E-4D42-994B-F4F7FB32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Data identity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E6EE252-9245-4676-9C0B-36F3839D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00350"/>
            <a:ext cx="861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2CFD701-44DE-4C06-BB90-29C581B1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62275"/>
            <a:ext cx="834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Source, period, units, and observation unit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8522065-BE7E-4AC1-9796-AEF16746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61436C5-AAE8-496B-A6A8-55082B4C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A0D08F1-5F61-487F-948F-FB6975EF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14700"/>
            <a:ext cx="861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CD5DC03-9631-4582-8210-287E05C1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76625"/>
            <a:ext cx="834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Runs from a clean session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180E299D-78C9-4243-84D0-FC9C2B14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42ED0848-CF99-461A-AEB1-2AB17041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Statistics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A096AB8E-3FD4-4B6C-A758-E506752A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861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E14BEF6-A3C8-4447-B968-06DE0051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990975"/>
            <a:ext cx="834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Mean, median, spread, and missingness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DE3C301E-B377-4CBF-A89E-DD0CE8E1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457EF4D9-7C6B-42ED-BD6B-94D51EB5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Visuals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C2556F0D-FBA8-4E95-A39F-3024962D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343400"/>
            <a:ext cx="861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725F329-40AF-42F7-8C07-7B9897FC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05325"/>
            <a:ext cx="834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Labels, units, and one paragraph of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496368391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93DA3E6-3B69-41ED-9E5B-DC002624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FB09659-C39D-41D3-88FE-0D6BFAA1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SUBMISSION CHECK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0A15675-3DD5-46EA-BB4D-9438A2F5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complete answer has three layers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712FDEF-DEB7-4D1F-871E-4C04C005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code is only one part of the weekly submission.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AD2D55-D481-44D4-B30D-6B58EC75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F146922-C7E0-4A65-BE6C-4E3E0A6E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95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D27B4C6-5819-4B02-A024-A66DF00E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0330E00-4ADC-42E1-AD23-7F6388F1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CALCULATION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13A2877-0822-412C-904C-C4F9C712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Show the Python cell that produces the number or chart and keep the output visible.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0CA1991-4020-4710-AA98-2F9D61B4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D7FBBE5-D8DA-4195-9648-09BEBDAE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3299E35-AF1C-4CFD-8E44-2B542E16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Explain what the result means for the financial question and identify one limitation or next check.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CCC171D-2858-48E5-A50D-C1243144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34BCBFC-E098-4BC7-979A-BA98E115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result without an explanation is incomplete evidence.</a:t>
            </a:r>
          </a:p>
        </p:txBody>
      </p:sp>
    </p:spTree>
    <p:extLst>
      <p:ext uri="{BB962C8B-B14F-4D97-AF65-F5344CB8AC3E}">
        <p14:creationId xmlns:p14="http://schemas.microsoft.com/office/powerpoint/2010/main" val="2029643117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071A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28223C6-2683-4797-A6A0-D931B1CC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85E5BAF-281A-4F9F-BE75-25A8A9F3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WEEK 01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D2DE338-59F9-466B-BE61-1D85675F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7429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9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Python is the language.</a:t>
            </a:r>
          </a:p>
          <a:p xmlns:a="http://schemas.openxmlformats.org/drawingml/2006/main">
            <a:pPr algn="l">
              <a:buNone/>
              <a:defRPr sz="29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9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financial question is the discipline.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DDB00F3-8FC9-447E-A781-B319CB42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C5D4E0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C5D4E0"/>
                </a:solidFill>
                <a:latin typeface="Aptos"/>
                <a:ea typeface="Aptos"/>
                <a:cs typeface="Aptos"/>
              </a:rPr>
              <a:t>A strong first notebook makes the data, calculation, and interpretation visible.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75C8996-2483-4702-A5AE-6943F56D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53FC2B8-AF12-4D8E-92D3-7A903B17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E8F1F7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8F1F7"/>
                </a:solidFill>
                <a:latin typeface="Aptos"/>
                <a:ea typeface="Aptos"/>
                <a:cs typeface="Aptos"/>
              </a:rPr>
              <a:t>Name variables and structures by their meaning.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50757D0-6BFA-4FBD-8195-317C3072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8CBE9CF-8293-436D-B7CD-1108C740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E8F1F7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8F1F7"/>
                </a:solidFill>
                <a:latin typeface="Aptos"/>
                <a:ea typeface="Aptos"/>
                <a:cs typeface="Aptos"/>
              </a:rPr>
              <a:t>Use functions and checks to make calculations repeatable.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20C56BB-76A4-4728-8DEE-8C5F8959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38E2907-AB2A-4A48-8D47-92F58A99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E8F1F7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8F1F7"/>
                </a:solidFill>
                <a:latin typeface="Aptos"/>
                <a:ea typeface="Aptos"/>
                <a:cs typeface="Aptos"/>
              </a:rPr>
              <a:t>Inspect financial data before interpreting statistics or plots.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4E54393-67C6-4032-8A6E-39745681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52550"/>
            <a:ext cx="190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9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19F14DC-3F1C-40BE-976D-60AB937B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573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60C3F98-173B-455E-B4F6-D77FCB04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09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NumPy, Pandas,</a:t>
            </a:r>
          </a:p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and exploratory</a:t>
            </a:r>
          </a:p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analysis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70B9270-D89A-4105-A44F-FFF6F2E3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F7F6A30-AF43-4C5E-A526-1DF505E4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96</a:t>
            </a:r>
          </a:p>
        </p:txBody>
      </p:sp>
    </p:spTree>
    <p:extLst>
      <p:ext uri="{BB962C8B-B14F-4D97-AF65-F5344CB8AC3E}">
        <p14:creationId xmlns:p14="http://schemas.microsoft.com/office/powerpoint/2010/main" val="2998730"/>
      </p:ext>
    </p:extLst>
  </p:cSld>
</p:sld>
</file>

<file path=ppt/slides/slide10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E0B9D9-A7F4-4C1F-989B-C429821C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87241-9265-4186-A276-3A029673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ADDITIONAL WORKED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2A785-D413-4F98-9D28-2E5DE7BC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Case A · Weighted portfolio return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75B221-1CD4-4DE1-BBB3-5754F4E7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A dictionary and a loop can represent a simple portfolio before any model is introduced.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20B415-650E-49DD-A9AC-33EE771C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CODE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3C5E9-E1A0-4B65-859A-F4E3A7F3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700087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F412D-9F49-4EE8-82F5-D4576EBA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52462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positions = {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'equity_fund': {'weight': 0.50, 'return': 0.08},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'bond_fund': {'weight': 0.30, 'return': 0.03},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'cash': {'weight': 0.20, 'return': 0.01}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portfolio_return = sum(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p['weight'] * p['return']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for p in positions.values()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print(f'{portfolio_return:.2%}')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FAE50-C926-4C49-9630-31831F80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DAB07-0C54-475D-9CFF-07E8E4D7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66950"/>
            <a:ext cx="37338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solidFill>
              <a:srgbClr val="EAF7F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3FC836-E615-46A6-8B6F-50110578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14600"/>
            <a:ext cx="3276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Portfolio return: 5.30%</a:t>
            </a:r>
          </a:p>
          <a:p xmlns:a="http://schemas.openxmlformats.org/drawingml/2006/main">
            <a:pPr algn="l"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Weights sum to: 1.0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338FF4-755F-4BE5-B3EB-0F84F7EF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05300"/>
            <a:ext cx="3733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3B57E-9D8B-48D0-BA60-ABEFEAD1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33900"/>
            <a:ext cx="327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The calculation is illustrative. The weight check is a basic data-quality control before interpretation.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286418-F3E2-42E7-838B-D243DE1D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Source: executed Lecture 0–1 Colab, additional worked case.</a:t>
            </a:r>
          </a:p>
        </p:txBody>
      </p:sp>
    </p:spTree>
    <p:extLst>
      <p:ext uri="{BB962C8B-B14F-4D97-AF65-F5344CB8AC3E}">
        <p14:creationId xmlns:p14="http://schemas.microsoft.com/office/powerpoint/2010/main" val="800411487"/>
      </p:ext>
    </p:extLst>
  </p:cSld>
</p:sld>
</file>

<file path=ppt/slides/slide10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BBB665-7DC4-47EB-B504-8751BADF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F5E57-3F3C-49E6-8B8D-F57C293E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ADDITIONAL WORKED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88756-8148-441D-977F-F845AC47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Case B · Reusable descriptive statistics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1986A-7A23-4DC3-BE33-80BD630B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A function prevents the same calculation from being rewritten for every financial variable.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A0AF0-5CFB-44E6-A8DA-60A53573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CODE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A8FFE8-36B8-4108-81A4-4FB69DE4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700087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78B347-F9D0-408F-A65F-722E6A61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52462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def return_summary(series):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clean = series.dropna()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return pd.Series({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    'observations': clean.size,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    'mean': clean.mean(),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    'median': clean.median(),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    'standard_deviation': clean.std(),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    'minimum': clean.min(),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    'maximum': clean.max()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})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return_summary(analysis['simple_return']).round(5)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7DB65A-BE4D-4829-810F-70DB22EA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70D1A4-021F-4B7E-921D-8538882E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66950"/>
            <a:ext cx="37338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solidFill>
              <a:srgbClr val="EAF7F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175E56-2081-4A82-B483-F049F404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14600"/>
            <a:ext cx="3276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observations        505</a:t>
            </a:r>
          </a:p>
          <a:p xmlns:a="http://schemas.openxmlformats.org/drawingml/2006/main">
            <a:pPr algn="l"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mean                0.00023</a:t>
            </a:r>
          </a:p>
          <a:p xmlns:a="http://schemas.openxmlformats.org/drawingml/2006/main">
            <a:pPr algn="l"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median              0.00000</a:t>
            </a:r>
          </a:p>
          <a:p xmlns:a="http://schemas.openxmlformats.org/drawingml/2006/main">
            <a:pPr algn="l"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standard_deviation  0.01529</a:t>
            </a:r>
          </a:p>
          <a:p xmlns:a="http://schemas.openxmlformats.org/drawingml/2006/main">
            <a:pPr algn="l"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minimum             -0.06571</a:t>
            </a:r>
          </a:p>
          <a:p xmlns:a="http://schemas.openxmlformats.org/drawingml/2006/main">
            <a:pPr algn="l"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maximum             0.06496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62F41-E07C-430D-AE53-4020CD8D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05300"/>
            <a:ext cx="3733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B7E2FE-50EC-4427-B015-C393AA90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33900"/>
            <a:ext cx="327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The function receives a pandas Series, so the same logic can be reused for prices, returns, volume, or a credit variable.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93D192-CD91-4721-8C7F-E70E167A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Source: finance-charts-apple.csv; output calculated from the included public file.</a:t>
            </a:r>
          </a:p>
        </p:txBody>
      </p:sp>
    </p:spTree>
    <p:extLst>
      <p:ext uri="{BB962C8B-B14F-4D97-AF65-F5344CB8AC3E}">
        <p14:creationId xmlns:p14="http://schemas.microsoft.com/office/powerpoint/2010/main" val="91705218"/>
      </p:ext>
    </p:extLst>
  </p:cSld>
</p:sld>
</file>

<file path=ppt/slides/slide10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29A158-03D5-48AA-A65D-2A9875EF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A8CCC-F739-4BAC-BFC1-BC1CE599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ADDITIONAL WORKED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A82DCC-CEF6-416B-90B7-E8636C00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Case C · Grouped annual return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6044C-1221-4680-B4E2-90C2A727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Grouping changes the question from a whole-sample summary to a comparison across calendar years.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5FF762-9D5C-477E-97AB-619A4153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CODE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CCD7D-5019-4169-84DA-164A4901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700087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6DF18-18A1-4BCD-B299-8547102C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52462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annual_returns = (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analysis.dropna(subset=['simple_return'])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.groupby('year')['simple_return']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.agg(['count', 'mean', 'median', 'std', 'min', 'max'])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.round(5)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annual_returns.head()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00B55C-DFD0-4277-A44C-3CBC1804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418A74-1B0B-4898-9065-E989CF26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66950"/>
            <a:ext cx="37338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solidFill>
              <a:srgbClr val="EAF7F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09A52C-F985-4C6E-95D4-6FAFD2ED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14600"/>
            <a:ext cx="3276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2015  n=221  mean=-0.07%</a:t>
            </a:r>
          </a:p>
          <a:p xmlns:a="http://schemas.openxmlformats.org/drawingml/2006/main">
            <a:pPr algn="l"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2016  n=252  mean=0.05%</a:t>
            </a:r>
          </a:p>
          <a:p xmlns:a="http://schemas.openxmlformats.org/drawingml/2006/main">
            <a:pPr algn="l"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2017  n=32  mean=0.49%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4DD44F-31FF-40EA-9517-6DD39F23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05300"/>
            <a:ext cx="3733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5CBE64-CC57-4CEC-8CF6-143D8971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33900"/>
            <a:ext cx="327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Always inspect group sizes before comparing means. A small group can make a summary unstable.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02E9C2-46CC-49B7-9626-CE39457C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Source: finance-charts-apple.csv; the output is generated from the included public file.</a:t>
            </a:r>
          </a:p>
        </p:txBody>
      </p:sp>
    </p:spTree>
    <p:extLst>
      <p:ext uri="{BB962C8B-B14F-4D97-AF65-F5344CB8AC3E}">
        <p14:creationId xmlns:p14="http://schemas.microsoft.com/office/powerpoint/2010/main" val="1698880926"/>
      </p:ext>
    </p:extLst>
  </p:cSld>
</p:sld>
</file>

<file path=ppt/slides/slide10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E86046-1E0F-4F88-A719-D42C7E82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461CBC-BC1D-432A-B4F4-10AFA9F4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ADDITIONAL WORKED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6A0F50-A83D-47D0-94FB-628F5756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Case D · Credit-risk class balance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7BF23-D5DB-4BF2-8205-B0759613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The target definition must be inspected before choosing a model or a performance metric.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B2ED8-FE60-40A2-9566-7E958C14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CODE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0E135-1910-41C4-8D2E-4A4C738F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700087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F426F-FF15-46A8-AAC7-A58232BB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52462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class_balance = credit[target].value_counts()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class_share = credit[target].value_counts(normalize=True)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pd.DataFrame({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'observations': class_balance,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'share': class_share.round(4)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})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637EFB-F976-470A-9B59-9E4957B9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4EFA0-3166-4D76-B137-4F37B0CA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66950"/>
            <a:ext cx="37338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solidFill>
              <a:srgbClr val="EAF7F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D62C1-A663-48E2-9AD7-A1293F9E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14600"/>
            <a:ext cx="3276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No default     23,364</a:t>
            </a:r>
          </a:p>
          <a:p xmlns:a="http://schemas.openxmlformats.org/drawingml/2006/main">
            <a:pPr algn="l"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Default         6,636</a:t>
            </a:r>
          </a:p>
          <a:p xmlns:a="http://schemas.openxmlformats.org/drawingml/2006/main">
            <a:pPr algn="l"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Default rate    22.12%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6BB659-37C7-45FA-9147-8741E45B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05300"/>
            <a:ext cx="3733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7816E0-7538-4F80-A6D4-3D4F3BC9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33900"/>
            <a:ext cx="327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Accuracy alone can be misleading when the two target classes have different sizes. Later weeks introduce metrics designed for this setting.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E99740-4FF9-44E2-8989-9718B94F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Source: UCI Default of Credit Card Clients, dataset 350; included CSV and data dictionary.</a:t>
            </a:r>
          </a:p>
        </p:txBody>
      </p:sp>
    </p:spTree>
    <p:extLst>
      <p:ext uri="{BB962C8B-B14F-4D97-AF65-F5344CB8AC3E}">
        <p14:creationId xmlns:p14="http://schemas.microsoft.com/office/powerpoint/2010/main" val="1743882254"/>
      </p:ext>
    </p:extLst>
  </p:cSld>
</p:sld>
</file>

<file path=ppt/slides/slide10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072FA1-7318-4330-8A58-7A3C586F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45875C-E5AA-4B09-9496-A1DEF07F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ADDITIONAL WORKED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F04F8-6968-4DB2-A242-125D2CCA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Case E · Credit-risk borrower segments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32359-63BE-4F51-91F4-15581037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The same groupby pattern can compare borrower segments before supervised modelling.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72E52-DF9B-4FC2-9757-2AF9FCE1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CODE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64C85-329C-4885-AD04-4DB95A38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700087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853C4-EE63-4361-82D1-0FBD0430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52462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credit['limit_band'] = pd.cut(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credit['LIMIT_BAL'],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bins=[-float('inf'), 100000, 300000, float('inf')],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labels=['low limit', 'medium limit', 'high limit']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credit.groupby('limit_band', observed=False).agg(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borrowers=('ID', 'size'),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default_rate=(target, 'mean'),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median_age=('AGE', 'median')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F19465-5BC2-4280-A4A6-0FE2D249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F35FF7-285B-4D12-AECB-2D25DA51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66950"/>
            <a:ext cx="37338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solidFill>
              <a:srgbClr val="EAF7F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A8CBA3-4ED5-41CA-9598-097D5C7A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14600"/>
            <a:ext cx="3276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low limit     n=12498  default=29.48%</a:t>
            </a:r>
          </a:p>
          <a:p xmlns:a="http://schemas.openxmlformats.org/drawingml/2006/main">
            <a:pPr algn="l"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medium limit  n=12939  default=18.14%</a:t>
            </a:r>
          </a:p>
          <a:p xmlns:a="http://schemas.openxmlformats.org/drawingml/2006/main">
            <a:pPr algn="l"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high limit    n= 4563  default=13.26%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BC79BC-EC44-4955-9DA8-30EADA6D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05300"/>
            <a:ext cx="3733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E0B1B1-F7CA-4759-818A-D4A1809E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33900"/>
            <a:ext cx="327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This table describes associations in the sample. It does not show that a credit limit caused a borrower outcome.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D67367-F0BB-47A9-A734-4305E835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Source: UCI Default of Credit Card Clients, dataset 350; included CSV and data dictionary.</a:t>
            </a:r>
          </a:p>
        </p:txBody>
      </p:sp>
    </p:spTree>
    <p:extLst>
      <p:ext uri="{BB962C8B-B14F-4D97-AF65-F5344CB8AC3E}">
        <p14:creationId xmlns:p14="http://schemas.microsoft.com/office/powerpoint/2010/main" val="1745753044"/>
      </p:ext>
    </p:extLst>
  </p:cSld>
</p:sld>
</file>

<file path=ppt/slides/slide10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9CC355-9BF1-467F-B81D-3D7160A5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290C9-5850-4D3A-87EA-06834D34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ADDITIONAL WORKED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26DF4-84DE-4AB6-803E-2D2E54A5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Case F · A transparent screening rule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2DD07-CA84-46B5-81EB-0F1B9605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A simple rule is useful for understanding features, but it is not yet a trained or validated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C06B5-4504-497E-BBA5-FE200E92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CODE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AE013-7DFE-4C1D-9468-D6BECBF5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700087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D410BE-B43A-4AB1-8538-84D036E9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52462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credit['simple_review_flag'] = (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(credit['LIMIT_BAL'] &lt; 50000)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&amp; (credit['PAY_0'] &gt;= 2)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).astype(int)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credit.groupby('simple_review_flag')[target].agg(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borrowers='size',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default_rate='mean'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).round(4)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DC7EA1-8B2B-49DB-9B08-869F6FF2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7EF0A9-2DB7-4C1C-937B-897CFF7D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66950"/>
            <a:ext cx="37338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solidFill>
              <a:srgbClr val="EAF7F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0CD08-6E7E-4A21-BF37-C3AFC6FA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14600"/>
            <a:ext cx="3276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Flagged borrowers: 853</a:t>
            </a:r>
          </a:p>
          <a:p xmlns:a="http://schemas.openxmlformats.org/drawingml/2006/main">
            <a:pPr algn="l"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Flagged default rate: 69.99%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AD9C5C-937A-4B79-AA13-E6F292E8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05300"/>
            <a:ext cx="3733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464E68-C4DF-4965-B2F5-98683972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33900"/>
            <a:ext cx="327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Later lectures will replace hand-written rules with validated supervised models and out-of-sample evaluation.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B0CC1C-4370-4DC9-8D88-C2DDA8E5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Source: UCI Default of Credit Card Clients, dataset 350; included CSV and data dictionary.</a:t>
            </a:r>
          </a:p>
        </p:txBody>
      </p:sp>
    </p:spTree>
    <p:extLst>
      <p:ext uri="{BB962C8B-B14F-4D97-AF65-F5344CB8AC3E}">
        <p14:creationId xmlns:p14="http://schemas.microsoft.com/office/powerpoint/2010/main" val="10880114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2026-10-03T17:59:28.6860000Z</dcterms:created>
  <dcterms:modified xsi:type="dcterms:W3CDTF">2026-10-03T17:59:28.6860000Z</dcterms:modified>
</coreProperties>
</file>